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9900"/>
    <a:srgbClr val="CC9900"/>
    <a:srgbClr val="F9ECA3"/>
    <a:srgbClr val="FF6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AB35-AABC-4140-B6D6-46A47F088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2A6CB-4C2E-40BF-B66E-2EA2B89C39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21330-3FD0-4252-8348-5A7382562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4FB0-098B-46EA-8B86-E830D4093F6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DAF60-6C6B-44DB-848D-419290EB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85296-CC36-4B69-AA2D-6F53642F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4D18-B163-479C-B40D-8758F4BC7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ADC95-ED3C-4AE0-9BA7-BC074264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4C27C-67AA-44E3-8697-91402E38C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4D89E-C6F2-4BDF-ADE7-D95E41B27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4FB0-098B-46EA-8B86-E830D4093F6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80BDB-A3F4-415D-884C-77E8A1351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4F082-003A-4058-B4DF-6C5CFB6FA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4D18-B163-479C-B40D-8758F4BC7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9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59D4-9C63-4805-8491-DE2B944FE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F7D58-E126-4399-9219-5797744FF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1AF4F-7018-46AD-B82F-31ED3EF91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4FB0-098B-46EA-8B86-E830D4093F6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EC013-949D-427F-9A85-C84F9B546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6AB13-1307-4DBE-BECC-5891336D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4D18-B163-479C-B40D-8758F4BC7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0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DA2D0-2A0C-4A07-97B5-26988A7D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4B1C7-A257-47FD-8191-9507DC443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83786-D4DF-4BFD-A4B8-364B6FE1F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0FFF0-EB5C-4447-A164-01453927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4FB0-098B-46EA-8B86-E830D4093F6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FA27A-36FD-4142-91B6-70B507861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E9D3D-704D-41BA-937E-0BC3435C6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4D18-B163-479C-B40D-8758F4BC7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81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1146-8D2C-4615-ADDD-B3D49D6E7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38DAC-BBF7-421E-B9F2-BBD2A2B61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8113D-9EBD-41BF-964F-81559E353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02A01-7F20-4FD7-B611-D5B4EBD60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FD164-BAA1-429B-809F-6C92D22317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8E46DD-34BD-4029-AC47-780347B8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4FB0-098B-46EA-8B86-E830D4093F6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085662-7CD6-456B-A5E2-4D1A23B5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8E1B14-7D80-4900-9FBD-D65A2100F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4D18-B163-479C-B40D-8758F4BC7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5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85EC3-3B5E-4C5E-9CD3-83DBC693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6FA91A-3A2D-4438-8E59-3B675508F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4FB0-098B-46EA-8B86-E830D4093F6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A02E31-E1E3-452E-B83D-FDBA6186B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C279AB-3D73-48AC-8C9E-436A233F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4D18-B163-479C-B40D-8758F4BC7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9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607510-A80A-4DDF-B9AA-33962FE1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4FB0-098B-46EA-8B86-E830D4093F6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2B0FA-36AC-4C03-B256-15DC1ECE2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E29B9-FB57-443B-AD94-EFD7F5768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4D18-B163-479C-B40D-8758F4BC7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7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E176-7C73-4662-B401-287FB8147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DFE25-0D39-4C70-9B45-78967444C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3266F-D32F-4BC3-8C99-3EBA21ED6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94CD7-148A-4705-B4DD-A7A4AF656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4FB0-098B-46EA-8B86-E830D4093F6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BFB3D-C9FB-4A15-9592-BE8556ACB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D7AFA-9598-4CAB-BE8F-17F273745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4D18-B163-479C-B40D-8758F4BC7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2590B-A533-45F1-9757-895D3F7A9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04C016-B0BF-44D5-A7FD-BE5616EE4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36930-3AAF-40FB-8F5A-5884A15B4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C9106-5E16-42B7-BE45-575BEBB2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4FB0-098B-46EA-8B86-E830D4093F6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DDB09-A9CD-4B53-A223-8CF221094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68D76-4984-47EB-90EF-30ADD282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4D18-B163-479C-B40D-8758F4BC7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9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D70D-BBED-47CC-8A93-72391490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E618D-B901-4E59-8F14-7D89B9B85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E1C4D-C3D6-4CAF-A1FC-D10DDA9D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4FB0-098B-46EA-8B86-E830D4093F6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D6332-EB79-47C7-8FBD-19B8ED43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4CDEB-464E-4B2F-AB6C-0DD96115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4D18-B163-479C-B40D-8758F4BC7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55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2C0654-A3AA-4BA6-92E8-9B00242CB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7DC4D-89FF-44B3-BE1C-90495085D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D7014-D414-49AF-A675-55691A61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4FB0-098B-46EA-8B86-E830D4093F6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23DBD-6CB0-4C98-8503-1B39F6CEF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6E6F9-F5EC-4A3B-9BC8-0BA04526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4D18-B163-479C-B40D-8758F4BC7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92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772C8-2411-4FE1-8257-F0B0A203C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DED94-60D0-4E13-B02C-808E3D055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2332D-2A01-4EBB-9EE4-9CBB3675E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54FB0-098B-46EA-8B86-E830D4093F6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7384E-C0C6-41CB-9EDC-F4E358EEB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83BF2-F829-4B38-A3EC-2846975BD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84D18-B163-479C-B40D-8758F4BC7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29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F3534F-9C2F-46B9-BB4B-101937561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693" y="1226906"/>
            <a:ext cx="7718612" cy="24374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EA1093-8C81-4E36-93B3-69AD52D58777}"/>
              </a:ext>
            </a:extLst>
          </p:cNvPr>
          <p:cNvSpPr/>
          <p:nvPr/>
        </p:nvSpPr>
        <p:spPr>
          <a:xfrm>
            <a:off x="662057" y="3346863"/>
            <a:ext cx="8581883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FF"/>
                </a:solidFill>
                <a:effectLst>
                  <a:outerShdw dist="38100" dir="2700000" algn="tl" rotWithShape="0">
                    <a:srgbClr val="FF6300"/>
                  </a:outerShdw>
                </a:effectLst>
              </a:rPr>
              <a:t>R&amp;D LAB</a:t>
            </a:r>
          </a:p>
        </p:txBody>
      </p:sp>
    </p:spTree>
    <p:extLst>
      <p:ext uri="{BB962C8B-B14F-4D97-AF65-F5344CB8AC3E}">
        <p14:creationId xmlns:p14="http://schemas.microsoft.com/office/powerpoint/2010/main" val="1137206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1" y="3333557"/>
            <a:ext cx="9906000" cy="3544502"/>
          </a:xfrm>
          <a:custGeom>
            <a:avLst/>
            <a:gdLst/>
            <a:ahLst/>
            <a:cxnLst/>
            <a:rect l="l" t="t" r="r" b="b"/>
            <a:pathLst>
              <a:path w="3913696" h="1395629">
                <a:moveTo>
                  <a:pt x="0" y="0"/>
                </a:moveTo>
                <a:lnTo>
                  <a:pt x="3913696" y="0"/>
                </a:lnTo>
                <a:lnTo>
                  <a:pt x="3913696" y="1395629"/>
                </a:lnTo>
                <a:lnTo>
                  <a:pt x="0" y="1395629"/>
                </a:lnTo>
                <a:close/>
              </a:path>
            </a:pathLst>
          </a:custGeom>
          <a:solidFill>
            <a:srgbClr val="19658F"/>
          </a:solidFill>
        </p:spPr>
      </p:sp>
      <p:sp>
        <p:nvSpPr>
          <p:cNvPr id="4" name="TextBox 4"/>
          <p:cNvSpPr txBox="1"/>
          <p:nvPr/>
        </p:nvSpPr>
        <p:spPr>
          <a:xfrm>
            <a:off x="1" y="3260893"/>
            <a:ext cx="9906000" cy="3621580"/>
          </a:xfrm>
          <a:prstGeom prst="rect">
            <a:avLst/>
          </a:prstGeom>
        </p:spPr>
        <p:txBody>
          <a:bodyPr lIns="46104" tIns="46104" rIns="46104" bIns="46104" rtlCol="0" anchor="ctr"/>
          <a:lstStyle/>
          <a:p>
            <a:pPr algn="ctr">
              <a:lnSpc>
                <a:spcPts val="1779"/>
              </a:lnSpc>
            </a:pPr>
            <a:endParaRPr sz="1634"/>
          </a:p>
        </p:txBody>
      </p:sp>
      <p:grpSp>
        <p:nvGrpSpPr>
          <p:cNvPr id="5" name="Group 5"/>
          <p:cNvGrpSpPr/>
          <p:nvPr/>
        </p:nvGrpSpPr>
        <p:grpSpPr>
          <a:xfrm>
            <a:off x="383747" y="319587"/>
            <a:ext cx="9137238" cy="6222002"/>
            <a:chOff x="0" y="0"/>
            <a:chExt cx="3608102" cy="24569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08102" cy="2456936"/>
            </a:xfrm>
            <a:custGeom>
              <a:avLst/>
              <a:gdLst/>
              <a:ahLst/>
              <a:cxnLst/>
              <a:rect l="l" t="t" r="r" b="b"/>
              <a:pathLst>
                <a:path w="3608102" h="2456936">
                  <a:moveTo>
                    <a:pt x="0" y="0"/>
                  </a:moveTo>
                  <a:lnTo>
                    <a:pt x="3608102" y="0"/>
                  </a:lnTo>
                  <a:lnTo>
                    <a:pt x="3608102" y="2456936"/>
                  </a:lnTo>
                  <a:lnTo>
                    <a:pt x="0" y="24569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608102" cy="2485512"/>
            </a:xfrm>
            <a:prstGeom prst="rect">
              <a:avLst/>
            </a:prstGeom>
          </p:spPr>
          <p:txBody>
            <a:bodyPr lIns="46104" tIns="46104" rIns="46104" bIns="46104" rtlCol="0" anchor="ctr"/>
            <a:lstStyle/>
            <a:p>
              <a:pPr algn="ctr">
                <a:lnSpc>
                  <a:spcPts val="1779"/>
                </a:lnSpc>
              </a:pPr>
              <a:endParaRPr sz="1634"/>
            </a:p>
          </p:txBody>
        </p:sp>
      </p:grpSp>
      <p:sp>
        <p:nvSpPr>
          <p:cNvPr id="8" name="Freeform 8"/>
          <p:cNvSpPr/>
          <p:nvPr/>
        </p:nvSpPr>
        <p:spPr>
          <a:xfrm>
            <a:off x="383747" y="319587"/>
            <a:ext cx="9137238" cy="6222002"/>
          </a:xfrm>
          <a:custGeom>
            <a:avLst/>
            <a:gdLst/>
            <a:ahLst/>
            <a:cxnLst/>
            <a:rect l="l" t="t" r="r" b="b"/>
            <a:pathLst>
              <a:path w="10067883" h="6855724">
                <a:moveTo>
                  <a:pt x="0" y="0"/>
                </a:moveTo>
                <a:lnTo>
                  <a:pt x="10067882" y="0"/>
                </a:lnTo>
                <a:lnTo>
                  <a:pt x="10067882" y="6855724"/>
                </a:lnTo>
                <a:lnTo>
                  <a:pt x="0" y="6855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l="-8200" r="-8200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579223" y="503930"/>
            <a:ext cx="8746283" cy="5853317"/>
            <a:chOff x="0" y="0"/>
            <a:chExt cx="3521516" cy="23567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21516" cy="2356721"/>
            </a:xfrm>
            <a:custGeom>
              <a:avLst/>
              <a:gdLst/>
              <a:ahLst/>
              <a:cxnLst/>
              <a:rect l="l" t="t" r="r" b="b"/>
              <a:pathLst>
                <a:path w="3521516" h="2356721">
                  <a:moveTo>
                    <a:pt x="0" y="0"/>
                  </a:moveTo>
                  <a:lnTo>
                    <a:pt x="3521516" y="0"/>
                  </a:lnTo>
                  <a:lnTo>
                    <a:pt x="3521516" y="2356721"/>
                  </a:lnTo>
                  <a:lnTo>
                    <a:pt x="0" y="2356721"/>
                  </a:lnTo>
                  <a:close/>
                </a:path>
              </a:pathLst>
            </a:custGeom>
            <a:ln w="28575" cap="sq">
              <a:gradFill>
                <a:gsLst>
                  <a:gs pos="0">
                    <a:srgbClr val="AA7D29">
                      <a:alpha val="100000"/>
                    </a:srgbClr>
                  </a:gs>
                  <a:gs pos="50000">
                    <a:srgbClr val="EFD386">
                      <a:alpha val="100000"/>
                    </a:srgbClr>
                  </a:gs>
                  <a:gs pos="100000">
                    <a:srgbClr val="CCA75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3521516" cy="2385296"/>
            </a:xfrm>
            <a:prstGeom prst="rect">
              <a:avLst/>
            </a:prstGeom>
          </p:spPr>
          <p:txBody>
            <a:bodyPr lIns="46104" tIns="46104" rIns="46104" bIns="46104" rtlCol="0" anchor="ctr"/>
            <a:lstStyle/>
            <a:p>
              <a:pPr algn="ctr">
                <a:lnSpc>
                  <a:spcPts val="1779"/>
                </a:lnSpc>
              </a:pPr>
              <a:endParaRPr sz="1634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0943" y="379479"/>
            <a:ext cx="9002844" cy="6102218"/>
            <a:chOff x="0" y="0"/>
            <a:chExt cx="1675903" cy="11359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75903" cy="1135944"/>
            </a:xfrm>
            <a:custGeom>
              <a:avLst/>
              <a:gdLst/>
              <a:ahLst/>
              <a:cxnLst/>
              <a:rect l="l" t="t" r="r" b="b"/>
              <a:pathLst>
                <a:path w="1675903" h="1135944">
                  <a:moveTo>
                    <a:pt x="159648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056526"/>
                  </a:lnTo>
                  <a:cubicBezTo>
                    <a:pt x="43699" y="1056526"/>
                    <a:pt x="79418" y="1091865"/>
                    <a:pt x="79418" y="1135944"/>
                  </a:cubicBezTo>
                  <a:lnTo>
                    <a:pt x="1596485" y="1135944"/>
                  </a:lnTo>
                  <a:cubicBezTo>
                    <a:pt x="1596485" y="1092244"/>
                    <a:pt x="1631824" y="1056526"/>
                    <a:pt x="1675903" y="1056526"/>
                  </a:cubicBezTo>
                  <a:lnTo>
                    <a:pt x="1675903" y="79418"/>
                  </a:lnTo>
                  <a:cubicBezTo>
                    <a:pt x="1632203" y="79418"/>
                    <a:pt x="1596485" y="44079"/>
                    <a:pt x="1596485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AA7D29">
                      <a:alpha val="100000"/>
                    </a:srgbClr>
                  </a:gs>
                  <a:gs pos="50000">
                    <a:srgbClr val="EFD386">
                      <a:alpha val="100000"/>
                    </a:srgbClr>
                  </a:gs>
                  <a:gs pos="100000">
                    <a:srgbClr val="CCA75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100" y="9525"/>
              <a:ext cx="1599703" cy="1088319"/>
            </a:xfrm>
            <a:prstGeom prst="rect">
              <a:avLst/>
            </a:prstGeom>
          </p:spPr>
          <p:txBody>
            <a:bodyPr lIns="46104" tIns="46104" rIns="46104" bIns="46104" rtlCol="0" anchor="ctr"/>
            <a:lstStyle/>
            <a:p>
              <a:pPr algn="ctr">
                <a:lnSpc>
                  <a:spcPts val="1779"/>
                </a:lnSpc>
              </a:pPr>
              <a:endParaRPr sz="1634"/>
            </a:p>
          </p:txBody>
        </p:sp>
      </p:grpSp>
      <p:sp>
        <p:nvSpPr>
          <p:cNvPr id="15" name="Freeform 15"/>
          <p:cNvSpPr/>
          <p:nvPr/>
        </p:nvSpPr>
        <p:spPr>
          <a:xfrm>
            <a:off x="3098663" y="4370644"/>
            <a:ext cx="1364987" cy="1736073"/>
          </a:xfrm>
          <a:custGeom>
            <a:avLst/>
            <a:gdLst/>
            <a:ahLst/>
            <a:cxnLst/>
            <a:rect l="l" t="t" r="r" b="b"/>
            <a:pathLst>
              <a:path w="1504014" h="1912895">
                <a:moveTo>
                  <a:pt x="0" y="0"/>
                </a:moveTo>
                <a:lnTo>
                  <a:pt x="1504014" y="0"/>
                </a:lnTo>
                <a:lnTo>
                  <a:pt x="1504014" y="1912895"/>
                </a:lnTo>
                <a:lnTo>
                  <a:pt x="0" y="19128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>
            <a:off x="1397302" y="3234068"/>
            <a:ext cx="7110123" cy="0"/>
          </a:xfrm>
          <a:prstGeom prst="line">
            <a:avLst/>
          </a:prstGeom>
          <a:ln w="28575" cap="flat">
            <a:gradFill>
              <a:gsLst>
                <a:gs pos="0">
                  <a:srgbClr val="AA7D29">
                    <a:alpha val="100000"/>
                  </a:srgbClr>
                </a:gs>
                <a:gs pos="33333">
                  <a:srgbClr val="EFD386">
                    <a:alpha val="100000"/>
                  </a:srgbClr>
                </a:gs>
                <a:gs pos="66667">
                  <a:srgbClr val="CCA756">
                    <a:alpha val="100000"/>
                  </a:srgbClr>
                </a:gs>
                <a:gs pos="100000">
                  <a:srgbClr val="8B5C13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2871007" y="867432"/>
            <a:ext cx="4254108" cy="298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sz="1815" b="1" dirty="0">
                <a:solidFill>
                  <a:srgbClr val="19658F"/>
                </a:solidFill>
                <a:latin typeface="Roboto Bold"/>
                <a:ea typeface="Roboto Bold"/>
                <a:cs typeface="Roboto Bold"/>
                <a:sym typeface="Roboto Bold"/>
              </a:rPr>
              <a:t>CÂU LẠC BỘ DOANH NHÂN QUẢNG TRỊ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77597" y="1128515"/>
            <a:ext cx="4950805" cy="5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7"/>
              </a:lnSpc>
              <a:spcBef>
                <a:spcPct val="0"/>
              </a:spcBef>
            </a:pPr>
            <a:r>
              <a:rPr lang="en-US" sz="2700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Lora Italics"/>
                <a:sym typeface="Lora Italics"/>
              </a:rPr>
              <a:t>Trân</a:t>
            </a:r>
            <a:r>
              <a:rPr lang="en-US" sz="2700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Lora Italics"/>
                <a:sym typeface="Lora Italics"/>
              </a:rPr>
              <a:t> </a:t>
            </a:r>
            <a:r>
              <a:rPr lang="en-US" sz="2700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Lora Italics"/>
                <a:sym typeface="Lora Italics"/>
              </a:rPr>
              <a:t>Trọng</a:t>
            </a:r>
            <a:r>
              <a:rPr lang="en-US" sz="2700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Lora Italics"/>
                <a:sym typeface="Lora Italics"/>
              </a:rPr>
              <a:t> Vinh </a:t>
            </a:r>
            <a:r>
              <a:rPr lang="en-US" sz="2700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Lora Italics"/>
                <a:sym typeface="Lora Italics"/>
              </a:rPr>
              <a:t>Danh</a:t>
            </a:r>
            <a:endParaRPr lang="en-US" sz="2700" i="1" dirty="0">
              <a:solidFill>
                <a:srgbClr val="19658F"/>
              </a:solidFill>
              <a:latin typeface="Cambria" panose="02040503050406030204" pitchFamily="18" charset="0"/>
              <a:ea typeface="Cambria" panose="02040503050406030204" pitchFamily="18" charset="0"/>
              <a:cs typeface="Lora Italics"/>
              <a:sym typeface="Lora Itali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40186" y="2434624"/>
            <a:ext cx="7424356" cy="682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8"/>
              </a:lnSpc>
              <a:spcBef>
                <a:spcPct val="0"/>
              </a:spcBef>
            </a:pPr>
            <a:r>
              <a:rPr lang="en-US" sz="3000" b="1" i="1" dirty="0" err="1">
                <a:solidFill>
                  <a:srgbClr val="F15E22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Bold Italics"/>
                <a:sym typeface="Cambria Bold Italics"/>
              </a:rPr>
              <a:t>Doanh</a:t>
            </a:r>
            <a:r>
              <a:rPr lang="en-US" sz="3000" b="1" i="1" dirty="0">
                <a:solidFill>
                  <a:srgbClr val="F15E22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Bold Italics"/>
                <a:sym typeface="Cambria Bold Italics"/>
              </a:rPr>
              <a:t> </a:t>
            </a:r>
            <a:r>
              <a:rPr lang="en-US" sz="3000" b="1" i="1" dirty="0" err="1">
                <a:solidFill>
                  <a:srgbClr val="F15E22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Bold Italics"/>
                <a:sym typeface="Cambria Bold Italics"/>
              </a:rPr>
              <a:t>nhân</a:t>
            </a:r>
            <a:r>
              <a:rPr lang="en-US" sz="3000" b="1" dirty="0">
                <a:solidFill>
                  <a:srgbClr val="F15E22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Bold"/>
                <a:sym typeface="Cambria Bold"/>
              </a:rPr>
              <a:t>: HOÀNG MINH PHỤNG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2597" y="3411280"/>
            <a:ext cx="7919533" cy="77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100" b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"/>
                <a:sym typeface="Times New Roman Bold"/>
              </a:rPr>
              <a:t>GIÁM ĐỐC CÔNG TY TNHH CÔNG NGHỆ ỨNG DỤNG LAZINET</a:t>
            </a:r>
          </a:p>
          <a:p>
            <a:pPr algn="ctr">
              <a:lnSpc>
                <a:spcPts val="2033"/>
              </a:lnSpc>
              <a:spcBef>
                <a:spcPct val="0"/>
              </a:spcBef>
            </a:pP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Là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thành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viên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sáng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lập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CLB –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Phụ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trách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công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nghệ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&amp;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truyền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thông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,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đã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có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những</a:t>
            </a:r>
            <a:b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</a:b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đóng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góp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to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lớn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về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công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sức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và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hiện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vật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đối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với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sự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phát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triển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</a:t>
            </a:r>
            <a:r>
              <a:rPr lang="en-US" sz="1550" b="1" i="1" dirty="0" err="1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của</a:t>
            </a:r>
            <a:r>
              <a:rPr lang="en-US" sz="1550" b="1" i="1" dirty="0">
                <a:solidFill>
                  <a:srgbClr val="19658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 Italics"/>
                <a:sym typeface="Times New Roman Bold Italics"/>
              </a:rPr>
              <a:t> CLB.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DA7DFC-0861-4DB4-8CCB-8F4807D9642F}"/>
              </a:ext>
            </a:extLst>
          </p:cNvPr>
          <p:cNvGrpSpPr/>
          <p:nvPr/>
        </p:nvGrpSpPr>
        <p:grpSpPr>
          <a:xfrm>
            <a:off x="4952362" y="4415395"/>
            <a:ext cx="2646372" cy="1653802"/>
            <a:chOff x="4781396" y="4138828"/>
            <a:chExt cx="2646372" cy="1653802"/>
          </a:xfrm>
        </p:grpSpPr>
        <p:grpSp>
          <p:nvGrpSpPr>
            <p:cNvPr id="24" name="Group 24"/>
            <p:cNvGrpSpPr/>
            <p:nvPr/>
          </p:nvGrpSpPr>
          <p:grpSpPr>
            <a:xfrm>
              <a:off x="4781396" y="4419170"/>
              <a:ext cx="2646372" cy="1373460"/>
              <a:chOff x="0" y="0"/>
              <a:chExt cx="3887879" cy="2017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808647" cy="1693297"/>
              </a:xfrm>
              <a:custGeom>
                <a:avLst/>
                <a:gdLst/>
                <a:ahLst/>
                <a:cxnLst/>
                <a:rect l="l" t="t" r="r" b="b"/>
                <a:pathLst>
                  <a:path w="3808647" h="1693297">
                    <a:moveTo>
                      <a:pt x="0" y="0"/>
                    </a:moveTo>
                    <a:lnTo>
                      <a:pt x="3808647" y="0"/>
                    </a:lnTo>
                    <a:lnTo>
                      <a:pt x="3808647" y="1693297"/>
                    </a:lnTo>
                    <a:lnTo>
                      <a:pt x="0" y="169329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688063" y="1345961"/>
                <a:ext cx="1858903" cy="26376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350"/>
                  </a:lnSpc>
                  <a:spcBef>
                    <a:spcPct val="0"/>
                  </a:spcBef>
                </a:pPr>
                <a:r>
                  <a:rPr lang="en-US" sz="1184" dirty="0" err="1">
                    <a:solidFill>
                      <a:srgbClr val="19658F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ora"/>
                    <a:sym typeface="Lora"/>
                  </a:rPr>
                  <a:t>Chủ</a:t>
                </a:r>
                <a:r>
                  <a:rPr lang="en-US" sz="1184" dirty="0">
                    <a:solidFill>
                      <a:srgbClr val="19658F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ora"/>
                    <a:sym typeface="Lora"/>
                  </a:rPr>
                  <a:t> </a:t>
                </a:r>
                <a:r>
                  <a:rPr lang="en-US" sz="1184" dirty="0" err="1">
                    <a:solidFill>
                      <a:srgbClr val="19658F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ora"/>
                    <a:sym typeface="Lora"/>
                  </a:rPr>
                  <a:t>nhiệm</a:t>
                </a:r>
                <a:r>
                  <a:rPr lang="en-US" sz="1184" dirty="0">
                    <a:solidFill>
                      <a:srgbClr val="19658F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ora"/>
                    <a:sym typeface="Lora"/>
                  </a:rPr>
                  <a:t> CLB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99420" y="1674247"/>
                <a:ext cx="3288459" cy="34355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989"/>
                  </a:lnSpc>
                  <a:spcBef>
                    <a:spcPct val="0"/>
                  </a:spcBef>
                </a:pPr>
                <a:r>
                  <a:rPr lang="en-US" sz="1420" b="1">
                    <a:solidFill>
                      <a:srgbClr val="F15E22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ora Bold"/>
                    <a:sym typeface="Lora Bold"/>
                  </a:rPr>
                  <a:t>Nguyễn Đặng Hiến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814069" y="4138828"/>
              <a:ext cx="2053470" cy="2236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06"/>
                </a:lnSpc>
                <a:spcBef>
                  <a:spcPct val="0"/>
                </a:spcBef>
              </a:pPr>
              <a:r>
                <a:rPr lang="en-US" sz="1361" b="1" dirty="0">
                  <a:solidFill>
                    <a:srgbClr val="19658F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 Bold"/>
                  <a:sym typeface="Times New Roman Bold"/>
                </a:rPr>
                <a:t>TP.HCM </a:t>
              </a:r>
              <a:r>
                <a:rPr lang="en-US" sz="1361" b="1" dirty="0" err="1">
                  <a:solidFill>
                    <a:srgbClr val="19658F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 Bold"/>
                  <a:sym typeface="Times New Roman Bold"/>
                </a:rPr>
                <a:t>ngày</a:t>
              </a:r>
              <a:r>
                <a:rPr lang="en-US" sz="1361" b="1" dirty="0">
                  <a:solidFill>
                    <a:srgbClr val="19658F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 Bold"/>
                  <a:sym typeface="Times New Roman Bold"/>
                </a:rPr>
                <a:t> 10/10/2025</a:t>
              </a: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BD297A5F-50C4-429A-A38C-9C99DEB47F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63" y="819263"/>
            <a:ext cx="1224000" cy="1224000"/>
          </a:xfrm>
          <a:prstGeom prst="rect">
            <a:avLst/>
          </a:prstGeom>
        </p:spPr>
      </p:pic>
      <p:sp>
        <p:nvSpPr>
          <p:cNvPr id="32" name="TextBox 20">
            <a:extLst>
              <a:ext uri="{FF2B5EF4-FFF2-40B4-BE49-F238E27FC236}">
                <a16:creationId xmlns:a16="http://schemas.microsoft.com/office/drawing/2014/main" id="{84CB99D0-BA84-4850-AAFB-196162687473}"/>
              </a:ext>
            </a:extLst>
          </p:cNvPr>
          <p:cNvSpPr txBox="1"/>
          <p:nvPr/>
        </p:nvSpPr>
        <p:spPr>
          <a:xfrm>
            <a:off x="2476960" y="1887387"/>
            <a:ext cx="4950805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7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9900"/>
                </a:solidFill>
                <a:latin typeface="Roboto" panose="02000000000000000000" pitchFamily="2" charset="0"/>
                <a:ea typeface="Roboto" panose="02000000000000000000" pitchFamily="2" charset="0"/>
                <a:cs typeface="Lora Italics"/>
                <a:sym typeface="Lora Italics"/>
              </a:rPr>
              <a:t>NHÀ TÀI TRỢ VÀNG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E0A47FC-3355-4F2A-8804-38A1BC8715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4516" y="819654"/>
            <a:ext cx="1223218" cy="12232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3AD7DE1-3BFD-45F2-8AA4-2C2DB522E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916288"/>
              </p:ext>
            </p:extLst>
          </p:nvPr>
        </p:nvGraphicFramePr>
        <p:xfrm>
          <a:off x="0" y="0"/>
          <a:ext cx="9906000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3542823761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69885364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965324485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Board/ 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Cảm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biến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Nguồn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612807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Dụng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cụ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Dây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/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Nối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Linh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kiện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thụ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động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807715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Kết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nối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Thực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thi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Phụ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kiện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82765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Vi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điều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khiển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/ 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Cảm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biến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Nguồn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42969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Dụng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cụ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Dây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/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Nối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Linh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kiện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thụ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động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199587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Kết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nối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Thực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thi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Phụ</a:t>
                      </a:r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2800" b="1" dirty="0" err="1">
                          <a:solidFill>
                            <a:srgbClr val="0000FF"/>
                          </a:solidFill>
                        </a:rPr>
                        <a:t>kiện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939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941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47</TotalTime>
  <Words>127</Words>
  <Application>Microsoft Office PowerPoint</Application>
  <PresentationFormat>A4 Paper (210x297 mm)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Cambria</vt:lpstr>
      <vt:lpstr>Roboto</vt:lpstr>
      <vt:lpstr>Roboto Bold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Phung Hoang</dc:creator>
  <cp:lastModifiedBy>Phung Hoang</cp:lastModifiedBy>
  <cp:revision>6</cp:revision>
  <dcterms:created xsi:type="dcterms:W3CDTF">2026-08-24T03:22:08Z</dcterms:created>
  <dcterms:modified xsi:type="dcterms:W3CDTF">2026-08-24T11:19:55Z</dcterms:modified>
</cp:coreProperties>
</file>