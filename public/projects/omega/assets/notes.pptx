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F5E9"/>
    <a:srgbClr val="F8F9FA"/>
    <a:srgbClr val="EEEEEE"/>
    <a:srgbClr val="002147"/>
    <a:srgbClr val="000000"/>
    <a:srgbClr val="1A1A1A"/>
    <a:srgbClr val="F5F5F0"/>
    <a:srgbClr val="F5F5F5"/>
    <a:srgbClr val="ED1C24"/>
    <a:srgbClr val="00A6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75D0-B677-4698-8793-A4F7A670AB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03DD06-C686-4C59-B5E5-88C2EAE65E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002F65-8644-481E-B084-8E4E9310A1B2}"/>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5" name="Footer Placeholder 4">
            <a:extLst>
              <a:ext uri="{FF2B5EF4-FFF2-40B4-BE49-F238E27FC236}">
                <a16:creationId xmlns:a16="http://schemas.microsoft.com/office/drawing/2014/main" id="{FEC682AC-3A10-4D08-9F25-7DEABC798D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023416-7ACC-4A07-8764-B4ED9A53689D}"/>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3872572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26877-217B-4FFB-9179-07AB06B0F6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64DF81-0A4D-4137-90E0-791DAEA856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AB5443-2F33-4F97-A341-300ECF4E3716}"/>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5" name="Footer Placeholder 4">
            <a:extLst>
              <a:ext uri="{FF2B5EF4-FFF2-40B4-BE49-F238E27FC236}">
                <a16:creationId xmlns:a16="http://schemas.microsoft.com/office/drawing/2014/main" id="{FAF03E90-124D-4A4C-AB30-C8D9F65EEB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A2B2C5-B048-4A20-AE3D-0D10CC2D617D}"/>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9901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1CA9C-11D0-49E5-A661-F0FB142E94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BA2729-642B-4A7D-8F90-C2BB2EDCE3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33D677-15AA-4770-BFA0-29A9DC9159A1}"/>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5" name="Footer Placeholder 4">
            <a:extLst>
              <a:ext uri="{FF2B5EF4-FFF2-40B4-BE49-F238E27FC236}">
                <a16:creationId xmlns:a16="http://schemas.microsoft.com/office/drawing/2014/main" id="{1A406CF4-BEFF-466C-A178-07324001D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806EF4-CEB5-4CF8-B0ED-048A76097278}"/>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2011886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0D56B-93EA-4BD0-9810-74D9F46E6D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D7C69C-764D-4AFC-8B2F-C1133ABC66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6B6FB4-12E0-40BC-BA71-BBF91A1B73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660E8C-A183-4223-BCB6-B54D47A61A2E}"/>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6" name="Footer Placeholder 5">
            <a:extLst>
              <a:ext uri="{FF2B5EF4-FFF2-40B4-BE49-F238E27FC236}">
                <a16:creationId xmlns:a16="http://schemas.microsoft.com/office/drawing/2014/main" id="{2230865E-4D0C-4675-BACD-44FD9591C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827BDD-FDCC-44F3-A16E-8A794866B245}"/>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114759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22E5D-AABC-4113-A2BF-34B88CBE38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3FD69A-853A-4F2F-A960-AA8C4A5BB2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CAE843-3467-428C-84E4-E47C10D0C1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8A5F04-D537-447E-80BF-14379FB192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C1875D-5887-457D-99F7-13712FC57E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3599BE-1E93-41A1-8F9C-891995EC40F8}"/>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8" name="Footer Placeholder 7">
            <a:extLst>
              <a:ext uri="{FF2B5EF4-FFF2-40B4-BE49-F238E27FC236}">
                <a16:creationId xmlns:a16="http://schemas.microsoft.com/office/drawing/2014/main" id="{24F12B57-E74B-4D92-96B0-85B8AAFD65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8C621A-DF50-4E89-862C-6F31AD351690}"/>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1844259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A20A5-AB1D-47E4-9F5A-06C9A053E7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38E765-5956-4020-B624-27FB303A0278}"/>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4" name="Footer Placeholder 3">
            <a:extLst>
              <a:ext uri="{FF2B5EF4-FFF2-40B4-BE49-F238E27FC236}">
                <a16:creationId xmlns:a16="http://schemas.microsoft.com/office/drawing/2014/main" id="{6A997D8A-B395-4836-A38F-46950234F5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4E40DD-AEB0-4600-9C29-AEE7B9171652}"/>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3982613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895496-30B6-4087-8DDB-F007CE0C861D}"/>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3" name="Footer Placeholder 2">
            <a:extLst>
              <a:ext uri="{FF2B5EF4-FFF2-40B4-BE49-F238E27FC236}">
                <a16:creationId xmlns:a16="http://schemas.microsoft.com/office/drawing/2014/main" id="{BA8A7D4F-FFAD-40E9-9442-DC70EA2965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5EF6EA-6346-47DE-B949-92F9AA1B45C8}"/>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1411795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BCAB0-2B2B-484C-9A8B-C59FC81CA1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9A2C01-0421-49C2-8831-AF511E55B3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F33393-C8E8-4E2F-B20E-17B8B624DD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6BF1C-4932-43A3-A2CB-C30CE07DDFCA}"/>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6" name="Footer Placeholder 5">
            <a:extLst>
              <a:ext uri="{FF2B5EF4-FFF2-40B4-BE49-F238E27FC236}">
                <a16:creationId xmlns:a16="http://schemas.microsoft.com/office/drawing/2014/main" id="{FDAF2B5B-09E2-443B-B9AD-FFE29BC1B0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E4F91D-E4A4-4EBA-84B6-361F5488CA3F}"/>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1539713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8BC69-0843-4147-857C-086244F99F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4E3317-6F27-43C7-B4B9-29FC0F6B9D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F71292-E897-4353-A4C2-78F4FA9D81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C0F6D0-7838-4B19-B13C-64944F83339F}"/>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6" name="Footer Placeholder 5">
            <a:extLst>
              <a:ext uri="{FF2B5EF4-FFF2-40B4-BE49-F238E27FC236}">
                <a16:creationId xmlns:a16="http://schemas.microsoft.com/office/drawing/2014/main" id="{7145A2DC-8BFD-4E9B-B05A-00FF7D70BB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3AA9EF-E90F-4DA0-ACFB-24939E6CD7FB}"/>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1536060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A058B-80F9-40DB-8836-37B5C376E7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C5EFA1-27B0-4518-B364-F2466F128E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2BAA9D-02FE-4F1F-859E-157793DB2718}"/>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5" name="Footer Placeholder 4">
            <a:extLst>
              <a:ext uri="{FF2B5EF4-FFF2-40B4-BE49-F238E27FC236}">
                <a16:creationId xmlns:a16="http://schemas.microsoft.com/office/drawing/2014/main" id="{DAA8FEB9-697D-41E0-802B-11C77BF21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765135-468B-402E-8660-6B6AFFE23FE9}"/>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2213509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D49819-E03A-45B5-A697-DD4291F866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6E58CF-69A2-4AA0-A592-4A49400611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7E3CEE-2A9A-4122-9283-5B31FAFAF2E9}"/>
              </a:ext>
            </a:extLst>
          </p:cNvPr>
          <p:cNvSpPr>
            <a:spLocks noGrp="1"/>
          </p:cNvSpPr>
          <p:nvPr>
            <p:ph type="dt" sz="half" idx="10"/>
          </p:nvPr>
        </p:nvSpPr>
        <p:spPr/>
        <p:txBody>
          <a:bodyPr/>
          <a:lstStyle/>
          <a:p>
            <a:fld id="{0935FF75-45A3-4BBC-8BA3-1E37C804F307}" type="datetimeFigureOut">
              <a:rPr lang="en-US" smtClean="0"/>
              <a:t>2/8/2026</a:t>
            </a:fld>
            <a:endParaRPr lang="en-US"/>
          </a:p>
        </p:txBody>
      </p:sp>
      <p:sp>
        <p:nvSpPr>
          <p:cNvPr id="5" name="Footer Placeholder 4">
            <a:extLst>
              <a:ext uri="{FF2B5EF4-FFF2-40B4-BE49-F238E27FC236}">
                <a16:creationId xmlns:a16="http://schemas.microsoft.com/office/drawing/2014/main" id="{7FDB6E7D-A595-4BFA-B3EC-C2AE6ED6A8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6490AD-2D17-4EF3-91AB-FF9215D86A94}"/>
              </a:ext>
            </a:extLst>
          </p:cNvPr>
          <p:cNvSpPr>
            <a:spLocks noGrp="1"/>
          </p:cNvSpPr>
          <p:nvPr>
            <p:ph type="sldNum" sz="quarter" idx="12"/>
          </p:nvPr>
        </p:nvSpPr>
        <p:spPr/>
        <p:txBody>
          <a:bodyPr/>
          <a:lstStyle/>
          <a:p>
            <a:fld id="{0BAD7364-271F-49E6-BE90-F484BFEC69B6}" type="slidenum">
              <a:rPr lang="en-US" smtClean="0"/>
              <a:t>‹#›</a:t>
            </a:fld>
            <a:endParaRPr lang="en-US"/>
          </a:p>
        </p:txBody>
      </p:sp>
    </p:spTree>
    <p:extLst>
      <p:ext uri="{BB962C8B-B14F-4D97-AF65-F5344CB8AC3E}">
        <p14:creationId xmlns:p14="http://schemas.microsoft.com/office/powerpoint/2010/main" val="358926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AFEF1E-5E20-492C-B69B-BAEF1B77DC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1E6B5A-9EF9-4E8B-AB65-97457712CE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0EB647-E76C-4E3C-9690-67A1D5EFAE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35FF75-45A3-4BBC-8BA3-1E37C804F307}" type="datetimeFigureOut">
              <a:rPr lang="en-US" smtClean="0"/>
              <a:t>2/8/2026</a:t>
            </a:fld>
            <a:endParaRPr lang="en-US"/>
          </a:p>
        </p:txBody>
      </p:sp>
      <p:sp>
        <p:nvSpPr>
          <p:cNvPr id="5" name="Footer Placeholder 4">
            <a:extLst>
              <a:ext uri="{FF2B5EF4-FFF2-40B4-BE49-F238E27FC236}">
                <a16:creationId xmlns:a16="http://schemas.microsoft.com/office/drawing/2014/main" id="{76F50C09-A9CA-410C-9B13-F243164144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3DA593-16D0-4EAD-ACFC-6C6B4744AF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AD7364-271F-49E6-BE90-F484BFEC69B6}" type="slidenum">
              <a:rPr lang="en-US" smtClean="0"/>
              <a:t>‹#›</a:t>
            </a:fld>
            <a:endParaRPr lang="en-US"/>
          </a:p>
        </p:txBody>
      </p:sp>
    </p:spTree>
    <p:extLst>
      <p:ext uri="{BB962C8B-B14F-4D97-AF65-F5344CB8AC3E}">
        <p14:creationId xmlns:p14="http://schemas.microsoft.com/office/powerpoint/2010/main" val="1105925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3EBDEA-E328-4418-BF7E-CCCD454EE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398" y="5090427"/>
            <a:ext cx="2857500" cy="923925"/>
          </a:xfrm>
          <a:prstGeom prst="rect">
            <a:avLst/>
          </a:prstGeom>
        </p:spPr>
      </p:pic>
      <p:sp>
        <p:nvSpPr>
          <p:cNvPr id="6" name="TextBox 5">
            <a:extLst>
              <a:ext uri="{FF2B5EF4-FFF2-40B4-BE49-F238E27FC236}">
                <a16:creationId xmlns:a16="http://schemas.microsoft.com/office/drawing/2014/main" id="{E5436BB4-23D9-4CFB-9E50-A5C3E67F8BF7}"/>
              </a:ext>
            </a:extLst>
          </p:cNvPr>
          <p:cNvSpPr txBox="1"/>
          <p:nvPr/>
        </p:nvSpPr>
        <p:spPr>
          <a:xfrm>
            <a:off x="5433733" y="1270466"/>
            <a:ext cx="1029449" cy="646331"/>
          </a:xfrm>
          <a:prstGeom prst="rect">
            <a:avLst/>
          </a:prstGeom>
          <a:noFill/>
        </p:spPr>
        <p:txBody>
          <a:bodyPr wrap="none" rtlCol="0">
            <a:spAutoFit/>
          </a:bodyPr>
          <a:lstStyle/>
          <a:p>
            <a:r>
              <a:rPr lang="en-US" dirty="0">
                <a:solidFill>
                  <a:srgbClr val="00A651"/>
                </a:solidFill>
              </a:rPr>
              <a:t>#00A651</a:t>
            </a:r>
          </a:p>
          <a:p>
            <a:r>
              <a:rPr lang="en-US" dirty="0">
                <a:solidFill>
                  <a:srgbClr val="ED1C24"/>
                </a:solidFill>
              </a:rPr>
              <a:t>#ED1C24</a:t>
            </a:r>
          </a:p>
        </p:txBody>
      </p:sp>
      <p:sp>
        <p:nvSpPr>
          <p:cNvPr id="7" name="TextBox 6">
            <a:extLst>
              <a:ext uri="{FF2B5EF4-FFF2-40B4-BE49-F238E27FC236}">
                <a16:creationId xmlns:a16="http://schemas.microsoft.com/office/drawing/2014/main" id="{661DBFAC-EDD6-4589-A259-99F8A58E98B8}"/>
              </a:ext>
            </a:extLst>
          </p:cNvPr>
          <p:cNvSpPr txBox="1"/>
          <p:nvPr/>
        </p:nvSpPr>
        <p:spPr>
          <a:xfrm>
            <a:off x="290232" y="2001369"/>
            <a:ext cx="1029449" cy="646331"/>
          </a:xfrm>
          <a:prstGeom prst="rect">
            <a:avLst/>
          </a:prstGeom>
          <a:solidFill>
            <a:srgbClr val="F5F5F5"/>
          </a:solidFill>
        </p:spPr>
        <p:txBody>
          <a:bodyPr wrap="none" rtlCol="0">
            <a:spAutoFit/>
          </a:bodyPr>
          <a:lstStyle/>
          <a:p>
            <a:r>
              <a:rPr lang="en-US" dirty="0">
                <a:solidFill>
                  <a:srgbClr val="00A651"/>
                </a:solidFill>
              </a:rPr>
              <a:t>#00A651</a:t>
            </a:r>
          </a:p>
          <a:p>
            <a:r>
              <a:rPr lang="en-US" dirty="0">
                <a:solidFill>
                  <a:srgbClr val="ED1C24"/>
                </a:solidFill>
              </a:rPr>
              <a:t>#ED1C24</a:t>
            </a:r>
          </a:p>
        </p:txBody>
      </p:sp>
      <p:sp>
        <p:nvSpPr>
          <p:cNvPr id="9" name="TextBox 8">
            <a:extLst>
              <a:ext uri="{FF2B5EF4-FFF2-40B4-BE49-F238E27FC236}">
                <a16:creationId xmlns:a16="http://schemas.microsoft.com/office/drawing/2014/main" id="{4BFC59E7-98BE-401E-89F7-5B433ECF7A12}"/>
              </a:ext>
            </a:extLst>
          </p:cNvPr>
          <p:cNvSpPr txBox="1"/>
          <p:nvPr/>
        </p:nvSpPr>
        <p:spPr>
          <a:xfrm>
            <a:off x="252506" y="1628775"/>
            <a:ext cx="1104900" cy="369332"/>
          </a:xfrm>
          <a:prstGeom prst="rect">
            <a:avLst/>
          </a:prstGeom>
          <a:noFill/>
        </p:spPr>
        <p:txBody>
          <a:bodyPr wrap="square">
            <a:spAutoFit/>
          </a:bodyPr>
          <a:lstStyle/>
          <a:p>
            <a:r>
              <a:rPr lang="vi-VN" sz="1800" dirty="0">
                <a:effectLst/>
              </a:rPr>
              <a:t>F5F5F5</a:t>
            </a:r>
            <a:endParaRPr lang="en-US" dirty="0"/>
          </a:p>
        </p:txBody>
      </p:sp>
      <p:sp>
        <p:nvSpPr>
          <p:cNvPr id="10" name="TextBox 9">
            <a:extLst>
              <a:ext uri="{FF2B5EF4-FFF2-40B4-BE49-F238E27FC236}">
                <a16:creationId xmlns:a16="http://schemas.microsoft.com/office/drawing/2014/main" id="{98FAA8BF-2AF8-4A79-838B-3662790AEB03}"/>
              </a:ext>
            </a:extLst>
          </p:cNvPr>
          <p:cNvSpPr txBox="1"/>
          <p:nvPr/>
        </p:nvSpPr>
        <p:spPr>
          <a:xfrm>
            <a:off x="1604682" y="2008751"/>
            <a:ext cx="1029449" cy="646331"/>
          </a:xfrm>
          <a:prstGeom prst="rect">
            <a:avLst/>
          </a:prstGeom>
          <a:solidFill>
            <a:srgbClr val="F5F5F0"/>
          </a:solidFill>
        </p:spPr>
        <p:txBody>
          <a:bodyPr wrap="none" rtlCol="0">
            <a:spAutoFit/>
          </a:bodyPr>
          <a:lstStyle/>
          <a:p>
            <a:r>
              <a:rPr lang="en-US" dirty="0">
                <a:solidFill>
                  <a:srgbClr val="00A651"/>
                </a:solidFill>
              </a:rPr>
              <a:t>#00A651</a:t>
            </a:r>
          </a:p>
          <a:p>
            <a:r>
              <a:rPr lang="en-US" dirty="0">
                <a:solidFill>
                  <a:srgbClr val="ED1C24"/>
                </a:solidFill>
              </a:rPr>
              <a:t>#ED1C24</a:t>
            </a:r>
          </a:p>
        </p:txBody>
      </p:sp>
      <p:sp>
        <p:nvSpPr>
          <p:cNvPr id="11" name="TextBox 10">
            <a:extLst>
              <a:ext uri="{FF2B5EF4-FFF2-40B4-BE49-F238E27FC236}">
                <a16:creationId xmlns:a16="http://schemas.microsoft.com/office/drawing/2014/main" id="{8B85E438-8615-4677-B9C0-4590FF1C0437}"/>
              </a:ext>
            </a:extLst>
          </p:cNvPr>
          <p:cNvSpPr txBox="1"/>
          <p:nvPr/>
        </p:nvSpPr>
        <p:spPr>
          <a:xfrm>
            <a:off x="1566956" y="1636157"/>
            <a:ext cx="1104900" cy="369332"/>
          </a:xfrm>
          <a:prstGeom prst="rect">
            <a:avLst/>
          </a:prstGeom>
          <a:noFill/>
        </p:spPr>
        <p:txBody>
          <a:bodyPr wrap="square">
            <a:spAutoFit/>
          </a:bodyPr>
          <a:lstStyle/>
          <a:p>
            <a:r>
              <a:rPr lang="vi-VN" sz="1800" dirty="0">
                <a:effectLst/>
              </a:rPr>
              <a:t>F5F5F0</a:t>
            </a:r>
            <a:endParaRPr lang="en-US" dirty="0"/>
          </a:p>
        </p:txBody>
      </p:sp>
      <p:sp>
        <p:nvSpPr>
          <p:cNvPr id="12" name="TextBox 11">
            <a:extLst>
              <a:ext uri="{FF2B5EF4-FFF2-40B4-BE49-F238E27FC236}">
                <a16:creationId xmlns:a16="http://schemas.microsoft.com/office/drawing/2014/main" id="{D7BD4008-866A-493C-A5A9-B1306DCFAFAB}"/>
              </a:ext>
            </a:extLst>
          </p:cNvPr>
          <p:cNvSpPr txBox="1"/>
          <p:nvPr/>
        </p:nvSpPr>
        <p:spPr>
          <a:xfrm>
            <a:off x="7738782" y="2001369"/>
            <a:ext cx="1029449" cy="646331"/>
          </a:xfrm>
          <a:prstGeom prst="rect">
            <a:avLst/>
          </a:prstGeom>
          <a:solidFill>
            <a:srgbClr val="1A1A1A"/>
          </a:solidFill>
        </p:spPr>
        <p:txBody>
          <a:bodyPr wrap="none" rtlCol="0">
            <a:spAutoFit/>
          </a:bodyPr>
          <a:lstStyle/>
          <a:p>
            <a:r>
              <a:rPr lang="en-US" dirty="0">
                <a:solidFill>
                  <a:srgbClr val="00A651"/>
                </a:solidFill>
              </a:rPr>
              <a:t>#00A651</a:t>
            </a:r>
          </a:p>
          <a:p>
            <a:r>
              <a:rPr lang="en-US" dirty="0">
                <a:solidFill>
                  <a:srgbClr val="ED1C24"/>
                </a:solidFill>
              </a:rPr>
              <a:t>#ED1C24</a:t>
            </a:r>
          </a:p>
        </p:txBody>
      </p:sp>
      <p:sp>
        <p:nvSpPr>
          <p:cNvPr id="13" name="TextBox 12">
            <a:extLst>
              <a:ext uri="{FF2B5EF4-FFF2-40B4-BE49-F238E27FC236}">
                <a16:creationId xmlns:a16="http://schemas.microsoft.com/office/drawing/2014/main" id="{DEF4645B-D05E-497D-8097-CB4C67259623}"/>
              </a:ext>
            </a:extLst>
          </p:cNvPr>
          <p:cNvSpPr txBox="1"/>
          <p:nvPr/>
        </p:nvSpPr>
        <p:spPr>
          <a:xfrm>
            <a:off x="7701056" y="1628775"/>
            <a:ext cx="1104900" cy="369332"/>
          </a:xfrm>
          <a:prstGeom prst="rect">
            <a:avLst/>
          </a:prstGeom>
          <a:noFill/>
        </p:spPr>
        <p:txBody>
          <a:bodyPr wrap="square">
            <a:spAutoFit/>
          </a:bodyPr>
          <a:lstStyle/>
          <a:p>
            <a:r>
              <a:rPr lang="en-US" sz="1800" b="1" dirty="0">
                <a:effectLst/>
                <a:latin typeface="Roboto" panose="02000000000000000000" pitchFamily="2" charset="0"/>
                <a:ea typeface="Times New Roman" panose="02020603050405020304" pitchFamily="18" charset="0"/>
                <a:cs typeface="Times New Roman" panose="02020603050405020304" pitchFamily="18" charset="0"/>
              </a:rPr>
              <a:t>1A1A1A</a:t>
            </a:r>
            <a:endParaRPr lang="en-US" dirty="0"/>
          </a:p>
        </p:txBody>
      </p:sp>
      <p:sp>
        <p:nvSpPr>
          <p:cNvPr id="14" name="TextBox 13">
            <a:extLst>
              <a:ext uri="{FF2B5EF4-FFF2-40B4-BE49-F238E27FC236}">
                <a16:creationId xmlns:a16="http://schemas.microsoft.com/office/drawing/2014/main" id="{F5555238-5090-4730-AC9F-AB5C3878F54B}"/>
              </a:ext>
            </a:extLst>
          </p:cNvPr>
          <p:cNvSpPr txBox="1"/>
          <p:nvPr/>
        </p:nvSpPr>
        <p:spPr>
          <a:xfrm>
            <a:off x="9053232" y="2008751"/>
            <a:ext cx="1029449" cy="646331"/>
          </a:xfrm>
          <a:prstGeom prst="rect">
            <a:avLst/>
          </a:prstGeom>
          <a:solidFill>
            <a:srgbClr val="000000"/>
          </a:solidFill>
        </p:spPr>
        <p:txBody>
          <a:bodyPr wrap="none" rtlCol="0">
            <a:spAutoFit/>
          </a:bodyPr>
          <a:lstStyle/>
          <a:p>
            <a:r>
              <a:rPr lang="en-US" dirty="0">
                <a:solidFill>
                  <a:srgbClr val="00A651"/>
                </a:solidFill>
              </a:rPr>
              <a:t>#00A651</a:t>
            </a:r>
          </a:p>
          <a:p>
            <a:r>
              <a:rPr lang="en-US" dirty="0">
                <a:solidFill>
                  <a:srgbClr val="ED1C24"/>
                </a:solidFill>
              </a:rPr>
              <a:t>#ED1C24</a:t>
            </a:r>
          </a:p>
        </p:txBody>
      </p:sp>
      <p:sp>
        <p:nvSpPr>
          <p:cNvPr id="15" name="TextBox 14">
            <a:extLst>
              <a:ext uri="{FF2B5EF4-FFF2-40B4-BE49-F238E27FC236}">
                <a16:creationId xmlns:a16="http://schemas.microsoft.com/office/drawing/2014/main" id="{84DE66B6-A8E9-4DB7-AB6B-0D494EB70D4E}"/>
              </a:ext>
            </a:extLst>
          </p:cNvPr>
          <p:cNvSpPr txBox="1"/>
          <p:nvPr/>
        </p:nvSpPr>
        <p:spPr>
          <a:xfrm>
            <a:off x="9015506" y="1636157"/>
            <a:ext cx="1104900" cy="369332"/>
          </a:xfrm>
          <a:prstGeom prst="rect">
            <a:avLst/>
          </a:prstGeom>
          <a:noFill/>
        </p:spPr>
        <p:txBody>
          <a:bodyPr wrap="square">
            <a:spAutoFit/>
          </a:bodyPr>
          <a:lstStyle/>
          <a:p>
            <a:r>
              <a:rPr lang="en-US" sz="1800" b="1" dirty="0">
                <a:effectLst/>
                <a:latin typeface="Roboto" panose="02000000000000000000" pitchFamily="2" charset="0"/>
                <a:ea typeface="Times New Roman" panose="02020603050405020304" pitchFamily="18" charset="0"/>
                <a:cs typeface="Times New Roman" panose="02020603050405020304" pitchFamily="18" charset="0"/>
              </a:rPr>
              <a:t>000000</a:t>
            </a:r>
            <a:endParaRPr lang="en-US" dirty="0"/>
          </a:p>
        </p:txBody>
      </p:sp>
      <p:sp>
        <p:nvSpPr>
          <p:cNvPr id="16" name="TextBox 15">
            <a:extLst>
              <a:ext uri="{FF2B5EF4-FFF2-40B4-BE49-F238E27FC236}">
                <a16:creationId xmlns:a16="http://schemas.microsoft.com/office/drawing/2014/main" id="{5939105C-951E-45E2-A8AE-38DF40B3A914}"/>
              </a:ext>
            </a:extLst>
          </p:cNvPr>
          <p:cNvSpPr txBox="1"/>
          <p:nvPr/>
        </p:nvSpPr>
        <p:spPr>
          <a:xfrm>
            <a:off x="7776507" y="3247001"/>
            <a:ext cx="1029449" cy="646331"/>
          </a:xfrm>
          <a:prstGeom prst="rect">
            <a:avLst/>
          </a:prstGeom>
          <a:solidFill>
            <a:srgbClr val="002147"/>
          </a:solidFill>
        </p:spPr>
        <p:txBody>
          <a:bodyPr wrap="none" rtlCol="0">
            <a:spAutoFit/>
          </a:bodyPr>
          <a:lstStyle/>
          <a:p>
            <a:r>
              <a:rPr lang="en-US" dirty="0">
                <a:solidFill>
                  <a:srgbClr val="00A651"/>
                </a:solidFill>
              </a:rPr>
              <a:t>#00A651</a:t>
            </a:r>
          </a:p>
          <a:p>
            <a:r>
              <a:rPr lang="en-US" dirty="0">
                <a:solidFill>
                  <a:srgbClr val="ED1C24"/>
                </a:solidFill>
              </a:rPr>
              <a:t>#ED1C24</a:t>
            </a:r>
          </a:p>
        </p:txBody>
      </p:sp>
      <p:sp>
        <p:nvSpPr>
          <p:cNvPr id="17" name="TextBox 16">
            <a:extLst>
              <a:ext uri="{FF2B5EF4-FFF2-40B4-BE49-F238E27FC236}">
                <a16:creationId xmlns:a16="http://schemas.microsoft.com/office/drawing/2014/main" id="{270DC91A-32A4-4BF0-A71B-6341E9BBD0B1}"/>
              </a:ext>
            </a:extLst>
          </p:cNvPr>
          <p:cNvSpPr txBox="1"/>
          <p:nvPr/>
        </p:nvSpPr>
        <p:spPr>
          <a:xfrm>
            <a:off x="7738781" y="2874407"/>
            <a:ext cx="1104900" cy="369332"/>
          </a:xfrm>
          <a:prstGeom prst="rect">
            <a:avLst/>
          </a:prstGeom>
          <a:noFill/>
        </p:spPr>
        <p:txBody>
          <a:bodyPr wrap="square">
            <a:spAutoFit/>
          </a:bodyPr>
          <a:lstStyle/>
          <a:p>
            <a:r>
              <a:rPr lang="en-US" sz="1800" b="1" dirty="0">
                <a:effectLst/>
                <a:latin typeface="Roboto" panose="02000000000000000000" pitchFamily="2" charset="0"/>
                <a:ea typeface="Times New Roman" panose="02020603050405020304" pitchFamily="18" charset="0"/>
                <a:cs typeface="Times New Roman" panose="02020603050405020304" pitchFamily="18" charset="0"/>
              </a:rPr>
              <a:t>002147</a:t>
            </a:r>
            <a:endParaRPr lang="en-US" dirty="0"/>
          </a:p>
        </p:txBody>
      </p:sp>
      <p:sp>
        <p:nvSpPr>
          <p:cNvPr id="18" name="TextBox 17">
            <a:extLst>
              <a:ext uri="{FF2B5EF4-FFF2-40B4-BE49-F238E27FC236}">
                <a16:creationId xmlns:a16="http://schemas.microsoft.com/office/drawing/2014/main" id="{74146046-4AE0-46D7-BEE0-14F87A9181C1}"/>
              </a:ext>
            </a:extLst>
          </p:cNvPr>
          <p:cNvSpPr txBox="1"/>
          <p:nvPr/>
        </p:nvSpPr>
        <p:spPr>
          <a:xfrm>
            <a:off x="327958" y="3247001"/>
            <a:ext cx="1029449" cy="646331"/>
          </a:xfrm>
          <a:prstGeom prst="rect">
            <a:avLst/>
          </a:prstGeom>
          <a:solidFill>
            <a:srgbClr val="F8F9FA"/>
          </a:solidFill>
        </p:spPr>
        <p:txBody>
          <a:bodyPr wrap="none" rtlCol="0">
            <a:spAutoFit/>
          </a:bodyPr>
          <a:lstStyle/>
          <a:p>
            <a:r>
              <a:rPr lang="en-US" dirty="0">
                <a:solidFill>
                  <a:srgbClr val="00A651"/>
                </a:solidFill>
              </a:rPr>
              <a:t>#00A651</a:t>
            </a:r>
          </a:p>
          <a:p>
            <a:r>
              <a:rPr lang="en-US" dirty="0">
                <a:solidFill>
                  <a:srgbClr val="ED1C24"/>
                </a:solidFill>
              </a:rPr>
              <a:t>#ED1C24</a:t>
            </a:r>
          </a:p>
        </p:txBody>
      </p:sp>
      <p:sp>
        <p:nvSpPr>
          <p:cNvPr id="19" name="TextBox 18">
            <a:extLst>
              <a:ext uri="{FF2B5EF4-FFF2-40B4-BE49-F238E27FC236}">
                <a16:creationId xmlns:a16="http://schemas.microsoft.com/office/drawing/2014/main" id="{7C5D966A-DF75-4D70-B6B6-24AD267ED111}"/>
              </a:ext>
            </a:extLst>
          </p:cNvPr>
          <p:cNvSpPr txBox="1"/>
          <p:nvPr/>
        </p:nvSpPr>
        <p:spPr>
          <a:xfrm>
            <a:off x="290232" y="2874407"/>
            <a:ext cx="1104900" cy="369332"/>
          </a:xfrm>
          <a:prstGeom prst="rect">
            <a:avLst/>
          </a:prstGeom>
          <a:noFill/>
        </p:spPr>
        <p:txBody>
          <a:bodyPr wrap="square">
            <a:spAutoFit/>
          </a:bodyPr>
          <a:lstStyle/>
          <a:p>
            <a:r>
              <a:rPr lang="vi-VN" sz="1800" dirty="0"/>
              <a:t>F8F9FA</a:t>
            </a:r>
            <a:endParaRPr lang="en-US" dirty="0"/>
          </a:p>
        </p:txBody>
      </p:sp>
      <p:sp>
        <p:nvSpPr>
          <p:cNvPr id="20" name="TextBox 19">
            <a:extLst>
              <a:ext uri="{FF2B5EF4-FFF2-40B4-BE49-F238E27FC236}">
                <a16:creationId xmlns:a16="http://schemas.microsoft.com/office/drawing/2014/main" id="{CDB4215F-FBDD-4D14-90A5-E38A0B247818}"/>
              </a:ext>
            </a:extLst>
          </p:cNvPr>
          <p:cNvSpPr txBox="1"/>
          <p:nvPr/>
        </p:nvSpPr>
        <p:spPr>
          <a:xfrm>
            <a:off x="1642408" y="3254383"/>
            <a:ext cx="1029449" cy="646331"/>
          </a:xfrm>
          <a:prstGeom prst="rect">
            <a:avLst/>
          </a:prstGeom>
          <a:solidFill>
            <a:srgbClr val="EEEEEE"/>
          </a:solidFill>
        </p:spPr>
        <p:txBody>
          <a:bodyPr wrap="none" rtlCol="0">
            <a:spAutoFit/>
          </a:bodyPr>
          <a:lstStyle/>
          <a:p>
            <a:r>
              <a:rPr lang="en-US" dirty="0">
                <a:solidFill>
                  <a:srgbClr val="00A651"/>
                </a:solidFill>
              </a:rPr>
              <a:t>#00A651</a:t>
            </a:r>
          </a:p>
          <a:p>
            <a:r>
              <a:rPr lang="en-US" dirty="0">
                <a:solidFill>
                  <a:srgbClr val="ED1C24"/>
                </a:solidFill>
              </a:rPr>
              <a:t>#ED1C24</a:t>
            </a:r>
          </a:p>
        </p:txBody>
      </p:sp>
      <p:sp>
        <p:nvSpPr>
          <p:cNvPr id="21" name="TextBox 20">
            <a:extLst>
              <a:ext uri="{FF2B5EF4-FFF2-40B4-BE49-F238E27FC236}">
                <a16:creationId xmlns:a16="http://schemas.microsoft.com/office/drawing/2014/main" id="{5455DD4C-FF86-484E-AF3B-0A91A6A3B297}"/>
              </a:ext>
            </a:extLst>
          </p:cNvPr>
          <p:cNvSpPr txBox="1"/>
          <p:nvPr/>
        </p:nvSpPr>
        <p:spPr>
          <a:xfrm>
            <a:off x="1604682" y="2881789"/>
            <a:ext cx="1104900" cy="369332"/>
          </a:xfrm>
          <a:prstGeom prst="rect">
            <a:avLst/>
          </a:prstGeom>
          <a:noFill/>
        </p:spPr>
        <p:txBody>
          <a:bodyPr wrap="square">
            <a:spAutoFit/>
          </a:bodyPr>
          <a:lstStyle/>
          <a:p>
            <a:r>
              <a:rPr lang="vi-VN" sz="1800" dirty="0"/>
              <a:t>EEEEEE</a:t>
            </a:r>
            <a:endParaRPr lang="en-US" dirty="0"/>
          </a:p>
        </p:txBody>
      </p:sp>
      <p:sp>
        <p:nvSpPr>
          <p:cNvPr id="22" name="TextBox 21">
            <a:extLst>
              <a:ext uri="{FF2B5EF4-FFF2-40B4-BE49-F238E27FC236}">
                <a16:creationId xmlns:a16="http://schemas.microsoft.com/office/drawing/2014/main" id="{6E081C86-86F0-438B-AA3D-E2352BDB0B6F}"/>
              </a:ext>
            </a:extLst>
          </p:cNvPr>
          <p:cNvSpPr txBox="1"/>
          <p:nvPr/>
        </p:nvSpPr>
        <p:spPr>
          <a:xfrm>
            <a:off x="353728" y="4906059"/>
            <a:ext cx="1029449" cy="646331"/>
          </a:xfrm>
          <a:prstGeom prst="rect">
            <a:avLst/>
          </a:prstGeom>
          <a:gradFill flip="none" rotWithShape="1">
            <a:gsLst>
              <a:gs pos="0">
                <a:srgbClr val="F8F9FA"/>
              </a:gs>
              <a:gs pos="100000">
                <a:srgbClr val="E8F5E9"/>
              </a:gs>
            </a:gsLst>
            <a:lin ang="2700000" scaled="1"/>
            <a:tileRect/>
          </a:gradFill>
        </p:spPr>
        <p:txBody>
          <a:bodyPr wrap="none" rtlCol="0">
            <a:spAutoFit/>
          </a:bodyPr>
          <a:lstStyle/>
          <a:p>
            <a:r>
              <a:rPr lang="en-US" dirty="0">
                <a:solidFill>
                  <a:srgbClr val="00A651"/>
                </a:solidFill>
              </a:rPr>
              <a:t>#00A651</a:t>
            </a:r>
          </a:p>
          <a:p>
            <a:r>
              <a:rPr lang="en-US" dirty="0">
                <a:solidFill>
                  <a:srgbClr val="ED1C24"/>
                </a:solidFill>
              </a:rPr>
              <a:t>#ED1C24</a:t>
            </a:r>
          </a:p>
        </p:txBody>
      </p:sp>
      <p:sp>
        <p:nvSpPr>
          <p:cNvPr id="23" name="TextBox 22">
            <a:extLst>
              <a:ext uri="{FF2B5EF4-FFF2-40B4-BE49-F238E27FC236}">
                <a16:creationId xmlns:a16="http://schemas.microsoft.com/office/drawing/2014/main" id="{F062E159-6002-425D-8BCA-295E32F11C57}"/>
              </a:ext>
            </a:extLst>
          </p:cNvPr>
          <p:cNvSpPr txBox="1"/>
          <p:nvPr/>
        </p:nvSpPr>
        <p:spPr>
          <a:xfrm>
            <a:off x="327956" y="4210300"/>
            <a:ext cx="2110443" cy="646331"/>
          </a:xfrm>
          <a:prstGeom prst="rect">
            <a:avLst/>
          </a:prstGeom>
          <a:noFill/>
        </p:spPr>
        <p:txBody>
          <a:bodyPr wrap="square">
            <a:spAutoFit/>
          </a:bodyPr>
          <a:lstStyle/>
          <a:p>
            <a:r>
              <a:rPr lang="vi-VN" sz="1800" dirty="0"/>
              <a:t>F8F9FA (trắng ngà) → #E8F5E9</a:t>
            </a:r>
            <a:endParaRPr lang="en-US" dirty="0"/>
          </a:p>
        </p:txBody>
      </p:sp>
      <p:sp>
        <p:nvSpPr>
          <p:cNvPr id="24" name="TextBox 23">
            <a:extLst>
              <a:ext uri="{FF2B5EF4-FFF2-40B4-BE49-F238E27FC236}">
                <a16:creationId xmlns:a16="http://schemas.microsoft.com/office/drawing/2014/main" id="{453B85F3-2963-44DD-A675-C0044585270F}"/>
              </a:ext>
            </a:extLst>
          </p:cNvPr>
          <p:cNvSpPr txBox="1"/>
          <p:nvPr/>
        </p:nvSpPr>
        <p:spPr>
          <a:xfrm>
            <a:off x="5433733" y="3563969"/>
            <a:ext cx="1029449" cy="646331"/>
          </a:xfrm>
          <a:prstGeom prst="rect">
            <a:avLst/>
          </a:prstGeom>
          <a:solidFill>
            <a:srgbClr val="EEEEEE"/>
          </a:solidFill>
        </p:spPr>
        <p:txBody>
          <a:bodyPr wrap="none" rtlCol="0">
            <a:spAutoFit/>
          </a:bodyPr>
          <a:lstStyle/>
          <a:p>
            <a:r>
              <a:rPr lang="en-US" dirty="0">
                <a:solidFill>
                  <a:srgbClr val="00A651"/>
                </a:solidFill>
              </a:rPr>
              <a:t>#00A651</a:t>
            </a:r>
          </a:p>
          <a:p>
            <a:r>
              <a:rPr lang="en-US" dirty="0">
                <a:solidFill>
                  <a:srgbClr val="ED1C24"/>
                </a:solidFill>
              </a:rPr>
              <a:t>#ED1C24</a:t>
            </a:r>
          </a:p>
        </p:txBody>
      </p:sp>
    </p:spTree>
    <p:extLst>
      <p:ext uri="{BB962C8B-B14F-4D97-AF65-F5344CB8AC3E}">
        <p14:creationId xmlns:p14="http://schemas.microsoft.com/office/powerpoint/2010/main" val="3476483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0AB942-FD11-4E00-BE2A-9F80D55601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08" y="231993"/>
            <a:ext cx="5952840" cy="5952840"/>
          </a:xfrm>
          <a:prstGeom prst="rect">
            <a:avLst/>
          </a:prstGeom>
        </p:spPr>
      </p:pic>
      <p:pic>
        <p:nvPicPr>
          <p:cNvPr id="15" name="Graphic 14">
            <a:extLst>
              <a:ext uri="{FF2B5EF4-FFF2-40B4-BE49-F238E27FC236}">
                <a16:creationId xmlns:a16="http://schemas.microsoft.com/office/drawing/2014/main" id="{FEBC3746-97D6-4863-8E91-23E132F06E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53596" y="231992"/>
            <a:ext cx="5952839" cy="5952839"/>
          </a:xfrm>
          <a:prstGeom prst="rect">
            <a:avLst/>
          </a:prstGeom>
        </p:spPr>
      </p:pic>
    </p:spTree>
    <p:extLst>
      <p:ext uri="{BB962C8B-B14F-4D97-AF65-F5344CB8AC3E}">
        <p14:creationId xmlns:p14="http://schemas.microsoft.com/office/powerpoint/2010/main" val="1861429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CF4336-E580-4101-B9BE-7EA9943BC882}"/>
              </a:ext>
            </a:extLst>
          </p:cNvPr>
          <p:cNvSpPr txBox="1"/>
          <p:nvPr/>
        </p:nvSpPr>
        <p:spPr>
          <a:xfrm>
            <a:off x="394447" y="234763"/>
            <a:ext cx="11568953" cy="6001643"/>
          </a:xfrm>
          <a:prstGeom prst="rect">
            <a:avLst/>
          </a:prstGeom>
          <a:noFill/>
        </p:spPr>
        <p:txBody>
          <a:bodyPr wrap="square" rtlCol="0">
            <a:spAutoFit/>
          </a:bodyPr>
          <a:lstStyle/>
          <a:p>
            <a:r>
              <a:rPr lang="en-US" sz="800" dirty="0">
                <a:effectLst/>
              </a:rPr>
              <a:t>GR: </a:t>
            </a:r>
            <a:r>
              <a:rPr lang="vi-VN" sz="800" dirty="0">
                <a:effectLst/>
              </a:rPr>
              <a:t>Logo của bạn sử dụng hai màu chủ đạo rất nổi bật và tương phản mạnh:</a:t>
            </a:r>
          </a:p>
          <a:p>
            <a:pPr>
              <a:buFont typeface="Arial" panose="020B0604020202020204" pitchFamily="34" charset="0"/>
              <a:buChar char="•"/>
            </a:pPr>
            <a:r>
              <a:rPr lang="vi-VN" sz="800" b="1" dirty="0"/>
              <a:t>Xanh lá đậm tươi</a:t>
            </a:r>
            <a:r>
              <a:rPr lang="vi-VN" sz="800" dirty="0"/>
              <a:t> (#00A651) – màu xanh lá cây tươi sáng, mang cảm giác năng lượng, tăng trưởng, tin cậy (thường thấy trong ERP, công nghệ, môi trường).</a:t>
            </a:r>
          </a:p>
          <a:p>
            <a:pPr>
              <a:buFont typeface="Arial" panose="020B0604020202020204" pitchFamily="34" charset="0"/>
              <a:buChar char="•"/>
            </a:pPr>
            <a:r>
              <a:rPr lang="vi-VN" sz="800" b="1" dirty="0"/>
              <a:t>Đỏ tươi sáng</a:t>
            </a:r>
            <a:r>
              <a:rPr lang="vi-VN" sz="800" dirty="0"/>
              <a:t> (#ED1C24) – màu đỏ năng động, mạnh mẽ, chú ý cao, urgency.</a:t>
            </a:r>
          </a:p>
          <a:p>
            <a:r>
              <a:rPr lang="vi-VN" sz="800" dirty="0">
                <a:effectLst/>
              </a:rPr>
              <a:t>Cặp màu này đã có sự tương phản rất tốt (gần như complementary trên bánh xe màu), nên background cần được chọn để </a:t>
            </a:r>
            <a:r>
              <a:rPr lang="vi-VN" sz="800" b="1" dirty="0">
                <a:effectLst/>
              </a:rPr>
              <a:t>làm nổi bật cả hai</a:t>
            </a:r>
            <a:r>
              <a:rPr lang="vi-VN" sz="800" dirty="0">
                <a:effectLst/>
              </a:rPr>
              <a:t> mà không lấn át logo.</a:t>
            </a:r>
          </a:p>
          <a:p>
            <a:r>
              <a:rPr lang="vi-VN" sz="800" b="1" dirty="0"/>
              <a:t>1. Hình nền đơn sắc (solid / plain background) nên là màu gì?</a:t>
            </a:r>
          </a:p>
          <a:p>
            <a:r>
              <a:rPr lang="vi-VN" sz="800" dirty="0">
                <a:effectLst/>
              </a:rPr>
              <a:t>Các lựa chọn tốt nhất (xếp theo độ khuyến nghị cho logo ERP chuyên nghiệp, hiện đại):</a:t>
            </a:r>
          </a:p>
          <a:p>
            <a:pPr>
              <a:buFont typeface="Arial" panose="020B0604020202020204" pitchFamily="34" charset="0"/>
              <a:buChar char="•"/>
            </a:pPr>
            <a:r>
              <a:rPr lang="vi-VN" sz="800" b="1" dirty="0"/>
              <a:t>Trắng tinh (#FFFFFF)</a:t>
            </a:r>
            <a:r>
              <a:rPr lang="vi-VN" sz="800" dirty="0"/>
              <a:t> hoặc trắng ngà nhẹ (#F8F9FA, #FAFAFA) → Lựa chọn an toàn và phổ biến nhất. Logo xanh-đỏ sẽ nổi bật cực mạnh, sạch sẽ, chuyên nghiệp, dễ đọc chữ/text overlay.</a:t>
            </a:r>
          </a:p>
          <a:p>
            <a:pPr>
              <a:buFont typeface="Arial" panose="020B0604020202020204" pitchFamily="34" charset="0"/>
              <a:buChar char="•"/>
            </a:pPr>
            <a:r>
              <a:rPr lang="vi-VN" sz="800" b="1" dirty="0"/>
              <a:t>Xám nhạt trung tính</a:t>
            </a:r>
            <a:r>
              <a:rPr lang="vi-VN" sz="800" dirty="0"/>
              <a:t> (#F5F5F5, #EEEEEE, #E0E0E0) → Hiện đại hơn trắng một chút, giảm độ chói, vẫn giữ độ tương phản rất cao với cả hai màu.</a:t>
            </a:r>
          </a:p>
          <a:p>
            <a:pPr>
              <a:buFont typeface="Arial" panose="020B0604020202020204" pitchFamily="34" charset="0"/>
              <a:buChar char="•"/>
            </a:pPr>
            <a:r>
              <a:rPr lang="vi-VN" sz="800" b="1" dirty="0"/>
              <a:t>Đen (#000000) hoặc xám đậm (#1A1A1A, #121212)</a:t>
            </a:r>
            <a:r>
              <a:rPr lang="vi-VN" sz="800" dirty="0"/>
              <a:t> → Rất mạnh mẽ, sang trọng, logo sẽ "pop" cực kỳ nổi bật (kiểu dark mode). Phù hợp nếu muốn giao diện premium, tech cao cấp.</a:t>
            </a:r>
          </a:p>
          <a:p>
            <a:pPr>
              <a:buFont typeface="Arial" panose="020B0604020202020204" pitchFamily="34" charset="0"/>
              <a:buChar char="•"/>
            </a:pPr>
            <a:r>
              <a:rPr lang="vi-VN" sz="800" b="1" dirty="0"/>
              <a:t>Xám trung (#808080 – #A0A0A0)</a:t>
            </a:r>
            <a:r>
              <a:rPr lang="vi-VN" sz="800" dirty="0"/>
              <a:t> → Tránh, vì tương phản với #00A651 giảm mạnh (có thể không đạt WCAG AA cho text trắng/đen overlay).</a:t>
            </a:r>
          </a:p>
          <a:p>
            <a:r>
              <a:rPr lang="vi-VN" sz="800" dirty="0">
                <a:effectLst/>
              </a:rPr>
              <a:t>→ </a:t>
            </a:r>
            <a:r>
              <a:rPr lang="vi-VN" sz="800" b="1" dirty="0">
                <a:effectLst/>
              </a:rPr>
              <a:t>Khuyến nghị hàng đầu</a:t>
            </a:r>
            <a:r>
              <a:rPr lang="vi-VN" sz="800" dirty="0">
                <a:effectLst/>
              </a:rPr>
              <a:t>: </a:t>
            </a:r>
            <a:r>
              <a:rPr lang="vi-VN" sz="800" b="1" dirty="0">
                <a:effectLst/>
              </a:rPr>
              <a:t>Trắng (#FFFFFF)</a:t>
            </a:r>
            <a:r>
              <a:rPr lang="vi-VN" sz="800" dirty="0">
                <a:effectLst/>
              </a:rPr>
              <a:t> hoặc </a:t>
            </a:r>
            <a:r>
              <a:rPr lang="vi-VN" sz="800" b="1" dirty="0">
                <a:effectLst/>
              </a:rPr>
              <a:t>xám rất nhạt (#F8F8F8)</a:t>
            </a:r>
            <a:r>
              <a:rPr lang="vi-VN" sz="800" dirty="0">
                <a:effectLst/>
              </a:rPr>
              <a:t> cho hầu hết các trường hợp website/ứng dụng ERP.</a:t>
            </a:r>
          </a:p>
          <a:p>
            <a:r>
              <a:rPr lang="vi-VN" sz="800" b="1" dirty="0"/>
              <a:t>2. Hình nền đa sắc / gradient nên là tổ hợp của cặp đôi, bộ ba màu gì?</a:t>
            </a:r>
          </a:p>
          <a:p>
            <a:r>
              <a:rPr lang="vi-VN" sz="800" dirty="0">
                <a:effectLst/>
              </a:rPr>
              <a:t>Gradient cần nhẹ nhàng, không lấn át logo. Nên dùng tông trung tính + accent nhẹ từ hai màu chủ đạo.</a:t>
            </a:r>
          </a:p>
          <a:p>
            <a:r>
              <a:rPr lang="vi-VN" sz="800" dirty="0">
                <a:effectLst/>
              </a:rPr>
              <a:t>Các tổ hợp đẹp và cân bằng:</a:t>
            </a:r>
          </a:p>
          <a:p>
            <a:pPr>
              <a:buFont typeface="Arial" panose="020B0604020202020204" pitchFamily="34" charset="0"/>
              <a:buChar char="•"/>
            </a:pPr>
            <a:r>
              <a:rPr lang="vi-VN" sz="800" b="1" dirty="0"/>
              <a:t>Cặp đôi đơn giản &amp; an toàn</a:t>
            </a:r>
            <a:r>
              <a:rPr lang="vi-VN" sz="800" dirty="0"/>
              <a:t>:</a:t>
            </a:r>
          </a:p>
          <a:p>
            <a:pPr marL="742950" lvl="1" indent="-285750">
              <a:buFont typeface="Arial" panose="020B0604020202020204" pitchFamily="34" charset="0"/>
              <a:buChar char="•"/>
            </a:pPr>
            <a:r>
              <a:rPr lang="vi-VN" sz="800" dirty="0"/>
              <a:t>Từ #F8F9FA (trắng ngà) → #E8F5E9 (xanh lá rất nhạt) – nhẹ, tươi mới, nhấn nhẹ màu xanh chủ đạo.</a:t>
            </a:r>
          </a:p>
          <a:p>
            <a:pPr marL="742950" lvl="1" indent="-285750">
              <a:buFont typeface="Arial" panose="020B0604020202020204" pitchFamily="34" charset="0"/>
              <a:buChar char="•"/>
            </a:pPr>
            <a:r>
              <a:rPr lang="vi-VN" sz="800" dirty="0"/>
              <a:t>Từ #FFFFFF → #FFF5F5 (đỏ rất nhạt / hồng nhạt) – ấm áp, nhấn nhẹ màu đỏ.</a:t>
            </a:r>
          </a:p>
          <a:p>
            <a:pPr marL="742950" lvl="1" indent="-285750">
              <a:buFont typeface="Arial" panose="020B0604020202020204" pitchFamily="34" charset="0"/>
              <a:buChar char="•"/>
            </a:pPr>
            <a:r>
              <a:rPr lang="vi-VN" sz="800" dirty="0"/>
              <a:t>Từ #F5F5F5 → #E8ECEF (xám nhạt gradient) – trung tính, hiện đại.</a:t>
            </a:r>
          </a:p>
          <a:p>
            <a:pPr>
              <a:buFont typeface="Arial" panose="020B0604020202020204" pitchFamily="34" charset="0"/>
              <a:buChar char="•"/>
            </a:pPr>
            <a:r>
              <a:rPr lang="vi-VN" sz="800" b="1" dirty="0"/>
              <a:t>Gradient dùng cả hai màu chủ đạo (nhẹ)</a:t>
            </a:r>
            <a:r>
              <a:rPr lang="vi-VN" sz="800" dirty="0"/>
              <a:t>:</a:t>
            </a:r>
          </a:p>
          <a:p>
            <a:pPr marL="742950" lvl="1" indent="-285750">
              <a:buFont typeface="Arial" panose="020B0604020202020204" pitchFamily="34" charset="0"/>
              <a:buChar char="•"/>
            </a:pPr>
            <a:r>
              <a:rPr lang="vi-VN" sz="800" dirty="0"/>
              <a:t>Từ #E8F5E9 (xanh nhạt) → #FFEBEE (đỏ nhạt) – rất tinh tế, liên kết hai màu logo.</a:t>
            </a:r>
          </a:p>
          <a:p>
            <a:pPr marL="742950" lvl="1" indent="-285750">
              <a:buFont typeface="Arial" panose="020B0604020202020204" pitchFamily="34" charset="0"/>
              <a:buChar char="•"/>
            </a:pPr>
            <a:r>
              <a:rPr lang="vi-VN" sz="800" dirty="0"/>
              <a:t>Từ #D4F4E2 → #FFE4E1 – gradient tươi sáng, năng động nhưng không chói.</a:t>
            </a:r>
          </a:p>
          <a:p>
            <a:pPr>
              <a:buFont typeface="Arial" panose="020B0604020202020204" pitchFamily="34" charset="0"/>
              <a:buChar char="•"/>
            </a:pPr>
            <a:r>
              <a:rPr lang="vi-VN" sz="800" b="1" dirty="0"/>
              <a:t>Bộ ba màu đẹp (gradient 3 điểm)</a:t>
            </a:r>
            <a:r>
              <a:rPr lang="vi-VN" sz="800" dirty="0"/>
              <a:t>:</a:t>
            </a:r>
          </a:p>
          <a:p>
            <a:pPr marL="742950" lvl="1" indent="-285750">
              <a:buFont typeface="Arial" panose="020B0604020202020204" pitchFamily="34" charset="0"/>
              <a:buChar char="•"/>
            </a:pPr>
            <a:r>
              <a:rPr lang="vi-VN" sz="800" dirty="0"/>
              <a:t>#FFFFFF → #E8F5E9 → #FFEBEE – trắng → xanh nhạt → đỏ nhạt (rất hài hòa).</a:t>
            </a:r>
          </a:p>
          <a:p>
            <a:pPr marL="742950" lvl="1" indent="-285750">
              <a:buFont typeface="Arial" panose="020B0604020202020204" pitchFamily="34" charset="0"/>
              <a:buChar char="•"/>
            </a:pPr>
            <a:r>
              <a:rPr lang="vi-VN" sz="800" dirty="0"/>
              <a:t>#F0F4F8 → #E8F5E9 → #FFF0F0 – tông lạnh → xanh → ấm nhẹ.</a:t>
            </a:r>
          </a:p>
          <a:p>
            <a:pPr marL="742950" lvl="1" indent="-285750">
              <a:buFont typeface="Arial" panose="020B0604020202020204" pitchFamily="34" charset="0"/>
              <a:buChar char="•"/>
            </a:pPr>
            <a:r>
              <a:rPr lang="vi-VN" sz="800" dirty="0"/>
              <a:t>#1E3A2F (xanh đậm tối) → #00A651 → #ED1C24 – mạnh mẽ, nhưng chỉ dùng nếu muốn gradient đậm, ấn tượng cao (dark theme).</a:t>
            </a:r>
          </a:p>
          <a:p>
            <a:r>
              <a:rPr lang="vi-VN" sz="800" dirty="0">
                <a:effectLst/>
              </a:rPr>
              <a:t>→ </a:t>
            </a:r>
            <a:r>
              <a:rPr lang="vi-VN" sz="800" b="1" dirty="0">
                <a:effectLst/>
              </a:rPr>
              <a:t>Khuyến nghị hàng đầu</a:t>
            </a:r>
            <a:r>
              <a:rPr lang="vi-VN" sz="800" dirty="0">
                <a:effectLst/>
              </a:rPr>
              <a:t>: Gradient nhẹ từ </a:t>
            </a:r>
            <a:r>
              <a:rPr lang="vi-VN" sz="800" b="1" dirty="0">
                <a:effectLst/>
              </a:rPr>
              <a:t>trắng/xám nhạt → xanh rất nhạt (#E8F5E9)</a:t>
            </a:r>
            <a:r>
              <a:rPr lang="vi-VN" sz="800" dirty="0">
                <a:effectLst/>
              </a:rPr>
              <a:t> hoặc </a:t>
            </a:r>
            <a:r>
              <a:rPr lang="vi-VN" sz="800" b="1" dirty="0">
                <a:effectLst/>
              </a:rPr>
              <a:t>trắng → đỏ rất nhạt (#FFEBEE)</a:t>
            </a:r>
            <a:r>
              <a:rPr lang="vi-VN" sz="800" dirty="0">
                <a:effectLst/>
              </a:rPr>
              <a:t>. Tránh gradient mạnh giữa #00A651 và #ED1C24 trực tiếp vì sẽ tạo cảm giác "đánh nhau" và làm logo khó nổi.</a:t>
            </a:r>
          </a:p>
          <a:p>
            <a:r>
              <a:rPr lang="vi-VN" sz="800" b="1" dirty="0"/>
              <a:t>3. Các màu tương phản tốt nhất với cặp màu chủ đạo (#00A651 &amp; #ED1C24)</a:t>
            </a:r>
          </a:p>
          <a:p>
            <a:r>
              <a:rPr lang="vi-VN" sz="800" dirty="0">
                <a:effectLst/>
              </a:rPr>
              <a:t>Đây là các màu có độ tương phản cao (dùng cho text, icon, button, border khi đặt lên nền hoặc ngược lại):</a:t>
            </a:r>
          </a:p>
          <a:p>
            <a:pPr>
              <a:buFont typeface="Arial" panose="020B0604020202020204" pitchFamily="34" charset="0"/>
              <a:buChar char="•"/>
            </a:pPr>
            <a:r>
              <a:rPr lang="vi-VN" sz="800" b="1" dirty="0"/>
              <a:t>Tương phản cực cao với cả hai</a:t>
            </a:r>
            <a:r>
              <a:rPr lang="vi-VN" sz="800" dirty="0"/>
              <a:t> (top choice):</a:t>
            </a:r>
          </a:p>
          <a:p>
            <a:pPr marL="742950" lvl="1" indent="-285750">
              <a:buFont typeface="Arial" panose="020B0604020202020204" pitchFamily="34" charset="0"/>
              <a:buChar char="•"/>
            </a:pPr>
            <a:r>
              <a:rPr lang="vi-VN" sz="800" b="1" dirty="0"/>
              <a:t>Trắng (#FFFFFF)</a:t>
            </a:r>
            <a:r>
              <a:rPr lang="vi-VN" sz="800" dirty="0"/>
              <a:t> – tuyệt vời trên cả xanh và đỏ.</a:t>
            </a:r>
          </a:p>
          <a:p>
            <a:pPr marL="742950" lvl="1" indent="-285750">
              <a:buFont typeface="Arial" panose="020B0604020202020204" pitchFamily="34" charset="0"/>
              <a:buChar char="•"/>
            </a:pPr>
            <a:r>
              <a:rPr lang="vi-VN" sz="800" b="1" dirty="0"/>
              <a:t>Đen (#000000)</a:t>
            </a:r>
            <a:r>
              <a:rPr lang="vi-VN" sz="800" dirty="0"/>
              <a:t> hoặc gần đen (#0F0F0F) – cực nổi trên cả hai.</a:t>
            </a:r>
          </a:p>
          <a:p>
            <a:pPr marL="742950" lvl="1" indent="-285750">
              <a:buFont typeface="Arial" panose="020B0604020202020204" pitchFamily="34" charset="0"/>
              <a:buChar char="•"/>
            </a:pPr>
            <a:r>
              <a:rPr lang="vi-VN" sz="800" b="1" dirty="0"/>
              <a:t>Xám đậm (#333333, #222222)</a:t>
            </a:r>
            <a:r>
              <a:rPr lang="vi-VN" sz="800" dirty="0"/>
              <a:t>.</a:t>
            </a:r>
          </a:p>
          <a:p>
            <a:pPr>
              <a:buFont typeface="Arial" panose="020B0604020202020204" pitchFamily="34" charset="0"/>
              <a:buChar char="•"/>
            </a:pPr>
            <a:r>
              <a:rPr lang="vi-VN" sz="800" b="1" dirty="0"/>
              <a:t>Tương phản tốt đặc biệt với #00A651 (xanh)</a:t>
            </a:r>
            <a:r>
              <a:rPr lang="vi-VN" sz="800" dirty="0"/>
              <a:t>:</a:t>
            </a:r>
          </a:p>
          <a:p>
            <a:pPr marL="742950" lvl="1" indent="-285750">
              <a:buFont typeface="Arial" panose="020B0604020202020204" pitchFamily="34" charset="0"/>
              <a:buChar char="•"/>
            </a:pPr>
            <a:r>
              <a:rPr lang="vi-VN" sz="800" dirty="0"/>
              <a:t>Trắng, đen.</a:t>
            </a:r>
          </a:p>
          <a:p>
            <a:pPr marL="742950" lvl="1" indent="-285750">
              <a:buFont typeface="Arial" panose="020B0604020202020204" pitchFamily="34" charset="0"/>
              <a:buChar char="•"/>
            </a:pPr>
            <a:r>
              <a:rPr lang="vi-VN" sz="800" dirty="0"/>
              <a:t>Vàng sáng (#FFEB3B, #FFD700) – rất pop.</a:t>
            </a:r>
          </a:p>
          <a:p>
            <a:pPr marL="742950" lvl="1" indent="-285750">
              <a:buFont typeface="Arial" panose="020B0604020202020204" pitchFamily="34" charset="0"/>
              <a:buChar char="•"/>
            </a:pPr>
            <a:r>
              <a:rPr lang="vi-VN" sz="800" dirty="0"/>
              <a:t>Cam sáng (#FF9800).</a:t>
            </a:r>
          </a:p>
          <a:p>
            <a:pPr marL="742950" lvl="1" indent="-285750">
              <a:buFont typeface="Arial" panose="020B0604020202020204" pitchFamily="34" charset="0"/>
              <a:buChar char="•"/>
            </a:pPr>
            <a:r>
              <a:rPr lang="vi-VN" sz="800" dirty="0"/>
              <a:t>Hồng đậm / magenta (#C2185B, #D81B60).</a:t>
            </a:r>
          </a:p>
          <a:p>
            <a:pPr marL="742950" lvl="1" indent="-285750">
              <a:buFont typeface="Arial" panose="020B0604020202020204" pitchFamily="34" charset="0"/>
              <a:buChar char="•"/>
            </a:pPr>
            <a:r>
              <a:rPr lang="vi-VN" sz="800" dirty="0"/>
              <a:t>Xanh dương đậm (#1976D2, #0D47A1).</a:t>
            </a:r>
          </a:p>
          <a:p>
            <a:pPr>
              <a:buFont typeface="Arial" panose="020B0604020202020204" pitchFamily="34" charset="0"/>
              <a:buChar char="•"/>
            </a:pPr>
            <a:r>
              <a:rPr lang="vi-VN" sz="800" b="1" dirty="0"/>
              <a:t>Tương phản tốt đặc biệt với #ED1C24 (đỏ)</a:t>
            </a:r>
            <a:r>
              <a:rPr lang="vi-VN" sz="800" dirty="0"/>
              <a:t>:</a:t>
            </a:r>
          </a:p>
          <a:p>
            <a:pPr marL="742950" lvl="1" indent="-285750">
              <a:buFont typeface="Arial" panose="020B0604020202020204" pitchFamily="34" charset="0"/>
              <a:buChar char="•"/>
            </a:pPr>
            <a:r>
              <a:rPr lang="vi-VN" sz="800" dirty="0"/>
              <a:t>Trắng, đen.</a:t>
            </a:r>
          </a:p>
          <a:p>
            <a:pPr marL="742950" lvl="1" indent="-285750">
              <a:buFont typeface="Arial" panose="020B0604020202020204" pitchFamily="34" charset="0"/>
              <a:buChar char="•"/>
            </a:pPr>
            <a:r>
              <a:rPr lang="vi-VN" sz="800" dirty="0"/>
              <a:t>Xanh ngọc / turquoise (#00E5FF, #1DE9B6, #26A69A).</a:t>
            </a:r>
          </a:p>
          <a:p>
            <a:pPr marL="742950" lvl="1" indent="-285750">
              <a:buFont typeface="Arial" panose="020B0604020202020204" pitchFamily="34" charset="0"/>
              <a:buChar char="•"/>
            </a:pPr>
            <a:r>
              <a:rPr lang="vi-VN" sz="800" dirty="0"/>
              <a:t>Xanh cyan sáng (#00D4FF).</a:t>
            </a:r>
          </a:p>
          <a:p>
            <a:pPr marL="742950" lvl="1" indent="-285750">
              <a:buFont typeface="Arial" panose="020B0604020202020204" pitchFamily="34" charset="0"/>
              <a:buChar char="•"/>
            </a:pPr>
            <a:r>
              <a:rPr lang="vi-VN" sz="800" dirty="0"/>
              <a:t>Xanh lá nhạt (#A5D6A7) – tạo sự cân bằng.</a:t>
            </a:r>
          </a:p>
          <a:p>
            <a:pPr marL="742950" lvl="1" indent="-285750">
              <a:buFont typeface="Arial" panose="020B0604020202020204" pitchFamily="34" charset="0"/>
              <a:buChar char="•"/>
            </a:pPr>
            <a:r>
              <a:rPr lang="vi-VN" sz="800" dirty="0"/>
              <a:t>Vàng (#FFEB3B).</a:t>
            </a:r>
          </a:p>
          <a:p>
            <a:r>
              <a:rPr lang="vi-VN" sz="800" dirty="0">
                <a:effectLst/>
              </a:rPr>
              <a:t>Tóm lại, nếu dùng cho text/icon:</a:t>
            </a:r>
          </a:p>
          <a:p>
            <a:pPr>
              <a:buFont typeface="Arial" panose="020B0604020202020204" pitchFamily="34" charset="0"/>
              <a:buChar char="•"/>
            </a:pPr>
            <a:r>
              <a:rPr lang="vi-VN" sz="800" dirty="0"/>
              <a:t>Trên nền trắng/xám nhạt → dùng #00A651, #ED1C24, #000000, #333333.</a:t>
            </a:r>
          </a:p>
          <a:p>
            <a:pPr>
              <a:buFont typeface="Arial" panose="020B0604020202020204" pitchFamily="34" charset="0"/>
              <a:buChar char="•"/>
            </a:pPr>
            <a:r>
              <a:rPr lang="vi-VN" sz="800" dirty="0"/>
              <a:t>Trên nền đen → dùng #FFFFFF, #00A651, #ED1C24.</a:t>
            </a:r>
          </a:p>
          <a:p>
            <a:r>
              <a:rPr lang="vi-VN" sz="800" dirty="0">
                <a:effectLst/>
              </a:rPr>
              <a:t>Hy vọng giúp bạn chọn được background phù hợp cho OMEGA.ERP! Nếu bạn muốn gợi ý cụ thể hơn (ví dụ kèm hướng gradient), cứ cho mình biết thêm ý định (dark/light theme, website hay app, v.v.). </a:t>
            </a:r>
          </a:p>
        </p:txBody>
      </p:sp>
    </p:spTree>
    <p:extLst>
      <p:ext uri="{BB962C8B-B14F-4D97-AF65-F5344CB8AC3E}">
        <p14:creationId xmlns:p14="http://schemas.microsoft.com/office/powerpoint/2010/main" val="355916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CF4336-E580-4101-B9BE-7EA9943BC882}"/>
              </a:ext>
            </a:extLst>
          </p:cNvPr>
          <p:cNvSpPr txBox="1"/>
          <p:nvPr/>
        </p:nvSpPr>
        <p:spPr>
          <a:xfrm>
            <a:off x="394447" y="234763"/>
            <a:ext cx="11568953" cy="3539430"/>
          </a:xfrm>
          <a:prstGeom prst="rect">
            <a:avLst/>
          </a:prstGeom>
          <a:noFill/>
        </p:spPr>
        <p:txBody>
          <a:bodyPr wrap="square" rtlCol="0">
            <a:spAutoFit/>
          </a:bodyPr>
          <a:lstStyle/>
          <a:p>
            <a:r>
              <a:rPr lang="en-US" sz="800" dirty="0">
                <a:effectLst/>
              </a:rPr>
              <a:t>DS: </a:t>
            </a:r>
            <a:r>
              <a:rPr lang="vi-VN" sz="800" dirty="0">
                <a:effectLst/>
              </a:rPr>
              <a:t>1. Hình nền đơn sắc</a:t>
            </a:r>
          </a:p>
          <a:p>
            <a:r>
              <a:rPr lang="vi-VN" sz="800" dirty="0">
                <a:effectLst/>
              </a:rPr>
              <a:t>Để làm nổi bật cặp logo này, nên chọn các màu nền trung tính, sạch sẽ:</a:t>
            </a:r>
          </a:p>
          <a:p>
            <a:endParaRPr lang="vi-VN" sz="800" dirty="0">
              <a:effectLst/>
            </a:endParaRPr>
          </a:p>
          <a:p>
            <a:r>
              <a:rPr lang="vi-VN" sz="800" dirty="0">
                <a:effectLst/>
              </a:rPr>
              <a:t>Màu Trắng (#FFFFFF) hoặc Xám sáng (#F5F5F5): An toàn và hiệu quả nhất, tạo sự rõ ràng, hiện đại, giúp hai màu logo trở thành tâm điểm.</a:t>
            </a:r>
          </a:p>
          <a:p>
            <a:endParaRPr lang="vi-VN" sz="800" dirty="0">
              <a:effectLst/>
            </a:endParaRPr>
          </a:p>
          <a:p>
            <a:r>
              <a:rPr lang="vi-VN" sz="800" dirty="0">
                <a:effectLst/>
              </a:rPr>
              <a:t>Màu Đen (#000000) hoặc Xám đậm (#333333): Tạo phong cách mạnh mẽ, sang trọng và tương phản cực cao, khiến logo nổi bật rực rỡ.</a:t>
            </a:r>
          </a:p>
          <a:p>
            <a:endParaRPr lang="vi-VN" sz="800" dirty="0">
              <a:effectLst/>
            </a:endParaRPr>
          </a:p>
          <a:p>
            <a:r>
              <a:rPr lang="vi-VN" sz="800" dirty="0">
                <a:effectLst/>
              </a:rPr>
              <a:t>2. Hình nền đa sắc/Gradient</a:t>
            </a:r>
          </a:p>
          <a:p>
            <a:r>
              <a:rPr lang="vi-VN" sz="800" dirty="0">
                <a:effectLst/>
              </a:rPr>
              <a:t>Có thể tạo gradient từ các biến thể của chính màu chủ đạo hoặc kết hợp với màu trung gian:</a:t>
            </a:r>
          </a:p>
          <a:p>
            <a:endParaRPr lang="vi-VN" sz="800" dirty="0">
              <a:effectLst/>
            </a:endParaRPr>
          </a:p>
          <a:p>
            <a:r>
              <a:rPr lang="vi-VN" sz="800" dirty="0">
                <a:effectLst/>
              </a:rPr>
              <a:t>Gradient từ Xanh lá (#00A651): Sử dụng dải chuyển sắc từ #00A651 → #A8E6CF (xanh lá pastel nhạt) hoặc #00A651 → #FFFFFF (trắng). Tạo cảm giác tươi mát, hài hòa.</a:t>
            </a:r>
          </a:p>
          <a:p>
            <a:endParaRPr lang="vi-VN" sz="800" dirty="0">
              <a:effectLst/>
            </a:endParaRPr>
          </a:p>
          <a:p>
            <a:r>
              <a:rPr lang="vi-VN" sz="800" dirty="0">
                <a:effectLst/>
              </a:rPr>
              <a:t>Gradient kết hợp Trung tính: Dải chuyển từ #ED1C24 (đỏ) → #FFFFFF (trắng) → #00A651 (xanh lá). Tạo hiệu ứng năng động nhưng vẫn cân bằng.</a:t>
            </a:r>
          </a:p>
          <a:p>
            <a:endParaRPr lang="vi-VN" sz="800" dirty="0">
              <a:effectLst/>
            </a:endParaRPr>
          </a:p>
          <a:p>
            <a:r>
              <a:rPr lang="vi-VN" sz="800" dirty="0">
                <a:effectLst/>
              </a:rPr>
              <a:t>Bộ ba màu (Triadic): Kết hợp thêm màu Xanh dương (#2E5AAC). Ba màu Xanh lá - Đỏ - Xanh dương tạo thành một tam giác cân trên bánh xe màu, cho phong cách sống động, đầy năng lượng và cân bằng.</a:t>
            </a:r>
          </a:p>
          <a:p>
            <a:endParaRPr lang="vi-VN" sz="800" dirty="0">
              <a:effectLst/>
            </a:endParaRPr>
          </a:p>
          <a:p>
            <a:r>
              <a:rPr lang="vi-VN" sz="800" dirty="0">
                <a:effectLst/>
              </a:rPr>
              <a:t>3. Các màu tương phản tốt với cặp màu chủ đạo</a:t>
            </a:r>
          </a:p>
          <a:p>
            <a:r>
              <a:rPr lang="vi-VN" sz="800" dirty="0">
                <a:effectLst/>
              </a:rPr>
              <a:t>Dưới đây là các màu tạo độ tương phản cao về sắc độ và ánh sáng với cả hai màu xanh lá và đỏ:</a:t>
            </a:r>
          </a:p>
          <a:p>
            <a:endParaRPr lang="vi-VN" sz="800" dirty="0">
              <a:effectLst/>
            </a:endParaRPr>
          </a:p>
          <a:p>
            <a:r>
              <a:rPr lang="vi-VN" sz="800" dirty="0">
                <a:effectLst/>
              </a:rPr>
              <a:t>Màu Trắng (#FFFFFF): Tương phản tuyệt đối với cả hai màu đậm.</a:t>
            </a:r>
          </a:p>
          <a:p>
            <a:endParaRPr lang="vi-VN" sz="800" dirty="0">
              <a:effectLst/>
            </a:endParaRPr>
          </a:p>
          <a:p>
            <a:r>
              <a:rPr lang="vi-VN" sz="800" dirty="0">
                <a:effectLst/>
              </a:rPr>
              <a:t>Màu Đen (#000000): Tạo nền tảng mạnh mẽ làm bật lên sự rực rỡ.</a:t>
            </a:r>
          </a:p>
          <a:p>
            <a:endParaRPr lang="vi-VN" sz="800" dirty="0">
              <a:effectLst/>
            </a:endParaRPr>
          </a:p>
          <a:p>
            <a:r>
              <a:rPr lang="vi-VN" sz="800" dirty="0">
                <a:effectLst/>
              </a:rPr>
              <a:t>Màu Xám đậm (#424242): Lựa chọn tinh tế và ít gắt mắt hơn màu đen.</a:t>
            </a:r>
          </a:p>
          <a:p>
            <a:endParaRPr lang="vi-VN" sz="800" dirty="0">
              <a:effectLst/>
            </a:endParaRPr>
          </a:p>
          <a:p>
            <a:r>
              <a:rPr lang="vi-VN" sz="800" dirty="0">
                <a:effectLst/>
              </a:rPr>
              <a:t>Màu Xanh Dương đậm (#0F4C81 hoặc #2E5AAC): Tạo sự tương phản về sắc độ và hài hòa (vì xanh lá và xanh dương là màu tương đồng).</a:t>
            </a:r>
          </a:p>
          <a:p>
            <a:endParaRPr lang="vi-VN" sz="800" dirty="0">
              <a:effectLst/>
            </a:endParaRPr>
          </a:p>
          <a:p>
            <a:r>
              <a:rPr lang="vi-VN" sz="800" dirty="0">
                <a:effectLst/>
              </a:rPr>
              <a:t>Màu Vàng/Nghệ tươi (#FFCC00): Tạo bộ ba màu sống động, tương phản mạnh với cả xanh lá và đỏ.</a:t>
            </a:r>
          </a:p>
        </p:txBody>
      </p:sp>
    </p:spTree>
    <p:extLst>
      <p:ext uri="{BB962C8B-B14F-4D97-AF65-F5344CB8AC3E}">
        <p14:creationId xmlns:p14="http://schemas.microsoft.com/office/powerpoint/2010/main" val="743468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CF4336-E580-4101-B9BE-7EA9943BC882}"/>
              </a:ext>
            </a:extLst>
          </p:cNvPr>
          <p:cNvSpPr txBox="1"/>
          <p:nvPr/>
        </p:nvSpPr>
        <p:spPr>
          <a:xfrm>
            <a:off x="394447" y="234763"/>
            <a:ext cx="11568953" cy="4647426"/>
          </a:xfrm>
          <a:prstGeom prst="rect">
            <a:avLst/>
          </a:prstGeom>
          <a:noFill/>
        </p:spPr>
        <p:txBody>
          <a:bodyPr wrap="square" rtlCol="0">
            <a:spAutoFit/>
          </a:bodyPr>
          <a:lstStyle/>
          <a:p>
            <a:r>
              <a:rPr lang="en-US" sz="800" dirty="0">
                <a:effectLst/>
              </a:rPr>
              <a:t>GM</a:t>
            </a:r>
          </a:p>
          <a:p>
            <a:endParaRPr lang="en-US" sz="800" dirty="0"/>
          </a:p>
          <a:p>
            <a:r>
              <a:rPr lang="vi-VN" sz="800" dirty="0">
                <a:effectLst/>
              </a:rPr>
              <a:t>1	1. Hình nền đơn sắc (Solid Color)</a:t>
            </a:r>
          </a:p>
          <a:p>
            <a:r>
              <a:rPr lang="vi-VN" sz="800" dirty="0">
                <a:effectLst/>
              </a:rPr>
              <a:t>Vì logo đã có hai màu đối lập mạnh, màu nền cần đóng vai trò "trung hòa" để làm nổi bật thương hiệu.</a:t>
            </a:r>
          </a:p>
          <a:p>
            <a:r>
              <a:rPr lang="vi-VN" sz="800" dirty="0">
                <a:effectLst/>
              </a:rPr>
              <a:t>•	Màu Trắng (#FFFFFF): (Lựa chọn tốt nhất)</a:t>
            </a:r>
          </a:p>
          <a:p>
            <a:r>
              <a:rPr lang="vi-VN" sz="800" dirty="0">
                <a:effectLst/>
              </a:rPr>
              <a:t>o	Lý do: Đây là màu nền an toàn và chuyên nghiệp nhất cho các phần mềm ERP. Nó tạo độ tương phản tối đa với cả màu đỏ và xanh lá, giữ cho logo sạch sẽ, dễ đọc và hiện đại.</a:t>
            </a:r>
          </a:p>
          <a:p>
            <a:r>
              <a:rPr lang="vi-VN" sz="800" dirty="0">
                <a:effectLst/>
              </a:rPr>
              <a:t>•	Màu Đen (#000000 hoặc #1A1A1A):</a:t>
            </a:r>
          </a:p>
          <a:p>
            <a:r>
              <a:rPr lang="vi-VN" sz="800" dirty="0">
                <a:effectLst/>
              </a:rPr>
              <a:t>o	Lý do: Tạo cảm giác sang trọng, công nghệ cao (Tech/Dark Mode). Màu xanh lá #00A651 và Đỏ #ED1C24 đều phát sáng rất tốt trên nền đen.</a:t>
            </a:r>
          </a:p>
          <a:p>
            <a:r>
              <a:rPr lang="vi-VN" sz="800" dirty="0">
                <a:effectLst/>
              </a:rPr>
              <a:t>•	Màu Kem nhạt / Be (#F5F5F0):</a:t>
            </a:r>
          </a:p>
          <a:p>
            <a:r>
              <a:rPr lang="vi-VN" sz="800" dirty="0">
                <a:effectLst/>
              </a:rPr>
              <a:t>o	Lý do: Nếu muốn tránh sự gay gắt của màu trắng tinh, màu kem nhạt giúp mắt dễ chịu hơn nhưng vẫn giữ được độ tương phản cần thiết.</a:t>
            </a:r>
          </a:p>
          <a:p>
            <a:r>
              <a:rPr lang="vi-VN" sz="800" dirty="0">
                <a:effectLst/>
              </a:rPr>
              <a:t>•	Xanh Navy đậm (#002147):</a:t>
            </a:r>
          </a:p>
          <a:p>
            <a:r>
              <a:rPr lang="vi-VN" sz="800" dirty="0">
                <a:effectLst/>
              </a:rPr>
              <a:t>o	Lý do: Màu xanh dương đậm là màu trung tính trong kinh doanh. Nó đủ tối để làm nổi bật màu xanh lá và tạo sự tương phản bổ sung thú vị với màu đỏ.</a:t>
            </a:r>
          </a:p>
          <a:p>
            <a:r>
              <a:rPr lang="vi-VN" sz="800" dirty="0">
                <a:effectLst/>
              </a:rPr>
              <a:t>Tuyệt đối tránh: Nền màu Xanh lá hoặc Đỏ (trùng màu logo), hoặc các màu chói như Cam, Tím tươi (gây xung đột thị giác).</a:t>
            </a:r>
          </a:p>
          <a:p>
            <a:r>
              <a:rPr lang="vi-VN" sz="800" dirty="0">
                <a:effectLst/>
              </a:rPr>
              <a:t>________________________________________</a:t>
            </a:r>
          </a:p>
          <a:p>
            <a:r>
              <a:rPr lang="vi-VN" sz="800" dirty="0">
                <a:effectLst/>
              </a:rPr>
              <a:t>2	2. Hình nền đa sắc, Gradient (Chuyển màu)</a:t>
            </a:r>
          </a:p>
          <a:p>
            <a:r>
              <a:rPr lang="vi-VN" sz="800" dirty="0">
                <a:effectLst/>
              </a:rPr>
              <a:t>Đối với logo Đỏ - Xanh, gradient nên giữ sự tinh tế, tránh quá nhiều màu rực rỡ (colorful) sẽ làm logo bị "nuốt chửng".</a:t>
            </a:r>
          </a:p>
          <a:p>
            <a:r>
              <a:rPr lang="vi-VN" sz="800" dirty="0">
                <a:effectLst/>
              </a:rPr>
              <a:t>Bộ đôi (Pairs):</a:t>
            </a:r>
          </a:p>
          <a:p>
            <a:r>
              <a:rPr lang="vi-VN" sz="800" dirty="0">
                <a:effectLst/>
              </a:rPr>
              <a:t>•	Trắng $\rightarrow$ Xám Bạc (#FFFFFF đến #E0E0E0): Tạo chiều sâu nhẹ nhàng, giả kim loại, rất hợp với tính chất "cứng" của ERP.</a:t>
            </a:r>
          </a:p>
          <a:p>
            <a:r>
              <a:rPr lang="vi-VN" sz="800" dirty="0">
                <a:effectLst/>
              </a:rPr>
              <a:t>•	Xanh than đậm $\rightarrow$ Đen (#0E1C2E đến #000000): Gradient này tạo chiều sâu không gian, giúp logo nổi bật như một tín hiệu đèn neon.</a:t>
            </a:r>
          </a:p>
          <a:p>
            <a:r>
              <a:rPr lang="vi-VN" sz="800" dirty="0">
                <a:effectLst/>
              </a:rPr>
              <a:t>Bộ ba (Triads):</a:t>
            </a:r>
          </a:p>
          <a:p>
            <a:r>
              <a:rPr lang="vi-VN" sz="800" dirty="0">
                <a:effectLst/>
              </a:rPr>
              <a:t>•	Xám nhạt $\rightarrow$ Trắng $\rightarrow$ Xám nhạt (Radial Gradient): Đặt tâm sáng màu trắng ở giữa logo và tối dần ra xung quanh. Điều này giúp tập trung thị giác vào logo.</a:t>
            </a:r>
          </a:p>
          <a:p>
            <a:r>
              <a:rPr lang="vi-VN" sz="800" dirty="0">
                <a:effectLst/>
              </a:rPr>
              <a:t>•	Xanh đậm (#003366) $\rightarrow$ Tím than (#2E003E) $\rightarrow$ Đen: (Chỉ dùng nếu muốn phong cách Cyber/Futuristic). Sự chuyển đổi giữa các tông màu lạnh và tối sẽ làm nền tảng vững chắc cho cặp màu nóng/tươi của logo.</a:t>
            </a:r>
          </a:p>
          <a:p>
            <a:r>
              <a:rPr lang="vi-VN" sz="800" dirty="0">
                <a:effectLst/>
              </a:rPr>
              <a:t>________________________________________</a:t>
            </a:r>
          </a:p>
          <a:p>
            <a:r>
              <a:rPr lang="vi-VN" sz="800" dirty="0">
                <a:effectLst/>
              </a:rPr>
              <a:t>3	3. Các màu tương phản tốt nhất</a:t>
            </a:r>
          </a:p>
          <a:p>
            <a:r>
              <a:rPr lang="vi-VN" sz="800" dirty="0">
                <a:effectLst/>
              </a:rPr>
              <a:t>Dưới đây là danh sách các màu tạo độ tương phản cao nhất, giúp logo tách biệt khỏi nền (có thể dùng cho các nút bấm - CTA hoặc các yếu tố đồ họa đi kèm):</a:t>
            </a:r>
          </a:p>
          <a:p>
            <a:r>
              <a:rPr lang="vi-VN" sz="800" dirty="0">
                <a:effectLst/>
              </a:rPr>
              <a:t>Màu sắc	Mã Hex	Đánh giá tương phản	Ghi chú</a:t>
            </a:r>
          </a:p>
          <a:p>
            <a:r>
              <a:rPr lang="vi-VN" sz="800" dirty="0">
                <a:effectLst/>
              </a:rPr>
              <a:t>Trắng Tuyệt đối	#FFFFFF	Xuất sắc	Tương phản tốt nhất với cả Đỏ và Xanh.</a:t>
            </a:r>
          </a:p>
          <a:p>
            <a:r>
              <a:rPr lang="vi-VN" sz="800" dirty="0">
                <a:effectLst/>
              </a:rPr>
              <a:t>Đen Tuyền	#000000	Xuất sắc	Làm logo rực rỡ và sắc nét.</a:t>
            </a:r>
          </a:p>
          <a:p>
            <a:r>
              <a:rPr lang="vi-VN" sz="800" dirty="0">
                <a:effectLst/>
              </a:rPr>
              <a:t>Vàng Chanh	#FFF200	Tốt	Tương phản rất mạnh với Đỏ (cảnh báo/chú ý), ổn với Xanh. Dùng ít để tạo điểm nhấn.</a:t>
            </a:r>
          </a:p>
          <a:p>
            <a:r>
              <a:rPr lang="vi-VN" sz="800" dirty="0">
                <a:effectLst/>
              </a:rPr>
              <a:t>Xanh Dương Đậm	#003399	Khá	Tương phản tốt với Đỏ, tạo sự hài hòa (analogous) với Xanh lá.</a:t>
            </a:r>
          </a:p>
          <a:p>
            <a:r>
              <a:rPr lang="vi-VN" sz="800" dirty="0">
                <a:effectLst/>
              </a:rPr>
              <a:t>Xám Đậm (Charcoal)	#333333	Tốt	Thay thế nhẹ nhàng hơn cho màu đen.</a:t>
            </a:r>
          </a:p>
          <a:p>
            <a:r>
              <a:rPr lang="vi-VN" sz="800" dirty="0">
                <a:effectLst/>
              </a:rPr>
              <a:t>4	Lời khuyên thiết kế (Next Step)</a:t>
            </a:r>
          </a:p>
          <a:p>
            <a:r>
              <a:rPr lang="vi-VN" sz="800" dirty="0">
                <a:effectLst/>
              </a:rPr>
              <a:t>Để tăng tính nhận diện cho OMEGA.ERP:</a:t>
            </a:r>
          </a:p>
          <a:p>
            <a:r>
              <a:rPr lang="vi-VN" sz="800" dirty="0">
                <a:effectLst/>
              </a:rPr>
              <a:t>1.	Trên nền sáng: Giữ nguyên logo gốc.</a:t>
            </a:r>
          </a:p>
          <a:p>
            <a:r>
              <a:rPr lang="vi-VN" sz="800" dirty="0">
                <a:effectLst/>
              </a:rPr>
              <a:t>2.	Trên nền tối/ảnh phức tạp: Bạn nên cân nhắc tạo một phiên bản logo âm bản (toàn bộ màu trắng). Vì chữ màu Đỏ (#ED1C24) đặt trên nền tối đôi khi sẽ gây hiện tượng "halo" (nhoè biên) và khó đọc nếu kích thước nhỏ.</a:t>
            </a:r>
          </a:p>
          <a:p>
            <a:endParaRPr lang="vi-VN" sz="800" dirty="0">
              <a:effectLst/>
            </a:endParaRPr>
          </a:p>
        </p:txBody>
      </p:sp>
    </p:spTree>
    <p:extLst>
      <p:ext uri="{BB962C8B-B14F-4D97-AF65-F5344CB8AC3E}">
        <p14:creationId xmlns:p14="http://schemas.microsoft.com/office/powerpoint/2010/main" val="2990310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629</TotalTime>
  <Words>2164</Words>
  <Application>Microsoft Office PowerPoint</Application>
  <PresentationFormat>Widescreen</PresentationFormat>
  <Paragraphs>139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Roboto</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Phung Hoang</dc:creator>
  <cp:lastModifiedBy>Phung Hoang</cp:lastModifiedBy>
  <cp:revision>13</cp:revision>
  <dcterms:created xsi:type="dcterms:W3CDTF">2026-01-28T06:22:56Z</dcterms:created>
  <dcterms:modified xsi:type="dcterms:W3CDTF">2026-02-08T08:57:06Z</dcterms:modified>
</cp:coreProperties>
</file>