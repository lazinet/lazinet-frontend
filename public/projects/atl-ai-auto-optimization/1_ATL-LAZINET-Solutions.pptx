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 id="2147483660" r:id="rId3"/>
  </p:sldMasterIdLst>
  <p:notesMasterIdLst>
    <p:notesMasterId r:id="rId30"/>
  </p:notesMasterIdLst>
  <p:sldIdLst>
    <p:sldId id="256" r:id="rId4"/>
    <p:sldId id="313" r:id="rId5"/>
    <p:sldId id="371" r:id="rId6"/>
    <p:sldId id="372" r:id="rId13"/>
    <p:sldId id="373" r:id="rId14"/>
    <p:sldId id="374" r:id="rId15"/>
    <p:sldId id="375" r:id="rId16"/>
    <p:sldId id="376" r:id="rId17"/>
    <p:sldId id="377" r:id="rId18"/>
    <p:sldId id="378" r:id="rId19"/>
    <p:sldId id="379" r:id="rId20"/>
    <p:sldId id="380" r:id="rId21"/>
    <p:sldId id="381" r:id="rId22"/>
    <p:sldId id="382" r:id="rId23"/>
    <p:sldId id="383" r:id="rId24"/>
    <p:sldId id="384" r:id="rId25"/>
    <p:sldId id="385" r:id="rId26"/>
    <p:sldId id="386" r:id="rId12"/>
    <p:sldId id="387" r:id="rId28"/>
    <p:sldId id="30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300"/>
    <a:srgbClr val="0000FF"/>
    <a:srgbClr val="FFCCCC"/>
    <a:srgbClr val="3399FF"/>
    <a:srgbClr val="FF9966"/>
    <a:srgbClr val="CCFFFF"/>
    <a:srgbClr val="66CCFF"/>
    <a:srgbClr val="FF6302"/>
    <a:srgbClr val="4472C4"/>
    <a:srgbClr val="0A7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60"/>
  </p:normalViewPr>
  <p:slideViewPr>
    <p:cSldViewPr snapToGrid="0">
      <p:cViewPr>
        <p:scale>
          <a:sx n="66" d="100"/>
          <a:sy n="66" d="100"/>
        </p:scale>
        <p:origin x="2496" y="9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12" Type="http://schemas.openxmlformats.org/officeDocument/2006/relationships/slide" Target="slides/slide18.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20.xml"/><Relationship Id="rId28" Type="http://schemas.openxmlformats.org/officeDocument/2006/relationships/slide" Target="slides/slide19.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CF31CE-0686-4D72-92DB-822E0FF27EA0}" type="doc">
      <dgm:prSet loTypeId="urn:microsoft.com/office/officeart/2011/layout/HexagonRadial" loCatId="officeonline" qsTypeId="urn:microsoft.com/office/officeart/2005/8/quickstyle/simple2" qsCatId="simple" csTypeId="urn:microsoft.com/office/officeart/2005/8/colors/colorful1" csCatId="colorful" phldr="1"/>
      <dgm:spPr/>
      <dgm:t>
        <a:bodyPr/>
        <a:lstStyle/>
        <a:p>
          <a:endParaRPr lang="en-US"/>
        </a:p>
      </dgm:t>
    </dgm:pt>
    <dgm:pt modelId="{1ED1F5A9-2508-4C61-A0A3-06560ADF7ABD}">
      <dgm:prSet phldrT="[Text]"/>
      <dgm:spPr>
        <a:noFill/>
        <a:ln>
          <a:gradFill flip="none" rotWithShape="1">
            <a:gsLst>
              <a:gs pos="0">
                <a:srgbClr val="0000FF"/>
              </a:gs>
              <a:gs pos="100000">
                <a:srgbClr val="FF6302"/>
              </a:gs>
            </a:gsLst>
            <a:path path="rect">
              <a:fillToRect l="100000" t="100000"/>
            </a:path>
            <a:tileRect r="-100000" b="-100000"/>
          </a:gradFill>
        </a:ln>
      </dgm:spPr>
      <dgm:t>
        <a:bodyPr/>
        <a:lstStyle/>
        <a:p>
          <a:endParaRPr lang="en-US" b="1" dirty="0">
            <a:solidFill>
              <a:srgbClr val="0000FF"/>
            </a:solidFill>
            <a:latin typeface="Roboto" panose="02000000000000000000" pitchFamily="2" charset="0"/>
            <a:ea typeface="Roboto" panose="02000000000000000000" pitchFamily="2" charset="0"/>
          </a:endParaRPr>
        </a:p>
      </dgm:t>
    </dgm:pt>
    <dgm:pt modelId="{D6B878A1-00EC-4F15-B87F-E97D4E763373}" type="parTrans" cxnId="{98898A9A-01A3-46B3-A5D9-84FB510AF07B}">
      <dgm:prSet/>
      <dgm:spPr/>
      <dgm:t>
        <a:bodyPr/>
        <a:lstStyle/>
        <a:p>
          <a:endParaRPr lang="en-US">
            <a:latin typeface="Roboto" panose="02000000000000000000" pitchFamily="2" charset="0"/>
            <a:ea typeface="Roboto" panose="02000000000000000000" pitchFamily="2" charset="0"/>
          </a:endParaRPr>
        </a:p>
      </dgm:t>
    </dgm:pt>
    <dgm:pt modelId="{6AF7C522-14F0-4EED-9F45-4D6A06873D96}" type="sibTrans" cxnId="{98898A9A-01A3-46B3-A5D9-84FB510AF07B}">
      <dgm:prSet/>
      <dgm:spPr/>
      <dgm:t>
        <a:bodyPr/>
        <a:lstStyle/>
        <a:p>
          <a:endParaRPr lang="en-US">
            <a:latin typeface="Roboto" panose="02000000000000000000" pitchFamily="2" charset="0"/>
            <a:ea typeface="Roboto" panose="02000000000000000000" pitchFamily="2" charset="0"/>
          </a:endParaRPr>
        </a:p>
      </dgm:t>
    </dgm:pt>
    <dgm:pt modelId="{98B27B95-56D8-4813-A83D-F6DA97F57496}">
      <dgm:prSet phldrT="[Text]"/>
      <dgm:spPr>
        <a:solidFill>
          <a:srgbClr val="FF6300"/>
        </a:solidFill>
      </dgm:spPr>
      <dgm:t>
        <a:bodyPr/>
        <a:lstStyle/>
        <a:p>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Phát</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triển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phần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mềm</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tùy</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chỉnh</a:t>
          </a:r>
          <a:endParaRPr lang="en-US" dirty="0">
            <a:latin typeface="Roboto" panose="02000000000000000000" pitchFamily="2" charset="0"/>
            <a:ea typeface="Roboto" panose="02000000000000000000" pitchFamily="2" charset="0"/>
          </a:endParaRPr>
        </a:p>
      </dgm:t>
    </dgm:pt>
    <dgm:pt modelId="{A24A0ACC-BC03-42EB-A405-0D9A03F2C030}" type="parTrans" cxnId="{5A55BDB4-FAD4-4F49-B066-EAE394C59DAC}">
      <dgm:prSet/>
      <dgm:spPr/>
      <dgm:t>
        <a:bodyPr/>
        <a:lstStyle/>
        <a:p>
          <a:endParaRPr lang="en-US">
            <a:latin typeface="Roboto" panose="02000000000000000000" pitchFamily="2" charset="0"/>
            <a:ea typeface="Roboto" panose="02000000000000000000" pitchFamily="2" charset="0"/>
          </a:endParaRPr>
        </a:p>
      </dgm:t>
    </dgm:pt>
    <dgm:pt modelId="{C3457B63-C68D-4E42-B8A7-05DE1160B8EB}" type="sibTrans" cxnId="{5A55BDB4-FAD4-4F49-B066-EAE394C59DAC}">
      <dgm:prSet/>
      <dgm:spPr/>
      <dgm:t>
        <a:bodyPr/>
        <a:lstStyle/>
        <a:p>
          <a:endParaRPr lang="en-US">
            <a:latin typeface="Roboto" panose="02000000000000000000" pitchFamily="2" charset="0"/>
            <a:ea typeface="Roboto" panose="02000000000000000000" pitchFamily="2" charset="0"/>
          </a:endParaRPr>
        </a:p>
      </dgm:t>
    </dgm:pt>
    <dgm:pt modelId="{CAC3F21D-8EA3-41BD-A3F0-E6CF5C38D62C}">
      <dgm:prSet phldrT="[Text]"/>
      <dgm:spPr>
        <a:solidFill>
          <a:srgbClr val="0000FF"/>
        </a:solidFill>
      </dgm:spPr>
      <dgm:t>
        <a:bodyPr/>
        <a:lstStyle/>
        <a:p>
          <a:pPr>
            <a:buClrTx/>
            <a:buSzTx/>
            <a:buFontTx/>
            <a:buNone/>
          </a:pPr>
          <a:r>
            <a:rPr lang="en-US" dirty="0" err="1">
              <a:latin typeface="Roboto" panose="02000000000000000000" pitchFamily="2" charset="0"/>
              <a:ea typeface="Roboto" panose="02000000000000000000" pitchFamily="2" charset="0"/>
            </a:rPr>
            <a:t>Nền</a:t>
          </a:r>
          <a:r>
            <a:rPr lang="en-US" dirty="0">
              <a:latin typeface="Roboto" panose="02000000000000000000" pitchFamily="2" charset="0"/>
              <a:ea typeface="Roboto" panose="02000000000000000000" pitchFamily="2" charset="0"/>
            </a:rPr>
            <a:t> </a:t>
          </a:r>
          <a:r>
            <a:rPr lang="en-US" dirty="0" err="1">
              <a:latin typeface="Roboto" panose="02000000000000000000" pitchFamily="2" charset="0"/>
              <a:ea typeface="Roboto" panose="02000000000000000000" pitchFamily="2" charset="0"/>
            </a:rPr>
            <a:t>tảng</a:t>
          </a:r>
          <a:r>
            <a:rPr lang="en-US" dirty="0">
              <a:latin typeface="Roboto" panose="02000000000000000000" pitchFamily="2" charset="0"/>
              <a:ea typeface="Roboto" panose="02000000000000000000" pitchFamily="2" charset="0"/>
            </a:rPr>
            <a:t> </a:t>
          </a:r>
          <a:r>
            <a:rPr lang="en-US" dirty="0" err="1">
              <a:latin typeface="Roboto" panose="02000000000000000000" pitchFamily="2" charset="0"/>
              <a:ea typeface="Roboto" panose="02000000000000000000" pitchFamily="2" charset="0"/>
            </a:rPr>
            <a:t>thương</a:t>
          </a:r>
          <a:r>
            <a:rPr lang="en-US" dirty="0">
              <a:latin typeface="Roboto" panose="02000000000000000000" pitchFamily="2" charset="0"/>
              <a:ea typeface="Roboto" panose="02000000000000000000" pitchFamily="2" charset="0"/>
            </a:rPr>
            <a:t> </a:t>
          </a:r>
          <a:r>
            <a:rPr lang="en-US" dirty="0" err="1">
              <a:latin typeface="Roboto" panose="02000000000000000000" pitchFamily="2" charset="0"/>
              <a:ea typeface="Roboto" panose="02000000000000000000" pitchFamily="2" charset="0"/>
            </a:rPr>
            <a:t>mại</a:t>
          </a:r>
          <a:r>
            <a:rPr lang="en-US" dirty="0">
              <a:latin typeface="Roboto" panose="02000000000000000000" pitchFamily="2" charset="0"/>
              <a:ea typeface="Roboto" panose="02000000000000000000" pitchFamily="2" charset="0"/>
            </a:rPr>
            <a:t> </a:t>
          </a:r>
          <a:r>
            <a:rPr lang="en-US" dirty="0" err="1">
              <a:latin typeface="Roboto" panose="02000000000000000000" pitchFamily="2" charset="0"/>
              <a:ea typeface="Roboto" panose="02000000000000000000" pitchFamily="2" charset="0"/>
            </a:rPr>
            <a:t>điện</a:t>
          </a:r>
          <a:r>
            <a:rPr lang="en-US" dirty="0">
              <a:latin typeface="Roboto" panose="02000000000000000000" pitchFamily="2" charset="0"/>
              <a:ea typeface="Roboto" panose="02000000000000000000" pitchFamily="2" charset="0"/>
            </a:rPr>
            <a:t> </a:t>
          </a:r>
          <a:r>
            <a:rPr lang="en-US" dirty="0" err="1">
              <a:latin typeface="Roboto" panose="02000000000000000000" pitchFamily="2" charset="0"/>
              <a:ea typeface="Roboto" panose="02000000000000000000" pitchFamily="2" charset="0"/>
            </a:rPr>
            <a:t>tử</a:t>
          </a:r>
          <a:endParaRPr lang="en-US" dirty="0">
            <a:latin typeface="Roboto" panose="02000000000000000000" pitchFamily="2" charset="0"/>
            <a:ea typeface="Roboto" panose="02000000000000000000" pitchFamily="2" charset="0"/>
          </a:endParaRPr>
        </a:p>
      </dgm:t>
    </dgm:pt>
    <dgm:pt modelId="{9AA7610F-D6DC-412C-A83D-C1ECDAD2B338}" type="parTrans" cxnId="{D277C0D3-24D0-4B7F-A420-D3C4EBBF1760}">
      <dgm:prSet/>
      <dgm:spPr/>
      <dgm:t>
        <a:bodyPr/>
        <a:lstStyle/>
        <a:p>
          <a:endParaRPr lang="en-US">
            <a:latin typeface="Roboto" panose="02000000000000000000" pitchFamily="2" charset="0"/>
            <a:ea typeface="Roboto" panose="02000000000000000000" pitchFamily="2" charset="0"/>
          </a:endParaRPr>
        </a:p>
      </dgm:t>
    </dgm:pt>
    <dgm:pt modelId="{571A7B4A-F1C0-4D6F-AFE9-BAE5D988C784}" type="sibTrans" cxnId="{D277C0D3-24D0-4B7F-A420-D3C4EBBF1760}">
      <dgm:prSet/>
      <dgm:spPr/>
      <dgm:t>
        <a:bodyPr/>
        <a:lstStyle/>
        <a:p>
          <a:endParaRPr lang="en-US">
            <a:latin typeface="Roboto" panose="02000000000000000000" pitchFamily="2" charset="0"/>
            <a:ea typeface="Roboto" panose="02000000000000000000" pitchFamily="2" charset="0"/>
          </a:endParaRPr>
        </a:p>
      </dgm:t>
    </dgm:pt>
    <dgm:pt modelId="{38AF0D64-6613-45EA-8F1E-89993B54C19C}">
      <dgm:prSet phldrT="[Text]"/>
      <dgm:spPr>
        <a:solidFill>
          <a:srgbClr val="FF6300"/>
        </a:solidFill>
      </dgm:spPr>
      <dgm:t>
        <a:bodyPr/>
        <a:lstStyle/>
        <a:p>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Triển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khai</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IoT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hệ</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thống</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thông</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minh</a:t>
          </a:r>
          <a:endParaRPr lang="en-US" dirty="0">
            <a:latin typeface="Roboto" panose="02000000000000000000" pitchFamily="2" charset="0"/>
            <a:ea typeface="Roboto" panose="02000000000000000000" pitchFamily="2" charset="0"/>
          </a:endParaRPr>
        </a:p>
      </dgm:t>
    </dgm:pt>
    <dgm:pt modelId="{2767609F-1502-4DD1-9D1C-9D481E221856}" type="parTrans" cxnId="{1DBEEAB1-0F95-4C05-8034-6F70B8DD8261}">
      <dgm:prSet/>
      <dgm:spPr/>
      <dgm:t>
        <a:bodyPr/>
        <a:lstStyle/>
        <a:p>
          <a:endParaRPr lang="en-US">
            <a:latin typeface="Roboto" panose="02000000000000000000" pitchFamily="2" charset="0"/>
            <a:ea typeface="Roboto" panose="02000000000000000000" pitchFamily="2" charset="0"/>
          </a:endParaRPr>
        </a:p>
      </dgm:t>
    </dgm:pt>
    <dgm:pt modelId="{B552C026-4485-4D35-8F16-8D00CB1AFEC8}" type="sibTrans" cxnId="{1DBEEAB1-0F95-4C05-8034-6F70B8DD8261}">
      <dgm:prSet/>
      <dgm:spPr/>
      <dgm:t>
        <a:bodyPr/>
        <a:lstStyle/>
        <a:p>
          <a:endParaRPr lang="en-US">
            <a:latin typeface="Roboto" panose="02000000000000000000" pitchFamily="2" charset="0"/>
            <a:ea typeface="Roboto" panose="02000000000000000000" pitchFamily="2" charset="0"/>
          </a:endParaRPr>
        </a:p>
      </dgm:t>
    </dgm:pt>
    <dgm:pt modelId="{DB8E9E3D-6B1B-4987-BD8C-F019B05B7A63}">
      <dgm:prSet phldrT="[Text]"/>
      <dgm:spPr>
        <a:solidFill>
          <a:srgbClr val="0000FF"/>
        </a:solidFill>
      </dgm:spPr>
      <dgm:t>
        <a:bodyPr/>
        <a:lstStyle/>
        <a:p>
          <a:pPr>
            <a:buClrTx/>
            <a:buSzTx/>
            <a:buFontTx/>
            <a:buNone/>
          </a:pP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AI Agent, RPA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tự</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động</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hóa</a:t>
          </a:r>
          <a:endParaRPr lang="en-US" dirty="0">
            <a:latin typeface="Roboto" panose="02000000000000000000" pitchFamily="2" charset="0"/>
            <a:ea typeface="Roboto" panose="02000000000000000000" pitchFamily="2" charset="0"/>
          </a:endParaRPr>
        </a:p>
      </dgm:t>
    </dgm:pt>
    <dgm:pt modelId="{653E5BBC-D980-4B54-B3F0-89E324967EE7}" type="parTrans" cxnId="{36600A20-51A6-4A74-BACA-92CF24C5DA71}">
      <dgm:prSet/>
      <dgm:spPr/>
      <dgm:t>
        <a:bodyPr/>
        <a:lstStyle/>
        <a:p>
          <a:endParaRPr lang="en-US">
            <a:latin typeface="Roboto" panose="02000000000000000000" pitchFamily="2" charset="0"/>
            <a:ea typeface="Roboto" panose="02000000000000000000" pitchFamily="2" charset="0"/>
          </a:endParaRPr>
        </a:p>
      </dgm:t>
    </dgm:pt>
    <dgm:pt modelId="{1D2B8060-4C2D-4397-B3B1-020F9CF91594}" type="sibTrans" cxnId="{36600A20-51A6-4A74-BACA-92CF24C5DA71}">
      <dgm:prSet/>
      <dgm:spPr/>
      <dgm:t>
        <a:bodyPr/>
        <a:lstStyle/>
        <a:p>
          <a:endParaRPr lang="en-US">
            <a:latin typeface="Roboto" panose="02000000000000000000" pitchFamily="2" charset="0"/>
            <a:ea typeface="Roboto" panose="02000000000000000000" pitchFamily="2" charset="0"/>
          </a:endParaRPr>
        </a:p>
      </dgm:t>
    </dgm:pt>
    <dgm:pt modelId="{5D10980F-140C-495A-8125-794B02DB7434}">
      <dgm:prSet phldrT="[Text]"/>
      <dgm:spPr>
        <a:solidFill>
          <a:srgbClr val="FF6300"/>
        </a:solidFill>
      </dgm:spPr>
      <dgm:t>
        <a:bodyPr/>
        <a:lstStyle/>
        <a:p>
          <a:pPr>
            <a:buClrTx/>
            <a:buSzTx/>
            <a:buFontTx/>
            <a:buNone/>
          </a:pP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Mạng</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máy</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tính</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điện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toán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đám</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mây</a:t>
          </a:r>
          <a:endParaRPr lang="en-US" dirty="0">
            <a:latin typeface="Roboto" panose="02000000000000000000" pitchFamily="2" charset="0"/>
            <a:ea typeface="Roboto" panose="02000000000000000000" pitchFamily="2" charset="0"/>
          </a:endParaRPr>
        </a:p>
      </dgm:t>
    </dgm:pt>
    <dgm:pt modelId="{ABDD3A38-2587-4180-8631-2C149017494F}" type="parTrans" cxnId="{06270FFA-00A0-43C6-A5FF-C28CE8AC1960}">
      <dgm:prSet/>
      <dgm:spPr/>
      <dgm:t>
        <a:bodyPr/>
        <a:lstStyle/>
        <a:p>
          <a:endParaRPr lang="en-US">
            <a:latin typeface="Roboto" panose="02000000000000000000" pitchFamily="2" charset="0"/>
            <a:ea typeface="Roboto" panose="02000000000000000000" pitchFamily="2" charset="0"/>
          </a:endParaRPr>
        </a:p>
      </dgm:t>
    </dgm:pt>
    <dgm:pt modelId="{F920BD97-77EA-4857-917E-B6FADB85144D}" type="sibTrans" cxnId="{06270FFA-00A0-43C6-A5FF-C28CE8AC1960}">
      <dgm:prSet/>
      <dgm:spPr/>
      <dgm:t>
        <a:bodyPr/>
        <a:lstStyle/>
        <a:p>
          <a:endParaRPr lang="en-US">
            <a:latin typeface="Roboto" panose="02000000000000000000" pitchFamily="2" charset="0"/>
            <a:ea typeface="Roboto" panose="02000000000000000000" pitchFamily="2" charset="0"/>
          </a:endParaRPr>
        </a:p>
      </dgm:t>
    </dgm:pt>
    <dgm:pt modelId="{BAE0C6E1-45C8-4408-8F62-F8280BC241F1}">
      <dgm:prSet phldrT="[Text]"/>
      <dgm:spPr>
        <a:solidFill>
          <a:srgbClr val="0000FF"/>
        </a:solidFill>
      </dgm:spPr>
      <dgm:t>
        <a:bodyPr/>
        <a:lstStyle/>
        <a:p>
          <a:pPr>
            <a:buClrTx/>
            <a:buSzTx/>
            <a:buFontTx/>
            <a:buNone/>
          </a:pP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Phân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tích</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dữ</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liệu</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phát</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triển</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mô</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b="0" i="0" u="none" strike="noStrike"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hình</a:t>
          </a:r>
          <a:r>
            <a:rPr kumimoji="0" lang="en-US" b="0" i="0" u="none" strike="noStrike" cap="none" spc="0" normalizeH="0" baseline="0" noProof="0" dirty="0">
              <a:ln>
                <a:noFill/>
              </a:ln>
              <a:solidFill>
                <a:prstClr val="white"/>
              </a:solidFill>
              <a:effectLst/>
              <a:uLnTx/>
              <a:uFillTx/>
              <a:latin typeface="Calibri" panose="020F0502020204030204"/>
              <a:ea typeface="Roboto" panose="02000000000000000000" pitchFamily="2" charset="0"/>
              <a:cs typeface="+mn-cs"/>
            </a:rPr>
            <a:t> AI</a:t>
          </a:r>
          <a:endParaRPr lang="en-US" dirty="0">
            <a:latin typeface="Roboto" panose="02000000000000000000" pitchFamily="2" charset="0"/>
            <a:ea typeface="Roboto" panose="02000000000000000000" pitchFamily="2" charset="0"/>
          </a:endParaRPr>
        </a:p>
      </dgm:t>
    </dgm:pt>
    <dgm:pt modelId="{53A93E56-04CB-4A0C-A2F8-D3CF485F9791}" type="parTrans" cxnId="{7FA6793C-9F72-49A9-89D8-42B7EB0826C7}">
      <dgm:prSet/>
      <dgm:spPr/>
      <dgm:t>
        <a:bodyPr/>
        <a:lstStyle/>
        <a:p>
          <a:endParaRPr lang="en-US">
            <a:latin typeface="Roboto" panose="02000000000000000000" pitchFamily="2" charset="0"/>
            <a:ea typeface="Roboto" panose="02000000000000000000" pitchFamily="2" charset="0"/>
          </a:endParaRPr>
        </a:p>
      </dgm:t>
    </dgm:pt>
    <dgm:pt modelId="{688BCAD7-7806-4BBE-912D-BE92F351D367}" type="sibTrans" cxnId="{7FA6793C-9F72-49A9-89D8-42B7EB0826C7}">
      <dgm:prSet/>
      <dgm:spPr/>
      <dgm:t>
        <a:bodyPr/>
        <a:lstStyle/>
        <a:p>
          <a:endParaRPr lang="en-US">
            <a:latin typeface="Roboto" panose="02000000000000000000" pitchFamily="2" charset="0"/>
            <a:ea typeface="Roboto" panose="02000000000000000000" pitchFamily="2" charset="0"/>
          </a:endParaRPr>
        </a:p>
      </dgm:t>
    </dgm:pt>
    <dgm:pt modelId="{639CF072-4C52-43B9-8061-304F299FC27D}" type="pres">
      <dgm:prSet presAssocID="{0CCF31CE-0686-4D72-92DB-822E0FF27EA0}" presName="Name0" presStyleCnt="0">
        <dgm:presLayoutVars>
          <dgm:chMax val="1"/>
          <dgm:chPref val="1"/>
          <dgm:dir/>
          <dgm:animOne val="branch"/>
          <dgm:animLvl val="lvl"/>
        </dgm:presLayoutVars>
      </dgm:prSet>
      <dgm:spPr/>
    </dgm:pt>
    <dgm:pt modelId="{4568DF4A-CCC3-444D-9689-32C20BC8A2C1}" type="pres">
      <dgm:prSet presAssocID="{1ED1F5A9-2508-4C61-A0A3-06560ADF7ABD}" presName="Parent" presStyleLbl="node0" presStyleIdx="0" presStyleCnt="1">
        <dgm:presLayoutVars>
          <dgm:chMax val="6"/>
          <dgm:chPref val="6"/>
        </dgm:presLayoutVars>
      </dgm:prSet>
      <dgm:spPr/>
    </dgm:pt>
    <dgm:pt modelId="{0DD976A5-C422-4971-B727-2994BC0E95E9}" type="pres">
      <dgm:prSet presAssocID="{98B27B95-56D8-4813-A83D-F6DA97F57496}" presName="Accent1" presStyleCnt="0"/>
      <dgm:spPr/>
    </dgm:pt>
    <dgm:pt modelId="{13AA55D5-3136-4219-95A7-6B0111BC18A9}" type="pres">
      <dgm:prSet presAssocID="{98B27B95-56D8-4813-A83D-F6DA97F57496}" presName="Accent" presStyleLbl="bgShp" presStyleIdx="0" presStyleCnt="6"/>
      <dgm:spPr/>
    </dgm:pt>
    <dgm:pt modelId="{843AD9F6-147E-46F3-943A-C8123662BF94}" type="pres">
      <dgm:prSet presAssocID="{98B27B95-56D8-4813-A83D-F6DA97F57496}" presName="Child1" presStyleLbl="node1" presStyleIdx="0" presStyleCnt="6">
        <dgm:presLayoutVars>
          <dgm:chMax val="0"/>
          <dgm:chPref val="0"/>
          <dgm:bulletEnabled val="1"/>
        </dgm:presLayoutVars>
      </dgm:prSet>
      <dgm:spPr/>
    </dgm:pt>
    <dgm:pt modelId="{B62E481D-CBE8-4A61-927C-F1905FC50895}" type="pres">
      <dgm:prSet presAssocID="{CAC3F21D-8EA3-41BD-A3F0-E6CF5C38D62C}" presName="Accent2" presStyleCnt="0"/>
      <dgm:spPr/>
    </dgm:pt>
    <dgm:pt modelId="{3DFB323E-1966-403F-B9EA-B24750DA780E}" type="pres">
      <dgm:prSet presAssocID="{CAC3F21D-8EA3-41BD-A3F0-E6CF5C38D62C}" presName="Accent" presStyleLbl="bgShp" presStyleIdx="1" presStyleCnt="6"/>
      <dgm:spPr/>
    </dgm:pt>
    <dgm:pt modelId="{11E6CE6C-B53C-411E-9227-26246BAA6570}" type="pres">
      <dgm:prSet presAssocID="{CAC3F21D-8EA3-41BD-A3F0-E6CF5C38D62C}" presName="Child2" presStyleLbl="node1" presStyleIdx="1" presStyleCnt="6">
        <dgm:presLayoutVars>
          <dgm:chMax val="0"/>
          <dgm:chPref val="0"/>
          <dgm:bulletEnabled val="1"/>
        </dgm:presLayoutVars>
      </dgm:prSet>
      <dgm:spPr/>
    </dgm:pt>
    <dgm:pt modelId="{2F7CC029-BC9A-4BDF-BA62-CF7AE5B7F109}" type="pres">
      <dgm:prSet presAssocID="{38AF0D64-6613-45EA-8F1E-89993B54C19C}" presName="Accent3" presStyleCnt="0"/>
      <dgm:spPr/>
    </dgm:pt>
    <dgm:pt modelId="{F90B7225-4D5D-44E0-8979-7FDC46AD5C46}" type="pres">
      <dgm:prSet presAssocID="{38AF0D64-6613-45EA-8F1E-89993B54C19C}" presName="Accent" presStyleLbl="bgShp" presStyleIdx="2" presStyleCnt="6"/>
      <dgm:spPr/>
    </dgm:pt>
    <dgm:pt modelId="{33102E8F-3F60-4EE6-8DFE-F41FF1EEB985}" type="pres">
      <dgm:prSet presAssocID="{38AF0D64-6613-45EA-8F1E-89993B54C19C}" presName="Child3" presStyleLbl="node1" presStyleIdx="2" presStyleCnt="6">
        <dgm:presLayoutVars>
          <dgm:chMax val="0"/>
          <dgm:chPref val="0"/>
          <dgm:bulletEnabled val="1"/>
        </dgm:presLayoutVars>
      </dgm:prSet>
      <dgm:spPr/>
    </dgm:pt>
    <dgm:pt modelId="{7C7A0B18-6EA1-48E6-87B4-0864FAE31BAF}" type="pres">
      <dgm:prSet presAssocID="{DB8E9E3D-6B1B-4987-BD8C-F019B05B7A63}" presName="Accent4" presStyleCnt="0"/>
      <dgm:spPr/>
    </dgm:pt>
    <dgm:pt modelId="{B3693C36-0DB0-4B00-A090-3268C64713B1}" type="pres">
      <dgm:prSet presAssocID="{DB8E9E3D-6B1B-4987-BD8C-F019B05B7A63}" presName="Accent" presStyleLbl="bgShp" presStyleIdx="3" presStyleCnt="6"/>
      <dgm:spPr/>
    </dgm:pt>
    <dgm:pt modelId="{844BE8F1-58A7-4D98-911B-28573EC6AE54}" type="pres">
      <dgm:prSet presAssocID="{DB8E9E3D-6B1B-4987-BD8C-F019B05B7A63}" presName="Child4" presStyleLbl="node1" presStyleIdx="3" presStyleCnt="6">
        <dgm:presLayoutVars>
          <dgm:chMax val="0"/>
          <dgm:chPref val="0"/>
          <dgm:bulletEnabled val="1"/>
        </dgm:presLayoutVars>
      </dgm:prSet>
      <dgm:spPr/>
    </dgm:pt>
    <dgm:pt modelId="{B05BACE6-657A-46D3-B412-95C646444E8E}" type="pres">
      <dgm:prSet presAssocID="{5D10980F-140C-495A-8125-794B02DB7434}" presName="Accent5" presStyleCnt="0"/>
      <dgm:spPr/>
    </dgm:pt>
    <dgm:pt modelId="{98E389D0-8D9E-448D-8B93-2EFEE39DB095}" type="pres">
      <dgm:prSet presAssocID="{5D10980F-140C-495A-8125-794B02DB7434}" presName="Accent" presStyleLbl="bgShp" presStyleIdx="4" presStyleCnt="6"/>
      <dgm:spPr/>
    </dgm:pt>
    <dgm:pt modelId="{53604216-90FC-4167-88A1-9D1188CD5CDD}" type="pres">
      <dgm:prSet presAssocID="{5D10980F-140C-495A-8125-794B02DB7434}" presName="Child5" presStyleLbl="node1" presStyleIdx="4" presStyleCnt="6">
        <dgm:presLayoutVars>
          <dgm:chMax val="0"/>
          <dgm:chPref val="0"/>
          <dgm:bulletEnabled val="1"/>
        </dgm:presLayoutVars>
      </dgm:prSet>
      <dgm:spPr/>
    </dgm:pt>
    <dgm:pt modelId="{6F152044-B8AC-47BE-86AC-DA99969B496B}" type="pres">
      <dgm:prSet presAssocID="{BAE0C6E1-45C8-4408-8F62-F8280BC241F1}" presName="Accent6" presStyleCnt="0"/>
      <dgm:spPr/>
    </dgm:pt>
    <dgm:pt modelId="{C35F748C-4CBE-4A87-A65F-10F4D9B4388B}" type="pres">
      <dgm:prSet presAssocID="{BAE0C6E1-45C8-4408-8F62-F8280BC241F1}" presName="Accent" presStyleLbl="bgShp" presStyleIdx="5" presStyleCnt="6"/>
      <dgm:spPr/>
    </dgm:pt>
    <dgm:pt modelId="{FCDC72AC-9717-4668-8EDB-479BD67856EB}" type="pres">
      <dgm:prSet presAssocID="{BAE0C6E1-45C8-4408-8F62-F8280BC241F1}" presName="Child6" presStyleLbl="node1" presStyleIdx="5" presStyleCnt="6">
        <dgm:presLayoutVars>
          <dgm:chMax val="0"/>
          <dgm:chPref val="0"/>
          <dgm:bulletEnabled val="1"/>
        </dgm:presLayoutVars>
      </dgm:prSet>
      <dgm:spPr/>
    </dgm:pt>
  </dgm:ptLst>
  <dgm:cxnLst>
    <dgm:cxn modelId="{36600A20-51A6-4A74-BACA-92CF24C5DA71}" srcId="{1ED1F5A9-2508-4C61-A0A3-06560ADF7ABD}" destId="{DB8E9E3D-6B1B-4987-BD8C-F019B05B7A63}" srcOrd="3" destOrd="0" parTransId="{653E5BBC-D980-4B54-B3F0-89E324967EE7}" sibTransId="{1D2B8060-4C2D-4397-B3B1-020F9CF91594}"/>
    <dgm:cxn modelId="{F7496E25-B8EF-4116-A932-6BC659515837}" type="presOf" srcId="{98B27B95-56D8-4813-A83D-F6DA97F57496}" destId="{843AD9F6-147E-46F3-943A-C8123662BF94}" srcOrd="0" destOrd="0" presId="urn:microsoft.com/office/officeart/2011/layout/HexagonRadial"/>
    <dgm:cxn modelId="{7FA6793C-9F72-49A9-89D8-42B7EB0826C7}" srcId="{1ED1F5A9-2508-4C61-A0A3-06560ADF7ABD}" destId="{BAE0C6E1-45C8-4408-8F62-F8280BC241F1}" srcOrd="5" destOrd="0" parTransId="{53A93E56-04CB-4A0C-A2F8-D3CF485F9791}" sibTransId="{688BCAD7-7806-4BBE-912D-BE92F351D367}"/>
    <dgm:cxn modelId="{D93A2064-613D-4B06-9401-FA83EABF31E6}" type="presOf" srcId="{1ED1F5A9-2508-4C61-A0A3-06560ADF7ABD}" destId="{4568DF4A-CCC3-444D-9689-32C20BC8A2C1}" srcOrd="0" destOrd="0" presId="urn:microsoft.com/office/officeart/2011/layout/HexagonRadial"/>
    <dgm:cxn modelId="{2B9DAB65-32F7-45BA-AD51-B7340CAC6DEF}" type="presOf" srcId="{0CCF31CE-0686-4D72-92DB-822E0FF27EA0}" destId="{639CF072-4C52-43B9-8061-304F299FC27D}" srcOrd="0" destOrd="0" presId="urn:microsoft.com/office/officeart/2011/layout/HexagonRadial"/>
    <dgm:cxn modelId="{C2C9F269-1207-45FE-92D7-1A3CC200CB87}" type="presOf" srcId="{DB8E9E3D-6B1B-4987-BD8C-F019B05B7A63}" destId="{844BE8F1-58A7-4D98-911B-28573EC6AE54}" srcOrd="0" destOrd="0" presId="urn:microsoft.com/office/officeart/2011/layout/HexagonRadial"/>
    <dgm:cxn modelId="{C20A5195-11CD-44AE-8B14-8D292D143357}" type="presOf" srcId="{5D10980F-140C-495A-8125-794B02DB7434}" destId="{53604216-90FC-4167-88A1-9D1188CD5CDD}" srcOrd="0" destOrd="0" presId="urn:microsoft.com/office/officeart/2011/layout/HexagonRadial"/>
    <dgm:cxn modelId="{98898A9A-01A3-46B3-A5D9-84FB510AF07B}" srcId="{0CCF31CE-0686-4D72-92DB-822E0FF27EA0}" destId="{1ED1F5A9-2508-4C61-A0A3-06560ADF7ABD}" srcOrd="0" destOrd="0" parTransId="{D6B878A1-00EC-4F15-B87F-E97D4E763373}" sibTransId="{6AF7C522-14F0-4EED-9F45-4D6A06873D96}"/>
    <dgm:cxn modelId="{1DBEEAB1-0F95-4C05-8034-6F70B8DD8261}" srcId="{1ED1F5A9-2508-4C61-A0A3-06560ADF7ABD}" destId="{38AF0D64-6613-45EA-8F1E-89993B54C19C}" srcOrd="2" destOrd="0" parTransId="{2767609F-1502-4DD1-9D1C-9D481E221856}" sibTransId="{B552C026-4485-4D35-8F16-8D00CB1AFEC8}"/>
    <dgm:cxn modelId="{5A55BDB4-FAD4-4F49-B066-EAE394C59DAC}" srcId="{1ED1F5A9-2508-4C61-A0A3-06560ADF7ABD}" destId="{98B27B95-56D8-4813-A83D-F6DA97F57496}" srcOrd="0" destOrd="0" parTransId="{A24A0ACC-BC03-42EB-A405-0D9A03F2C030}" sibTransId="{C3457B63-C68D-4E42-B8A7-05DE1160B8EB}"/>
    <dgm:cxn modelId="{ED519BC1-58F8-4B97-9D3C-F99381ACBC1E}" type="presOf" srcId="{BAE0C6E1-45C8-4408-8F62-F8280BC241F1}" destId="{FCDC72AC-9717-4668-8EDB-479BD67856EB}" srcOrd="0" destOrd="0" presId="urn:microsoft.com/office/officeart/2011/layout/HexagonRadial"/>
    <dgm:cxn modelId="{550A33C5-C9C3-451A-A32D-420437CEBACE}" type="presOf" srcId="{38AF0D64-6613-45EA-8F1E-89993B54C19C}" destId="{33102E8F-3F60-4EE6-8DFE-F41FF1EEB985}" srcOrd="0" destOrd="0" presId="urn:microsoft.com/office/officeart/2011/layout/HexagonRadial"/>
    <dgm:cxn modelId="{D277C0D3-24D0-4B7F-A420-D3C4EBBF1760}" srcId="{1ED1F5A9-2508-4C61-A0A3-06560ADF7ABD}" destId="{CAC3F21D-8EA3-41BD-A3F0-E6CF5C38D62C}" srcOrd="1" destOrd="0" parTransId="{9AA7610F-D6DC-412C-A83D-C1ECDAD2B338}" sibTransId="{571A7B4A-F1C0-4D6F-AFE9-BAE5D988C784}"/>
    <dgm:cxn modelId="{7536A2DE-4E7F-41EC-8402-94112C3F2223}" type="presOf" srcId="{CAC3F21D-8EA3-41BD-A3F0-E6CF5C38D62C}" destId="{11E6CE6C-B53C-411E-9227-26246BAA6570}" srcOrd="0" destOrd="0" presId="urn:microsoft.com/office/officeart/2011/layout/HexagonRadial"/>
    <dgm:cxn modelId="{06270FFA-00A0-43C6-A5FF-C28CE8AC1960}" srcId="{1ED1F5A9-2508-4C61-A0A3-06560ADF7ABD}" destId="{5D10980F-140C-495A-8125-794B02DB7434}" srcOrd="4" destOrd="0" parTransId="{ABDD3A38-2587-4180-8631-2C149017494F}" sibTransId="{F920BD97-77EA-4857-917E-B6FADB85144D}"/>
    <dgm:cxn modelId="{E411C091-EF02-4E94-B21C-9F7E78FD624E}" type="presParOf" srcId="{639CF072-4C52-43B9-8061-304F299FC27D}" destId="{4568DF4A-CCC3-444D-9689-32C20BC8A2C1}" srcOrd="0" destOrd="0" presId="urn:microsoft.com/office/officeart/2011/layout/HexagonRadial"/>
    <dgm:cxn modelId="{9119E4E8-9E7F-4759-B822-FAADA884E2A7}" type="presParOf" srcId="{639CF072-4C52-43B9-8061-304F299FC27D}" destId="{0DD976A5-C422-4971-B727-2994BC0E95E9}" srcOrd="1" destOrd="0" presId="urn:microsoft.com/office/officeart/2011/layout/HexagonRadial"/>
    <dgm:cxn modelId="{0982A5E6-A593-4A86-9B91-8C548DF8850F}" type="presParOf" srcId="{0DD976A5-C422-4971-B727-2994BC0E95E9}" destId="{13AA55D5-3136-4219-95A7-6B0111BC18A9}" srcOrd="0" destOrd="0" presId="urn:microsoft.com/office/officeart/2011/layout/HexagonRadial"/>
    <dgm:cxn modelId="{7CFCAAAA-2859-40F5-B387-24CBB07B95CD}" type="presParOf" srcId="{639CF072-4C52-43B9-8061-304F299FC27D}" destId="{843AD9F6-147E-46F3-943A-C8123662BF94}" srcOrd="2" destOrd="0" presId="urn:microsoft.com/office/officeart/2011/layout/HexagonRadial"/>
    <dgm:cxn modelId="{8A95BE0B-CFF7-4DCB-B514-D4102BF47068}" type="presParOf" srcId="{639CF072-4C52-43B9-8061-304F299FC27D}" destId="{B62E481D-CBE8-4A61-927C-F1905FC50895}" srcOrd="3" destOrd="0" presId="urn:microsoft.com/office/officeart/2011/layout/HexagonRadial"/>
    <dgm:cxn modelId="{C908C694-1B47-44A4-B242-E625B53381BE}" type="presParOf" srcId="{B62E481D-CBE8-4A61-927C-F1905FC50895}" destId="{3DFB323E-1966-403F-B9EA-B24750DA780E}" srcOrd="0" destOrd="0" presId="urn:microsoft.com/office/officeart/2011/layout/HexagonRadial"/>
    <dgm:cxn modelId="{3B5C0B23-AFCA-4F57-94DC-9E5C0BD593A7}" type="presParOf" srcId="{639CF072-4C52-43B9-8061-304F299FC27D}" destId="{11E6CE6C-B53C-411E-9227-26246BAA6570}" srcOrd="4" destOrd="0" presId="urn:microsoft.com/office/officeart/2011/layout/HexagonRadial"/>
    <dgm:cxn modelId="{CE3C9E37-D73F-44BA-B887-B1582F0C1A35}" type="presParOf" srcId="{639CF072-4C52-43B9-8061-304F299FC27D}" destId="{2F7CC029-BC9A-4BDF-BA62-CF7AE5B7F109}" srcOrd="5" destOrd="0" presId="urn:microsoft.com/office/officeart/2011/layout/HexagonRadial"/>
    <dgm:cxn modelId="{D2566603-C33E-400D-A428-632CD8889F91}" type="presParOf" srcId="{2F7CC029-BC9A-4BDF-BA62-CF7AE5B7F109}" destId="{F90B7225-4D5D-44E0-8979-7FDC46AD5C46}" srcOrd="0" destOrd="0" presId="urn:microsoft.com/office/officeart/2011/layout/HexagonRadial"/>
    <dgm:cxn modelId="{32F8D41D-4684-413D-B98B-C818AC7CD2E7}" type="presParOf" srcId="{639CF072-4C52-43B9-8061-304F299FC27D}" destId="{33102E8F-3F60-4EE6-8DFE-F41FF1EEB985}" srcOrd="6" destOrd="0" presId="urn:microsoft.com/office/officeart/2011/layout/HexagonRadial"/>
    <dgm:cxn modelId="{9ECD1A69-1CD5-4DE1-A752-91B627581D1D}" type="presParOf" srcId="{639CF072-4C52-43B9-8061-304F299FC27D}" destId="{7C7A0B18-6EA1-48E6-87B4-0864FAE31BAF}" srcOrd="7" destOrd="0" presId="urn:microsoft.com/office/officeart/2011/layout/HexagonRadial"/>
    <dgm:cxn modelId="{297EACD1-5D16-485D-AD7C-89EF27E21BBA}" type="presParOf" srcId="{7C7A0B18-6EA1-48E6-87B4-0864FAE31BAF}" destId="{B3693C36-0DB0-4B00-A090-3268C64713B1}" srcOrd="0" destOrd="0" presId="urn:microsoft.com/office/officeart/2011/layout/HexagonRadial"/>
    <dgm:cxn modelId="{59E6776E-59CB-427D-A089-F24F5E200EC3}" type="presParOf" srcId="{639CF072-4C52-43B9-8061-304F299FC27D}" destId="{844BE8F1-58A7-4D98-911B-28573EC6AE54}" srcOrd="8" destOrd="0" presId="urn:microsoft.com/office/officeart/2011/layout/HexagonRadial"/>
    <dgm:cxn modelId="{D34EE7C0-8035-4D83-96DC-CDE2FAEAE8F0}" type="presParOf" srcId="{639CF072-4C52-43B9-8061-304F299FC27D}" destId="{B05BACE6-657A-46D3-B412-95C646444E8E}" srcOrd="9" destOrd="0" presId="urn:microsoft.com/office/officeart/2011/layout/HexagonRadial"/>
    <dgm:cxn modelId="{231415CA-4DE6-40CC-92D8-2CC54E89E17E}" type="presParOf" srcId="{B05BACE6-657A-46D3-B412-95C646444E8E}" destId="{98E389D0-8D9E-448D-8B93-2EFEE39DB095}" srcOrd="0" destOrd="0" presId="urn:microsoft.com/office/officeart/2011/layout/HexagonRadial"/>
    <dgm:cxn modelId="{B2403B70-CC9D-416E-BE2D-B7A139FE7347}" type="presParOf" srcId="{639CF072-4C52-43B9-8061-304F299FC27D}" destId="{53604216-90FC-4167-88A1-9D1188CD5CDD}" srcOrd="10" destOrd="0" presId="urn:microsoft.com/office/officeart/2011/layout/HexagonRadial"/>
    <dgm:cxn modelId="{01B139F5-CF55-48D3-B3B2-C16195E2A1AC}" type="presParOf" srcId="{639CF072-4C52-43B9-8061-304F299FC27D}" destId="{6F152044-B8AC-47BE-86AC-DA99969B496B}" srcOrd="11" destOrd="0" presId="urn:microsoft.com/office/officeart/2011/layout/HexagonRadial"/>
    <dgm:cxn modelId="{3C1D70F7-A527-47F5-AB0A-354ED4D4FCEC}" type="presParOf" srcId="{6F152044-B8AC-47BE-86AC-DA99969B496B}" destId="{C35F748C-4CBE-4A87-A65F-10F4D9B4388B}" srcOrd="0" destOrd="0" presId="urn:microsoft.com/office/officeart/2011/layout/HexagonRadial"/>
    <dgm:cxn modelId="{4A624C63-F2BF-4AB1-9A04-1D0CF30D1ECB}" type="presParOf" srcId="{639CF072-4C52-43B9-8061-304F299FC27D}" destId="{FCDC72AC-9717-4668-8EDB-479BD67856EB}" srcOrd="12" destOrd="0" presId="urn:microsoft.com/office/officeart/2011/layout/HexagonRadial"/>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68DF4A-CCC3-444D-9689-32C20BC8A2C1}">
      <dsp:nvSpPr>
        <dsp:cNvPr id="0" name=""/>
        <dsp:cNvSpPr/>
      </dsp:nvSpPr>
      <dsp:spPr>
        <a:xfrm>
          <a:off x="1414757" y="1363205"/>
          <a:ext cx="1732693" cy="1498849"/>
        </a:xfrm>
        <a:prstGeom prst="hexagon">
          <a:avLst>
            <a:gd name="adj" fmla="val 28570"/>
            <a:gd name="vf" fmla="val 115470"/>
          </a:avLst>
        </a:prstGeom>
        <a:noFill/>
        <a:ln w="19050" cap="flat" cmpd="sng" algn="ctr">
          <a:gradFill flip="none" rotWithShape="1">
            <a:gsLst>
              <a:gs pos="0">
                <a:srgbClr val="0000FF"/>
              </a:gs>
              <a:gs pos="100000">
                <a:srgbClr val="FF6302"/>
              </a:gs>
            </a:gsLst>
            <a:path path="rect">
              <a:fillToRect l="100000" t="100000"/>
            </a:path>
            <a:tileRect r="-100000" b="-100000"/>
          </a:gra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endParaRPr lang="en-US" sz="1400" b="1" kern="1200" dirty="0">
            <a:solidFill>
              <a:srgbClr val="0000FF"/>
            </a:solidFill>
            <a:latin typeface="Roboto" panose="02000000000000000000" pitchFamily="2" charset="0"/>
            <a:ea typeface="Roboto" panose="02000000000000000000" pitchFamily="2" charset="0"/>
          </a:endParaRPr>
        </a:p>
      </dsp:txBody>
      <dsp:txXfrm>
        <a:off x="1701888" y="1611585"/>
        <a:ext cx="1158431" cy="1002089"/>
      </dsp:txXfrm>
    </dsp:sp>
    <dsp:sp modelId="{3DFB323E-1966-403F-B9EA-B24750DA780E}">
      <dsp:nvSpPr>
        <dsp:cNvPr id="0" name=""/>
        <dsp:cNvSpPr/>
      </dsp:nvSpPr>
      <dsp:spPr>
        <a:xfrm>
          <a:off x="2499756" y="646106"/>
          <a:ext cx="653740" cy="563283"/>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3AD9F6-147E-46F3-943A-C8123662BF94}">
      <dsp:nvSpPr>
        <dsp:cNvPr id="0" name=""/>
        <dsp:cNvSpPr/>
      </dsp:nvSpPr>
      <dsp:spPr>
        <a:xfrm>
          <a:off x="1574363" y="0"/>
          <a:ext cx="1419929" cy="1228406"/>
        </a:xfrm>
        <a:prstGeom prst="hexagon">
          <a:avLst>
            <a:gd name="adj" fmla="val 28570"/>
            <a:gd name="vf" fmla="val 115470"/>
          </a:avLst>
        </a:prstGeom>
        <a:solidFill>
          <a:srgbClr val="FF630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Phát</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triển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phần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mềm</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tùy</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chỉnh</a:t>
          </a:r>
          <a:endParaRPr lang="en-US" sz="1400" kern="1200" dirty="0">
            <a:latin typeface="Roboto" panose="02000000000000000000" pitchFamily="2" charset="0"/>
            <a:ea typeface="Roboto" panose="02000000000000000000" pitchFamily="2" charset="0"/>
          </a:endParaRPr>
        </a:p>
      </dsp:txBody>
      <dsp:txXfrm>
        <a:off x="1809676" y="203573"/>
        <a:ext cx="949303" cy="821260"/>
      </dsp:txXfrm>
    </dsp:sp>
    <dsp:sp modelId="{F90B7225-4D5D-44E0-8979-7FDC46AD5C46}">
      <dsp:nvSpPr>
        <dsp:cNvPr id="0" name=""/>
        <dsp:cNvSpPr/>
      </dsp:nvSpPr>
      <dsp:spPr>
        <a:xfrm>
          <a:off x="3262721" y="1699147"/>
          <a:ext cx="653740" cy="563283"/>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E6CE6C-B53C-411E-9227-26246BAA6570}">
      <dsp:nvSpPr>
        <dsp:cNvPr id="0" name=""/>
        <dsp:cNvSpPr/>
      </dsp:nvSpPr>
      <dsp:spPr>
        <a:xfrm>
          <a:off x="2876603" y="755552"/>
          <a:ext cx="1419929" cy="1228406"/>
        </a:xfrm>
        <a:prstGeom prst="hexagon">
          <a:avLst>
            <a:gd name="adj" fmla="val 28570"/>
            <a:gd name="vf" fmla="val 115470"/>
          </a:avLst>
        </a:prstGeom>
        <a:solidFill>
          <a:srgbClr val="0000FF"/>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ClrTx/>
            <a:buSzTx/>
            <a:buFontTx/>
            <a:buNone/>
          </a:pPr>
          <a:r>
            <a:rPr lang="en-US" sz="1400" kern="1200" dirty="0" err="1">
              <a:latin typeface="Roboto" panose="02000000000000000000" pitchFamily="2" charset="0"/>
              <a:ea typeface="Roboto" panose="02000000000000000000" pitchFamily="2" charset="0"/>
            </a:rPr>
            <a:t>Nền</a:t>
          </a:r>
          <a:r>
            <a:rPr lang="en-US" sz="1400" kern="1200" dirty="0">
              <a:latin typeface="Roboto" panose="02000000000000000000" pitchFamily="2" charset="0"/>
              <a:ea typeface="Roboto" panose="02000000000000000000" pitchFamily="2" charset="0"/>
            </a:rPr>
            <a:t> </a:t>
          </a:r>
          <a:r>
            <a:rPr lang="en-US" sz="1400" kern="1200" dirty="0" err="1">
              <a:latin typeface="Roboto" panose="02000000000000000000" pitchFamily="2" charset="0"/>
              <a:ea typeface="Roboto" panose="02000000000000000000" pitchFamily="2" charset="0"/>
            </a:rPr>
            <a:t>tảng</a:t>
          </a:r>
          <a:r>
            <a:rPr lang="en-US" sz="1400" kern="1200" dirty="0">
              <a:latin typeface="Roboto" panose="02000000000000000000" pitchFamily="2" charset="0"/>
              <a:ea typeface="Roboto" panose="02000000000000000000" pitchFamily="2" charset="0"/>
            </a:rPr>
            <a:t> </a:t>
          </a:r>
          <a:r>
            <a:rPr lang="en-US" sz="1400" kern="1200" dirty="0" err="1">
              <a:latin typeface="Roboto" panose="02000000000000000000" pitchFamily="2" charset="0"/>
              <a:ea typeface="Roboto" panose="02000000000000000000" pitchFamily="2" charset="0"/>
            </a:rPr>
            <a:t>thương</a:t>
          </a:r>
          <a:r>
            <a:rPr lang="en-US" sz="1400" kern="1200" dirty="0">
              <a:latin typeface="Roboto" panose="02000000000000000000" pitchFamily="2" charset="0"/>
              <a:ea typeface="Roboto" panose="02000000000000000000" pitchFamily="2" charset="0"/>
            </a:rPr>
            <a:t> </a:t>
          </a:r>
          <a:r>
            <a:rPr lang="en-US" sz="1400" kern="1200" dirty="0" err="1">
              <a:latin typeface="Roboto" panose="02000000000000000000" pitchFamily="2" charset="0"/>
              <a:ea typeface="Roboto" panose="02000000000000000000" pitchFamily="2" charset="0"/>
            </a:rPr>
            <a:t>mại</a:t>
          </a:r>
          <a:r>
            <a:rPr lang="en-US" sz="1400" kern="1200" dirty="0">
              <a:latin typeface="Roboto" panose="02000000000000000000" pitchFamily="2" charset="0"/>
              <a:ea typeface="Roboto" panose="02000000000000000000" pitchFamily="2" charset="0"/>
            </a:rPr>
            <a:t> </a:t>
          </a:r>
          <a:r>
            <a:rPr lang="en-US" sz="1400" kern="1200" dirty="0" err="1">
              <a:latin typeface="Roboto" panose="02000000000000000000" pitchFamily="2" charset="0"/>
              <a:ea typeface="Roboto" panose="02000000000000000000" pitchFamily="2" charset="0"/>
            </a:rPr>
            <a:t>điện</a:t>
          </a:r>
          <a:r>
            <a:rPr lang="en-US" sz="1400" kern="1200" dirty="0">
              <a:latin typeface="Roboto" panose="02000000000000000000" pitchFamily="2" charset="0"/>
              <a:ea typeface="Roboto" panose="02000000000000000000" pitchFamily="2" charset="0"/>
            </a:rPr>
            <a:t> </a:t>
          </a:r>
          <a:r>
            <a:rPr lang="en-US" sz="1400" kern="1200" dirty="0" err="1">
              <a:latin typeface="Roboto" panose="02000000000000000000" pitchFamily="2" charset="0"/>
              <a:ea typeface="Roboto" panose="02000000000000000000" pitchFamily="2" charset="0"/>
            </a:rPr>
            <a:t>tử</a:t>
          </a:r>
          <a:endParaRPr lang="en-US" sz="1400" kern="1200" dirty="0">
            <a:latin typeface="Roboto" panose="02000000000000000000" pitchFamily="2" charset="0"/>
            <a:ea typeface="Roboto" panose="02000000000000000000" pitchFamily="2" charset="0"/>
          </a:endParaRPr>
        </a:p>
      </dsp:txBody>
      <dsp:txXfrm>
        <a:off x="3111916" y="959125"/>
        <a:ext cx="949303" cy="821260"/>
      </dsp:txXfrm>
    </dsp:sp>
    <dsp:sp modelId="{B3693C36-0DB0-4B00-A090-3268C64713B1}">
      <dsp:nvSpPr>
        <dsp:cNvPr id="0" name=""/>
        <dsp:cNvSpPr/>
      </dsp:nvSpPr>
      <dsp:spPr>
        <a:xfrm>
          <a:off x="2732716" y="2887831"/>
          <a:ext cx="653740" cy="563283"/>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102E8F-3F60-4EE6-8DFE-F41FF1EEB985}">
      <dsp:nvSpPr>
        <dsp:cNvPr id="0" name=""/>
        <dsp:cNvSpPr/>
      </dsp:nvSpPr>
      <dsp:spPr>
        <a:xfrm>
          <a:off x="2876603" y="2240879"/>
          <a:ext cx="1419929" cy="1228406"/>
        </a:xfrm>
        <a:prstGeom prst="hexagon">
          <a:avLst>
            <a:gd name="adj" fmla="val 28570"/>
            <a:gd name="vf" fmla="val 115470"/>
          </a:avLst>
        </a:prstGeom>
        <a:solidFill>
          <a:srgbClr val="FF630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Triển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khai</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IoT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hệ</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thống</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thông</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minh</a:t>
          </a:r>
          <a:endParaRPr lang="en-US" sz="1400" kern="1200" dirty="0">
            <a:latin typeface="Roboto" panose="02000000000000000000" pitchFamily="2" charset="0"/>
            <a:ea typeface="Roboto" panose="02000000000000000000" pitchFamily="2" charset="0"/>
          </a:endParaRPr>
        </a:p>
      </dsp:txBody>
      <dsp:txXfrm>
        <a:off x="3111916" y="2444452"/>
        <a:ext cx="949303" cy="821260"/>
      </dsp:txXfrm>
    </dsp:sp>
    <dsp:sp modelId="{98E389D0-8D9E-448D-8B93-2EFEE39DB095}">
      <dsp:nvSpPr>
        <dsp:cNvPr id="0" name=""/>
        <dsp:cNvSpPr/>
      </dsp:nvSpPr>
      <dsp:spPr>
        <a:xfrm>
          <a:off x="1417981" y="3011221"/>
          <a:ext cx="653740" cy="563283"/>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4BE8F1-58A7-4D98-911B-28573EC6AE54}">
      <dsp:nvSpPr>
        <dsp:cNvPr id="0" name=""/>
        <dsp:cNvSpPr/>
      </dsp:nvSpPr>
      <dsp:spPr>
        <a:xfrm>
          <a:off x="1574363" y="2997276"/>
          <a:ext cx="1419929" cy="1228406"/>
        </a:xfrm>
        <a:prstGeom prst="hexagon">
          <a:avLst>
            <a:gd name="adj" fmla="val 28570"/>
            <a:gd name="vf" fmla="val 115470"/>
          </a:avLst>
        </a:prstGeom>
        <a:solidFill>
          <a:srgbClr val="0000FF"/>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ClrTx/>
            <a:buSzTx/>
            <a:buFontTx/>
            <a:buNone/>
          </a:pP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AI Agent, RPA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tự</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động</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hóa</a:t>
          </a:r>
          <a:endParaRPr lang="en-US" sz="1400" kern="1200" dirty="0">
            <a:latin typeface="Roboto" panose="02000000000000000000" pitchFamily="2" charset="0"/>
            <a:ea typeface="Roboto" panose="02000000000000000000" pitchFamily="2" charset="0"/>
          </a:endParaRPr>
        </a:p>
      </dsp:txBody>
      <dsp:txXfrm>
        <a:off x="1809676" y="3200849"/>
        <a:ext cx="949303" cy="821260"/>
      </dsp:txXfrm>
    </dsp:sp>
    <dsp:sp modelId="{C35F748C-4CBE-4A87-A65F-10F4D9B4388B}">
      <dsp:nvSpPr>
        <dsp:cNvPr id="0" name=""/>
        <dsp:cNvSpPr/>
      </dsp:nvSpPr>
      <dsp:spPr>
        <a:xfrm>
          <a:off x="642521" y="1958604"/>
          <a:ext cx="653740" cy="563283"/>
        </a:xfrm>
        <a:prstGeom prst="hexagon">
          <a:avLst>
            <a:gd name="adj" fmla="val 28900"/>
            <a:gd name="vf" fmla="val 11547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604216-90FC-4167-88A1-9D1188CD5CDD}">
      <dsp:nvSpPr>
        <dsp:cNvPr id="0" name=""/>
        <dsp:cNvSpPr/>
      </dsp:nvSpPr>
      <dsp:spPr>
        <a:xfrm>
          <a:off x="266077" y="2241724"/>
          <a:ext cx="1419929" cy="1228406"/>
        </a:xfrm>
        <a:prstGeom prst="hexagon">
          <a:avLst>
            <a:gd name="adj" fmla="val 28570"/>
            <a:gd name="vf" fmla="val 115470"/>
          </a:avLst>
        </a:prstGeom>
        <a:solidFill>
          <a:srgbClr val="FF630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ClrTx/>
            <a:buSzTx/>
            <a:buFontTx/>
            <a:buNone/>
          </a:pP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Mạng</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máy</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tính</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điện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toán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đám</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mây</a:t>
          </a:r>
          <a:endParaRPr lang="en-US" sz="1400" kern="1200" dirty="0">
            <a:latin typeface="Roboto" panose="02000000000000000000" pitchFamily="2" charset="0"/>
            <a:ea typeface="Roboto" panose="02000000000000000000" pitchFamily="2" charset="0"/>
          </a:endParaRPr>
        </a:p>
      </dsp:txBody>
      <dsp:txXfrm>
        <a:off x="501390" y="2445297"/>
        <a:ext cx="949303" cy="821260"/>
      </dsp:txXfrm>
    </dsp:sp>
    <dsp:sp modelId="{FCDC72AC-9717-4668-8EDB-479BD67856EB}">
      <dsp:nvSpPr>
        <dsp:cNvPr id="0" name=""/>
        <dsp:cNvSpPr/>
      </dsp:nvSpPr>
      <dsp:spPr>
        <a:xfrm>
          <a:off x="266077" y="753861"/>
          <a:ext cx="1419929" cy="1228406"/>
        </a:xfrm>
        <a:prstGeom prst="hexagon">
          <a:avLst>
            <a:gd name="adj" fmla="val 28570"/>
            <a:gd name="vf" fmla="val 115470"/>
          </a:avLst>
        </a:prstGeom>
        <a:solidFill>
          <a:srgbClr val="0000FF"/>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ClrTx/>
            <a:buSzTx/>
            <a:buFontTx/>
            <a:buNone/>
          </a:pP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Phân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tích</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dữ</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liệu</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và</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phát</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triển</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mô</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t>
          </a:r>
          <a:r>
            <a:rPr kumimoji="0" lang="en-US" sz="1400" b="0" i="0" u="none" strike="noStrike" kern="1200" cap="none" spc="0" normalizeH="0" baseline="0" noProof="0" dirty="0" err="1">
              <a:ln>
                <a:noFill/>
              </a:ln>
              <a:solidFill>
                <a:prstClr val="white"/>
              </a:solidFill>
              <a:effectLst/>
              <a:uLnTx/>
              <a:uFillTx/>
              <a:latin typeface="Calibri" panose="020F0502020204030204"/>
              <a:ea typeface="Roboto" panose="02000000000000000000" pitchFamily="2" charset="0"/>
              <a:cs typeface="+mn-cs"/>
            </a:rPr>
            <a:t>hình</a:t>
          </a:r>
          <a:r>
            <a:rPr kumimoji="0" lang="en-US" sz="1400" b="0" i="0" u="none" strike="noStrike" kern="1200" cap="none" spc="0" normalizeH="0" baseline="0" noProof="0" dirty="0">
              <a:ln>
                <a:noFill/>
              </a:ln>
              <a:solidFill>
                <a:prstClr val="white"/>
              </a:solidFill>
              <a:effectLst/>
              <a:uLnTx/>
              <a:uFillTx/>
              <a:latin typeface="Calibri" panose="020F0502020204030204"/>
              <a:ea typeface="Roboto" panose="02000000000000000000" pitchFamily="2" charset="0"/>
              <a:cs typeface="+mn-cs"/>
            </a:rPr>
            <a:t> AI</a:t>
          </a:r>
          <a:endParaRPr lang="en-US" sz="1400" kern="1200" dirty="0">
            <a:latin typeface="Roboto" panose="02000000000000000000" pitchFamily="2" charset="0"/>
            <a:ea typeface="Roboto" panose="02000000000000000000" pitchFamily="2" charset="0"/>
          </a:endParaRPr>
        </a:p>
      </dsp:txBody>
      <dsp:txXfrm>
        <a:off x="501390" y="957434"/>
        <a:ext cx="949303" cy="821260"/>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28EC58-91F0-4568-B561-462D49A174B0}"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B5933-5824-44B9-B73C-04BBE9FA3838}" type="slidenum">
              <a:rPr lang="en-US" smtClean="0"/>
              <a:t>‹#›</a:t>
            </a:fld>
            <a:endParaRPr lang="en-US"/>
          </a:p>
        </p:txBody>
      </p:sp>
    </p:spTree>
    <p:extLst>
      <p:ext uri="{BB962C8B-B14F-4D97-AF65-F5344CB8AC3E}">
        <p14:creationId xmlns:p14="http://schemas.microsoft.com/office/powerpoint/2010/main" val="3136975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45A73-9604-453E-81D4-84E53C76589B}"/>
              </a:ext>
            </a:extLst>
          </p:cNvPr>
          <p:cNvSpPr>
            <a:spLocks noGrp="1"/>
          </p:cNvSpPr>
          <p:nvPr>
            <p:ph type="ctrTitle"/>
          </p:nvPr>
        </p:nvSpPr>
        <p:spPr>
          <a:xfrm>
            <a:off x="1524000" y="2424963"/>
            <a:ext cx="9144000" cy="1437338"/>
          </a:xfrm>
        </p:spPr>
        <p:txBody>
          <a:bodyPr anchor="b"/>
          <a:lstStyle>
            <a:lvl1pPr algn="ctr">
              <a:defRPr sz="6000"/>
            </a:lvl1pPr>
          </a:lstStyle>
          <a:p>
            <a:r>
              <a:rPr lang="en-US" dirty="0"/>
              <a:t>Click to edit Master</a:t>
            </a:r>
          </a:p>
        </p:txBody>
      </p:sp>
      <p:sp>
        <p:nvSpPr>
          <p:cNvPr id="3" name="Subtitle 2">
            <a:extLst>
              <a:ext uri="{FF2B5EF4-FFF2-40B4-BE49-F238E27FC236}">
                <a16:creationId xmlns:a16="http://schemas.microsoft.com/office/drawing/2014/main" id="{EF99DDB3-1E9C-4B76-8A94-78184698B6F4}"/>
              </a:ext>
            </a:extLst>
          </p:cNvPr>
          <p:cNvSpPr>
            <a:spLocks noGrp="1"/>
          </p:cNvSpPr>
          <p:nvPr>
            <p:ph type="subTitle" idx="1"/>
          </p:nvPr>
        </p:nvSpPr>
        <p:spPr>
          <a:xfrm>
            <a:off x="1524000" y="3954376"/>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D400BD8-D3BE-4B5D-9325-4C0887F14052}"/>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6" name="Slide Number Placeholder 5">
            <a:extLst>
              <a:ext uri="{FF2B5EF4-FFF2-40B4-BE49-F238E27FC236}">
                <a16:creationId xmlns:a16="http://schemas.microsoft.com/office/drawing/2014/main" id="{97652543-732B-4E2E-BF95-E259206070FC}"/>
              </a:ext>
            </a:extLst>
          </p:cNvPr>
          <p:cNvSpPr>
            <a:spLocks noGrp="1"/>
          </p:cNvSpPr>
          <p:nvPr>
            <p:ph type="sldNum" sz="quarter" idx="12"/>
          </p:nvPr>
        </p:nvSpPr>
        <p:spPr/>
        <p:txBody>
          <a:bodyPr/>
          <a:lstStyle/>
          <a:p>
            <a:fld id="{EEC710B1-C3AF-489B-B850-BFA7DB3B43F3}" type="slidenum">
              <a:rPr lang="en-US" smtClean="0"/>
              <a:t>‹#›</a:t>
            </a:fld>
            <a:endParaRPr lang="en-US"/>
          </a:p>
        </p:txBody>
      </p:sp>
      <p:pic>
        <p:nvPicPr>
          <p:cNvPr id="9" name="Picture 8">
            <a:extLst>
              <a:ext uri="{FF2B5EF4-FFF2-40B4-BE49-F238E27FC236}">
                <a16:creationId xmlns:a16="http://schemas.microsoft.com/office/drawing/2014/main" id="{EC81727B-8D1C-4CE1-B780-721DBB5EA2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7331" y="614519"/>
            <a:ext cx="1437338" cy="1437338"/>
          </a:xfrm>
          <a:prstGeom prst="rect">
            <a:avLst/>
          </a:prstGeom>
        </p:spPr>
      </p:pic>
    </p:spTree>
    <p:extLst>
      <p:ext uri="{BB962C8B-B14F-4D97-AF65-F5344CB8AC3E}">
        <p14:creationId xmlns:p14="http://schemas.microsoft.com/office/powerpoint/2010/main" val="2567872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74D-7723-4756-8986-D49BF48900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7A4336-B3CD-4BAA-A610-B68A1F1960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501AD-B6FF-44F1-AF63-716E552B37EC}"/>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6" name="Slide Number Placeholder 5">
            <a:extLst>
              <a:ext uri="{FF2B5EF4-FFF2-40B4-BE49-F238E27FC236}">
                <a16:creationId xmlns:a16="http://schemas.microsoft.com/office/drawing/2014/main" id="{A7CD78E7-CB36-4BA5-A178-8AB97CA73331}"/>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770701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95CD7-3B88-4FCA-9479-CC642EE2A8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2F1B97-C6D1-42EC-827E-76C87493A4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B7390026-E7E6-443B-B49F-40C45D4DF8DE}"/>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6" name="Slide Number Placeholder 5">
            <a:extLst>
              <a:ext uri="{FF2B5EF4-FFF2-40B4-BE49-F238E27FC236}">
                <a16:creationId xmlns:a16="http://schemas.microsoft.com/office/drawing/2014/main" id="{40F7FB24-E68C-4771-A367-F9EC8676F578}"/>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2321279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40655-1D56-4C60-8585-724F5BEA70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0B024D-92FE-47EA-BFBA-24FA4270BF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40059-5547-435F-A174-1AD8DC61CF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F96EC2-5AC3-4F03-A4D6-1DF1E60FBBEB}"/>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7" name="Slide Number Placeholder 6">
            <a:extLst>
              <a:ext uri="{FF2B5EF4-FFF2-40B4-BE49-F238E27FC236}">
                <a16:creationId xmlns:a16="http://schemas.microsoft.com/office/drawing/2014/main" id="{4EA072D3-C059-42E9-94BD-88A3EF422022}"/>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1626322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F07F4-7845-4155-997C-59DF231189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BB8388-DFAD-4994-909E-0A179E3513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7A5345-D674-4D26-A998-2FA187D2F5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60AAAD-67BB-4579-95EF-EE4A8BD1CC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933275-1764-4D89-B7F8-EF5DCCF992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CDA56A-9BF7-498C-8407-0F3D05E3F1C2}"/>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9" name="Slide Number Placeholder 8">
            <a:extLst>
              <a:ext uri="{FF2B5EF4-FFF2-40B4-BE49-F238E27FC236}">
                <a16:creationId xmlns:a16="http://schemas.microsoft.com/office/drawing/2014/main" id="{6A797528-1F9F-4F2E-AE07-D3EB2252921A}"/>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2308988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F54FC-7759-464C-8BF6-4B977EC31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504F07-399E-474B-B9EF-050CD1C3E708}"/>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5" name="Slide Number Placeholder 4">
            <a:extLst>
              <a:ext uri="{FF2B5EF4-FFF2-40B4-BE49-F238E27FC236}">
                <a16:creationId xmlns:a16="http://schemas.microsoft.com/office/drawing/2014/main" id="{1E493FF9-C8A6-4C15-92DE-21CA5A6740DF}"/>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4186691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45C9A-15F3-4853-8E83-118194CF7CD8}"/>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4" name="Slide Number Placeholder 3">
            <a:extLst>
              <a:ext uri="{FF2B5EF4-FFF2-40B4-BE49-F238E27FC236}">
                <a16:creationId xmlns:a16="http://schemas.microsoft.com/office/drawing/2014/main" id="{409664D4-69D6-41DD-92A4-02920ACF4D90}"/>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1580013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F263-D90A-4C54-9273-A50A048B63B0}"/>
              </a:ext>
            </a:extLst>
          </p:cNvPr>
          <p:cNvSpPr>
            <a:spLocks noGrp="1"/>
          </p:cNvSpPr>
          <p:nvPr>
            <p:ph type="title"/>
          </p:nvPr>
        </p:nvSpPr>
        <p:spPr>
          <a:xfrm>
            <a:off x="570452" y="457200"/>
            <a:ext cx="4201574"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F3D0429-E4DB-4B64-A0B0-C7619B00CDA4}"/>
              </a:ext>
            </a:extLst>
          </p:cNvPr>
          <p:cNvSpPr>
            <a:spLocks noGrp="1"/>
          </p:cNvSpPr>
          <p:nvPr>
            <p:ph idx="1"/>
          </p:nvPr>
        </p:nvSpPr>
        <p:spPr>
          <a:xfrm>
            <a:off x="5183188" y="987425"/>
            <a:ext cx="643836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90CAC67-C51F-437B-B509-26839B8F125B}"/>
              </a:ext>
            </a:extLst>
          </p:cNvPr>
          <p:cNvSpPr>
            <a:spLocks noGrp="1"/>
          </p:cNvSpPr>
          <p:nvPr>
            <p:ph type="body" sz="half" idx="2"/>
          </p:nvPr>
        </p:nvSpPr>
        <p:spPr>
          <a:xfrm>
            <a:off x="570452" y="2057400"/>
            <a:ext cx="42015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816EDD-DF38-4EA9-B490-8AA0A28B32EA}"/>
              </a:ext>
            </a:extLst>
          </p:cNvPr>
          <p:cNvSpPr>
            <a:spLocks noGrp="1"/>
          </p:cNvSpPr>
          <p:nvPr>
            <p:ph type="dt" sz="half" idx="10"/>
          </p:nvPr>
        </p:nvSpPr>
        <p:spPr/>
        <p:txBody>
          <a:bodyPr/>
          <a:lstStyle>
            <a:lvl1pPr>
              <a:defRPr>
                <a:solidFill>
                  <a:schemeClr val="accent5"/>
                </a:solidFill>
                <a:latin typeface="Roboto" panose="02000000000000000000" pitchFamily="2" charset="0"/>
                <a:ea typeface="Roboto" panose="02000000000000000000" pitchFamily="2" charset="0"/>
              </a:defRPr>
            </a:lvl1pPr>
          </a:lstStyle>
          <a:p>
            <a:fld id="{4A42E974-1968-4E86-BDA4-BD7EA82763A4}" type="datetimeFigureOut">
              <a:rPr lang="en-US" smtClean="0"/>
              <a:pPr/>
              <a:t>9/16/2026</a:t>
            </a:fld>
            <a:endParaRPr lang="en-US"/>
          </a:p>
        </p:txBody>
      </p:sp>
      <p:sp>
        <p:nvSpPr>
          <p:cNvPr id="7" name="Slide Number Placeholder 6">
            <a:extLst>
              <a:ext uri="{FF2B5EF4-FFF2-40B4-BE49-F238E27FC236}">
                <a16:creationId xmlns:a16="http://schemas.microsoft.com/office/drawing/2014/main" id="{2E2D10B2-192C-4AF6-B8F1-1C110A6F304C}"/>
              </a:ext>
            </a:extLst>
          </p:cNvPr>
          <p:cNvSpPr>
            <a:spLocks noGrp="1"/>
          </p:cNvSpPr>
          <p:nvPr>
            <p:ph type="sldNum" sz="quarter" idx="12"/>
          </p:nvPr>
        </p:nvSpPr>
        <p:spPr/>
        <p:txBody>
          <a:bodyPr/>
          <a:lstStyle>
            <a:lvl1pPr>
              <a:defRPr>
                <a:solidFill>
                  <a:schemeClr val="accent5"/>
                </a:solidFill>
                <a:latin typeface="Roboto" panose="02000000000000000000" pitchFamily="2" charset="0"/>
                <a:ea typeface="Roboto" panose="02000000000000000000" pitchFamily="2" charset="0"/>
              </a:defRPr>
            </a:lvl1pPr>
          </a:lstStyle>
          <a:p>
            <a:fld id="{EEC710B1-C3AF-489B-B850-BFA7DB3B43F3}" type="slidenum">
              <a:rPr lang="en-US" smtClean="0"/>
              <a:pPr/>
              <a:t>‹#›</a:t>
            </a:fld>
            <a:endParaRPr lang="en-US"/>
          </a:p>
        </p:txBody>
      </p:sp>
    </p:spTree>
    <p:extLst>
      <p:ext uri="{BB962C8B-B14F-4D97-AF65-F5344CB8AC3E}">
        <p14:creationId xmlns:p14="http://schemas.microsoft.com/office/powerpoint/2010/main" val="236014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0A7C8-E6A4-4261-8AF2-E6E348FF3CC7}"/>
              </a:ext>
            </a:extLst>
          </p:cNvPr>
          <p:cNvSpPr>
            <a:spLocks noGrp="1"/>
          </p:cNvSpPr>
          <p:nvPr>
            <p:ph type="title"/>
          </p:nvPr>
        </p:nvSpPr>
        <p:spPr>
          <a:xfrm>
            <a:off x="570452" y="457200"/>
            <a:ext cx="4201574"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26798D2-9909-4C20-BC5B-6D8E5D4D3420}"/>
              </a:ext>
            </a:extLst>
          </p:cNvPr>
          <p:cNvSpPr>
            <a:spLocks noGrp="1"/>
          </p:cNvSpPr>
          <p:nvPr>
            <p:ph type="pic" idx="1"/>
          </p:nvPr>
        </p:nvSpPr>
        <p:spPr>
          <a:xfrm>
            <a:off x="5183188" y="987425"/>
            <a:ext cx="643836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2BD739-E4A5-4676-8B81-AFF6E535A30C}"/>
              </a:ext>
            </a:extLst>
          </p:cNvPr>
          <p:cNvSpPr>
            <a:spLocks noGrp="1"/>
          </p:cNvSpPr>
          <p:nvPr>
            <p:ph type="body" sz="half" idx="2"/>
          </p:nvPr>
        </p:nvSpPr>
        <p:spPr>
          <a:xfrm>
            <a:off x="570452" y="2057400"/>
            <a:ext cx="42015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D1A5D3F-BE95-4E8D-82E5-E7F742C7778C}"/>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7" name="Slide Number Placeholder 6">
            <a:extLst>
              <a:ext uri="{FF2B5EF4-FFF2-40B4-BE49-F238E27FC236}">
                <a16:creationId xmlns:a16="http://schemas.microsoft.com/office/drawing/2014/main" id="{AA06E2CF-8ACE-4C27-8AF0-5609206B6EF8}"/>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291469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185C9-C4D2-4AE8-BD5E-796DA78E13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C59F9B-4B6B-4A70-AE64-0EB8E47278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C1BC9-C0F3-4747-855A-B88F0B68D3BE}"/>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6" name="Slide Number Placeholder 5">
            <a:extLst>
              <a:ext uri="{FF2B5EF4-FFF2-40B4-BE49-F238E27FC236}">
                <a16:creationId xmlns:a16="http://schemas.microsoft.com/office/drawing/2014/main" id="{A416FC58-673C-43F9-951A-FD3C7F624A3F}"/>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692636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EFC4E9-4FA1-4234-BF50-C647D8985BFD}"/>
              </a:ext>
            </a:extLst>
          </p:cNvPr>
          <p:cNvSpPr>
            <a:spLocks noGrp="1"/>
          </p:cNvSpPr>
          <p:nvPr>
            <p:ph type="title" orient="vert"/>
          </p:nvPr>
        </p:nvSpPr>
        <p:spPr>
          <a:xfrm>
            <a:off x="8724899" y="365125"/>
            <a:ext cx="2896649"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A01657-9E40-4CAD-BBE0-F844731C673F}"/>
              </a:ext>
            </a:extLst>
          </p:cNvPr>
          <p:cNvSpPr>
            <a:spLocks noGrp="1"/>
          </p:cNvSpPr>
          <p:nvPr>
            <p:ph type="body" orient="vert" idx="1"/>
          </p:nvPr>
        </p:nvSpPr>
        <p:spPr>
          <a:xfrm>
            <a:off x="570451" y="365125"/>
            <a:ext cx="800204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B048A-D0DB-46EA-8F5E-236DD0B6DAE5}"/>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6" name="Slide Number Placeholder 5">
            <a:extLst>
              <a:ext uri="{FF2B5EF4-FFF2-40B4-BE49-F238E27FC236}">
                <a16:creationId xmlns:a16="http://schemas.microsoft.com/office/drawing/2014/main" id="{E484AC63-A91E-4163-BC5B-84DD72DE8CBE}"/>
              </a:ext>
            </a:extLst>
          </p:cNvPr>
          <p:cNvSpPr>
            <a:spLocks noGrp="1"/>
          </p:cNvSpPr>
          <p:nvPr>
            <p:ph type="sldNum" sz="quarter" idx="12"/>
          </p:nvPr>
        </p:nvSpPr>
        <p:spPr/>
        <p:txBody>
          <a:bodyPr/>
          <a:lstStyle/>
          <a:p>
            <a:fld id="{EEC710B1-C3AF-489B-B850-BFA7DB3B43F3}" type="slidenum">
              <a:rPr lang="en-US" smtClean="0"/>
              <a:t>‹#›</a:t>
            </a:fld>
            <a:endParaRPr lang="en-US"/>
          </a:p>
        </p:txBody>
      </p:sp>
    </p:spTree>
    <p:extLst>
      <p:ext uri="{BB962C8B-B14F-4D97-AF65-F5344CB8AC3E}">
        <p14:creationId xmlns:p14="http://schemas.microsoft.com/office/powerpoint/2010/main" val="404029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3"/>
          <p:cNvSpPr txBox="1">
            <a:spLocks noGrp="1"/>
          </p:cNvSpPr>
          <p:nvPr>
            <p:ph type="title"/>
          </p:nvPr>
        </p:nvSpPr>
        <p:spPr>
          <a:xfrm>
            <a:off x="537883" y="395609"/>
            <a:ext cx="11148501" cy="120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2400"/>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13" name="Google Shape;13;p33"/>
          <p:cNvSpPr txBox="1">
            <a:spLocks noGrp="1"/>
          </p:cNvSpPr>
          <p:nvPr>
            <p:ph type="body" idx="1"/>
          </p:nvPr>
        </p:nvSpPr>
        <p:spPr>
          <a:xfrm>
            <a:off x="537883" y="1870367"/>
            <a:ext cx="11148501" cy="4274400"/>
          </a:xfrm>
          <a:prstGeom prst="rect">
            <a:avLst/>
          </a:prstGeom>
          <a:noFill/>
          <a:ln>
            <a:noFill/>
          </a:ln>
        </p:spPr>
        <p:txBody>
          <a:bodyPr spcFirstLastPara="1" wrap="square" lIns="91425" tIns="91425" rIns="91425" bIns="91425" anchor="t" anchorCtr="0">
            <a:noAutofit/>
          </a:bodyPr>
          <a:lstStyle>
            <a:lvl1pPr marL="609585" lvl="0" indent="-397923" algn="l">
              <a:lnSpc>
                <a:spcPct val="100000"/>
              </a:lnSpc>
              <a:spcBef>
                <a:spcPts val="0"/>
              </a:spcBef>
              <a:spcAft>
                <a:spcPts val="0"/>
              </a:spcAft>
              <a:buClr>
                <a:srgbClr val="434343"/>
              </a:buClr>
              <a:buSzPts val="1100"/>
              <a:buFont typeface="Barlow Medium"/>
              <a:buAutoNum type="arabicPeriod"/>
              <a:defRPr sz="1467"/>
            </a:lvl1pPr>
            <a:lvl2pPr marL="1219170" lvl="1" indent="-397923" algn="l">
              <a:lnSpc>
                <a:spcPct val="115000"/>
              </a:lnSpc>
              <a:spcBef>
                <a:spcPts val="2133"/>
              </a:spcBef>
              <a:spcAft>
                <a:spcPts val="0"/>
              </a:spcAft>
              <a:buClr>
                <a:srgbClr val="434343"/>
              </a:buClr>
              <a:buSzPts val="1100"/>
              <a:buFont typeface="Roboto Condensed Light"/>
              <a:buAutoNum type="alphaLcPeriod"/>
              <a:defRPr sz="1467"/>
            </a:lvl2pPr>
            <a:lvl3pPr marL="1828754" lvl="2" indent="-397923" algn="l">
              <a:lnSpc>
                <a:spcPct val="115000"/>
              </a:lnSpc>
              <a:spcBef>
                <a:spcPts val="2133"/>
              </a:spcBef>
              <a:spcAft>
                <a:spcPts val="0"/>
              </a:spcAft>
              <a:buClr>
                <a:srgbClr val="434343"/>
              </a:buClr>
              <a:buSzPts val="1100"/>
              <a:buFont typeface="Roboto Condensed Light"/>
              <a:buAutoNum type="romanLcPeriod"/>
              <a:defRPr sz="1467"/>
            </a:lvl3pPr>
            <a:lvl4pPr marL="2438339" lvl="3" indent="-397923" algn="l">
              <a:lnSpc>
                <a:spcPct val="115000"/>
              </a:lnSpc>
              <a:spcBef>
                <a:spcPts val="2133"/>
              </a:spcBef>
              <a:spcAft>
                <a:spcPts val="0"/>
              </a:spcAft>
              <a:buClr>
                <a:srgbClr val="434343"/>
              </a:buClr>
              <a:buSzPts val="1100"/>
              <a:buFont typeface="Roboto Condensed Light"/>
              <a:buAutoNum type="arabicPeriod"/>
              <a:defRPr sz="1467"/>
            </a:lvl4pPr>
            <a:lvl5pPr marL="3047924" lvl="4" indent="-397923" algn="l">
              <a:lnSpc>
                <a:spcPct val="115000"/>
              </a:lnSpc>
              <a:spcBef>
                <a:spcPts val="2133"/>
              </a:spcBef>
              <a:spcAft>
                <a:spcPts val="0"/>
              </a:spcAft>
              <a:buClr>
                <a:srgbClr val="434343"/>
              </a:buClr>
              <a:buSzPts val="1100"/>
              <a:buFont typeface="Roboto Condensed Light"/>
              <a:buAutoNum type="alphaLcPeriod"/>
              <a:defRPr sz="1467"/>
            </a:lvl5pPr>
            <a:lvl6pPr marL="3657509" lvl="5" indent="-397923" algn="l">
              <a:lnSpc>
                <a:spcPct val="115000"/>
              </a:lnSpc>
              <a:spcBef>
                <a:spcPts val="2133"/>
              </a:spcBef>
              <a:spcAft>
                <a:spcPts val="0"/>
              </a:spcAft>
              <a:buClr>
                <a:srgbClr val="434343"/>
              </a:buClr>
              <a:buSzPts val="1100"/>
              <a:buFont typeface="Roboto Condensed Light"/>
              <a:buAutoNum type="romanLcPeriod"/>
              <a:defRPr sz="1467"/>
            </a:lvl6pPr>
            <a:lvl7pPr marL="4267093" lvl="6" indent="-397923" algn="l">
              <a:lnSpc>
                <a:spcPct val="115000"/>
              </a:lnSpc>
              <a:spcBef>
                <a:spcPts val="2133"/>
              </a:spcBef>
              <a:spcAft>
                <a:spcPts val="0"/>
              </a:spcAft>
              <a:buClr>
                <a:srgbClr val="434343"/>
              </a:buClr>
              <a:buSzPts val="1100"/>
              <a:buFont typeface="Roboto Condensed Light"/>
              <a:buAutoNum type="arabicPeriod"/>
              <a:defRPr sz="1467"/>
            </a:lvl7pPr>
            <a:lvl8pPr marL="4876678" lvl="7" indent="-397923" algn="l">
              <a:lnSpc>
                <a:spcPct val="115000"/>
              </a:lnSpc>
              <a:spcBef>
                <a:spcPts val="2133"/>
              </a:spcBef>
              <a:spcAft>
                <a:spcPts val="0"/>
              </a:spcAft>
              <a:buClr>
                <a:srgbClr val="434343"/>
              </a:buClr>
              <a:buSzPts val="1100"/>
              <a:buFont typeface="Roboto Condensed Light"/>
              <a:buAutoNum type="alphaLcPeriod"/>
              <a:defRPr sz="1467"/>
            </a:lvl8pPr>
            <a:lvl9pPr marL="5486263" lvl="8" indent="-397923" algn="l">
              <a:lnSpc>
                <a:spcPct val="115000"/>
              </a:lnSpc>
              <a:spcBef>
                <a:spcPts val="2133"/>
              </a:spcBef>
              <a:spcAft>
                <a:spcPts val="2133"/>
              </a:spcAft>
              <a:buClr>
                <a:srgbClr val="434343"/>
              </a:buClr>
              <a:buSzPts val="1100"/>
              <a:buFont typeface="Roboto Condensed Light"/>
              <a:buAutoNum type="romanLcPeriod"/>
              <a:defRPr sz="1467"/>
            </a:lvl9pPr>
          </a:lstStyle>
          <a:p>
            <a:endParaRPr/>
          </a:p>
        </p:txBody>
      </p:sp>
    </p:spTree>
    <p:extLst>
      <p:ext uri="{BB962C8B-B14F-4D97-AF65-F5344CB8AC3E}">
        <p14:creationId xmlns:p14="http://schemas.microsoft.com/office/powerpoint/2010/main" val="2009019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D400BD8-D3BE-4B5D-9325-4C0887F14052}"/>
              </a:ext>
            </a:extLst>
          </p:cNvPr>
          <p:cNvSpPr>
            <a:spLocks noGrp="1"/>
          </p:cNvSpPr>
          <p:nvPr>
            <p:ph type="dt" sz="half" idx="10"/>
          </p:nvPr>
        </p:nvSpPr>
        <p:spPr/>
        <p:txBody>
          <a:bodyPr/>
          <a:lstStyle/>
          <a:p>
            <a:fld id="{4A42E974-1968-4E86-BDA4-BD7EA82763A4}" type="datetimeFigureOut">
              <a:rPr lang="en-US" smtClean="0"/>
              <a:t>9/16/2026</a:t>
            </a:fld>
            <a:endParaRPr lang="en-US"/>
          </a:p>
        </p:txBody>
      </p:sp>
      <p:sp>
        <p:nvSpPr>
          <p:cNvPr id="6" name="Slide Number Placeholder 5">
            <a:extLst>
              <a:ext uri="{FF2B5EF4-FFF2-40B4-BE49-F238E27FC236}">
                <a16:creationId xmlns:a16="http://schemas.microsoft.com/office/drawing/2014/main" id="{97652543-732B-4E2E-BF95-E259206070FC}"/>
              </a:ext>
            </a:extLst>
          </p:cNvPr>
          <p:cNvSpPr>
            <a:spLocks noGrp="1"/>
          </p:cNvSpPr>
          <p:nvPr>
            <p:ph type="sldNum" sz="quarter" idx="12"/>
          </p:nvPr>
        </p:nvSpPr>
        <p:spPr/>
        <p:txBody>
          <a:bodyPr/>
          <a:lstStyle/>
          <a:p>
            <a:fld id="{EEC710B1-C3AF-489B-B850-BFA7DB3B43F3}" type="slidenum">
              <a:rPr lang="en-US" smtClean="0"/>
              <a:t>‹#›</a:t>
            </a:fld>
            <a:endParaRPr lang="en-US"/>
          </a:p>
        </p:txBody>
      </p:sp>
      <p:sp>
        <p:nvSpPr>
          <p:cNvPr id="8" name="Title 1">
            <a:extLst>
              <a:ext uri="{FF2B5EF4-FFF2-40B4-BE49-F238E27FC236}">
                <a16:creationId xmlns:a16="http://schemas.microsoft.com/office/drawing/2014/main" id="{5DF164FB-D862-4732-A455-307F42594F4D}"/>
              </a:ext>
            </a:extLst>
          </p:cNvPr>
          <p:cNvSpPr>
            <a:spLocks noGrp="1"/>
          </p:cNvSpPr>
          <p:nvPr>
            <p:ph type="ctrTitle"/>
          </p:nvPr>
        </p:nvSpPr>
        <p:spPr>
          <a:xfrm>
            <a:off x="1524000" y="2424963"/>
            <a:ext cx="9144000" cy="1437338"/>
          </a:xfrm>
        </p:spPr>
        <p:txBody>
          <a:bodyPr anchor="b"/>
          <a:lstStyle>
            <a:lvl1pPr algn="ctr">
              <a:defRPr sz="6000"/>
            </a:lvl1pPr>
          </a:lstStyle>
          <a:p>
            <a:r>
              <a:rPr lang="en-US" dirty="0"/>
              <a:t>Click to edit Master</a:t>
            </a:r>
          </a:p>
        </p:txBody>
      </p:sp>
      <p:sp>
        <p:nvSpPr>
          <p:cNvPr id="9" name="Subtitle 2">
            <a:extLst>
              <a:ext uri="{FF2B5EF4-FFF2-40B4-BE49-F238E27FC236}">
                <a16:creationId xmlns:a16="http://schemas.microsoft.com/office/drawing/2014/main" id="{0DEE86CA-ED44-4085-8715-71D6E2635ADD}"/>
              </a:ext>
            </a:extLst>
          </p:cNvPr>
          <p:cNvSpPr>
            <a:spLocks noGrp="1"/>
          </p:cNvSpPr>
          <p:nvPr>
            <p:ph type="subTitle" idx="1"/>
          </p:nvPr>
        </p:nvSpPr>
        <p:spPr>
          <a:xfrm>
            <a:off x="1524000" y="3954376"/>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0" name="Picture 9">
            <a:extLst>
              <a:ext uri="{FF2B5EF4-FFF2-40B4-BE49-F238E27FC236}">
                <a16:creationId xmlns:a16="http://schemas.microsoft.com/office/drawing/2014/main" id="{D54EC392-56C5-47B3-89A1-49393F5A7E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77331" y="614519"/>
            <a:ext cx="1437338" cy="1437338"/>
          </a:xfrm>
          <a:prstGeom prst="rect">
            <a:avLst/>
          </a:prstGeom>
        </p:spPr>
      </p:pic>
    </p:spTree>
    <p:extLst>
      <p:ext uri="{BB962C8B-B14F-4D97-AF65-F5344CB8AC3E}">
        <p14:creationId xmlns:p14="http://schemas.microsoft.com/office/powerpoint/2010/main" val="424792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D4700-8020-4392-8C8A-4EBFCC5A9679}"/>
              </a:ext>
            </a:extLst>
          </p:cNvPr>
          <p:cNvSpPr>
            <a:spLocks noGrp="1"/>
          </p:cNvSpPr>
          <p:nvPr>
            <p:ph type="ctrTitle"/>
          </p:nvPr>
        </p:nvSpPr>
        <p:spPr>
          <a:xfrm>
            <a:off x="1524000" y="2130803"/>
            <a:ext cx="9144000" cy="1379159"/>
          </a:xfrm>
          <a:prstGeom prst="rect">
            <a:avLst/>
          </a:prstGeom>
        </p:spPr>
        <p:txBody>
          <a:bodyPr anchor="b"/>
          <a:lstStyle>
            <a:lvl1pPr algn="ctr">
              <a:defRPr sz="6000"/>
            </a:lvl1pPr>
          </a:lstStyle>
          <a:p>
            <a:r>
              <a:rPr lang="en-US" dirty="0"/>
              <a:t>Click to edit Master</a:t>
            </a:r>
          </a:p>
        </p:txBody>
      </p:sp>
      <p:sp>
        <p:nvSpPr>
          <p:cNvPr id="3" name="Subtitle 2">
            <a:extLst>
              <a:ext uri="{FF2B5EF4-FFF2-40B4-BE49-F238E27FC236}">
                <a16:creationId xmlns:a16="http://schemas.microsoft.com/office/drawing/2014/main" id="{F9D4AA0C-6058-4468-A0EB-AA65A2681D0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5F95AED-91DC-485A-ACC2-624D9106C4A5}"/>
              </a:ext>
            </a:extLst>
          </p:cNvPr>
          <p:cNvSpPr>
            <a:spLocks noGrp="1"/>
          </p:cNvSpPr>
          <p:nvPr>
            <p:ph type="dt" sz="half" idx="10"/>
          </p:nvPr>
        </p:nvSpPr>
        <p:spPr>
          <a:xfrm>
            <a:off x="236290" y="6356348"/>
            <a:ext cx="2743200" cy="365125"/>
          </a:xfrm>
          <a:prstGeom prst="rect">
            <a:avLst/>
          </a:prstGeom>
        </p:spPr>
        <p:txBody>
          <a:bodyPr/>
          <a:lstStyle>
            <a:lvl1pPr>
              <a:defRPr>
                <a:solidFill>
                  <a:schemeClr val="accent5"/>
                </a:solidFill>
              </a:defRPr>
            </a:lvl1pPr>
          </a:lstStyle>
          <a:p>
            <a:fld id="{6789842C-C7A9-4AB4-A4A9-126D94A057A5}" type="datetimeFigureOut">
              <a:rPr lang="en-US" smtClean="0"/>
              <a:pPr/>
              <a:t>9/16/2026</a:t>
            </a:fld>
            <a:endParaRPr lang="en-US" dirty="0"/>
          </a:p>
        </p:txBody>
      </p:sp>
      <p:sp>
        <p:nvSpPr>
          <p:cNvPr id="7" name="Slide Number Placeholder 5">
            <a:extLst>
              <a:ext uri="{FF2B5EF4-FFF2-40B4-BE49-F238E27FC236}">
                <a16:creationId xmlns:a16="http://schemas.microsoft.com/office/drawing/2014/main" id="{086C767C-ED4B-4BD3-B36A-47EFE9247908}"/>
              </a:ext>
            </a:extLst>
          </p:cNvPr>
          <p:cNvSpPr txBox="1">
            <a:spLocks/>
          </p:cNvSpPr>
          <p:nvPr userDrawn="1"/>
        </p:nvSpPr>
        <p:spPr>
          <a:xfrm>
            <a:off x="8801100" y="6356348"/>
            <a:ext cx="315461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Roboto" panose="02000000000000000000" pitchFamily="2" charset="0"/>
                <a:ea typeface="Roboto" panose="02000000000000000000"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r>
              <a:rPr lang="en-US" altLang="zh-CN" sz="1100" dirty="0">
                <a:solidFill>
                  <a:schemeClr val="accent5"/>
                </a:solidFill>
                <a:latin typeface="Roboto" panose="02000000000000000000" pitchFamily="2" charset="0"/>
                <a:ea typeface="Roboto" panose="02000000000000000000" pitchFamily="2" charset="0"/>
              </a:rPr>
              <a:t>Commercial Confidential</a:t>
            </a:r>
          </a:p>
          <a:p>
            <a:pPr algn="r">
              <a:defRPr/>
            </a:pPr>
            <a:r>
              <a:rPr lang="en-US" altLang="zh-CN" sz="1100" dirty="0">
                <a:solidFill>
                  <a:schemeClr val="accent5"/>
                </a:solidFill>
                <a:latin typeface="Roboto" panose="02000000000000000000" pitchFamily="2" charset="0"/>
                <a:ea typeface="Roboto" panose="02000000000000000000" pitchFamily="2" charset="0"/>
              </a:rPr>
              <a:t>LAZINET APPLIED TECHNOLOGIES CO., LTD</a:t>
            </a:r>
          </a:p>
        </p:txBody>
      </p:sp>
      <p:pic>
        <p:nvPicPr>
          <p:cNvPr id="8" name="Picture 7">
            <a:extLst>
              <a:ext uri="{FF2B5EF4-FFF2-40B4-BE49-F238E27FC236}">
                <a16:creationId xmlns:a16="http://schemas.microsoft.com/office/drawing/2014/main" id="{1CC4EE5B-2348-4F74-83B4-5D9EAC04978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91699" y="428930"/>
            <a:ext cx="3808601" cy="1202716"/>
          </a:xfrm>
          <a:prstGeom prst="rect">
            <a:avLst/>
          </a:prstGeom>
        </p:spPr>
      </p:pic>
    </p:spTree>
    <p:extLst>
      <p:ext uri="{BB962C8B-B14F-4D97-AF65-F5344CB8AC3E}">
        <p14:creationId xmlns:p14="http://schemas.microsoft.com/office/powerpoint/2010/main" val="4228176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emf"/><Relationship Id="rId1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 Id="rId3"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3000">
              <a:schemeClr val="bg1"/>
            </a:gs>
            <a:gs pos="3000">
              <a:srgbClr val="CCFFFF"/>
            </a:gs>
            <a:gs pos="100000">
              <a:srgbClr val="FF9966"/>
            </a:gs>
            <a:gs pos="86000">
              <a:schemeClr val="bg1"/>
            </a:gs>
          </a:gsLst>
          <a:lin ang="5400000" scaled="1"/>
          <a:tileRect/>
        </a:gradFill>
        <a:effectLst/>
      </p:bgPr>
    </p:bg>
    <p:spTree>
      <p:nvGrpSpPr>
        <p:cNvPr id="1" name=""/>
        <p:cNvGrpSpPr/>
        <p:nvPr/>
      </p:nvGrpSpPr>
      <p:grpSpPr>
        <a:xfrm>
          <a:off x="0" y="0"/>
          <a:ext cx="0" cy="0"/>
          <a:chOff x="0" y="0"/>
          <a:chExt cx="0" cy="0"/>
        </a:xfrm>
      </p:grpSpPr>
      <p:pic>
        <p:nvPicPr>
          <p:cNvPr id="7" name="图片 78">
            <a:extLst>
              <a:ext uri="{FF2B5EF4-FFF2-40B4-BE49-F238E27FC236}">
                <a16:creationId xmlns:a16="http://schemas.microsoft.com/office/drawing/2014/main" id="{FCE9E361-D667-4070-A270-625F386D7E5F}"/>
              </a:ext>
            </a:extLst>
          </p:cNvPr>
          <p:cNvPicPr>
            <a:picLocks noChangeAspect="1"/>
          </p:cNvPicPr>
          <p:nvPr userDrawn="1"/>
        </p:nvPicPr>
        <p:blipFill>
          <a:blip r:embed="rId14">
            <a:alphaModFix amt="19000"/>
          </a:blip>
          <a:stretch>
            <a:fillRect/>
          </a:stretch>
        </p:blipFill>
        <p:spPr>
          <a:xfrm>
            <a:off x="-3175" y="4554390"/>
            <a:ext cx="12195175" cy="2963447"/>
          </a:xfrm>
          <a:prstGeom prst="rect">
            <a:avLst/>
          </a:prstGeom>
        </p:spPr>
      </p:pic>
      <p:sp>
        <p:nvSpPr>
          <p:cNvPr id="2" name="Title Placeholder 1">
            <a:extLst>
              <a:ext uri="{FF2B5EF4-FFF2-40B4-BE49-F238E27FC236}">
                <a16:creationId xmlns:a16="http://schemas.microsoft.com/office/drawing/2014/main" id="{B15A3F88-AA6E-4AEE-9FFE-AACE427F9F12}"/>
              </a:ext>
            </a:extLst>
          </p:cNvPr>
          <p:cNvSpPr>
            <a:spLocks noGrp="1"/>
          </p:cNvSpPr>
          <p:nvPr>
            <p:ph type="title"/>
          </p:nvPr>
        </p:nvSpPr>
        <p:spPr>
          <a:xfrm>
            <a:off x="570451" y="260059"/>
            <a:ext cx="11157357" cy="60400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2CF7F95-30AD-45A2-8597-09F7C7AF27D2}"/>
              </a:ext>
            </a:extLst>
          </p:cNvPr>
          <p:cNvSpPr>
            <a:spLocks noGrp="1"/>
          </p:cNvSpPr>
          <p:nvPr>
            <p:ph type="body" idx="1"/>
          </p:nvPr>
        </p:nvSpPr>
        <p:spPr>
          <a:xfrm>
            <a:off x="570451" y="939567"/>
            <a:ext cx="11157357" cy="52373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6A7AE0-B9AD-4691-BE8C-FC761BEC6C0C}"/>
              </a:ext>
            </a:extLst>
          </p:cNvPr>
          <p:cNvSpPr>
            <a:spLocks noGrp="1"/>
          </p:cNvSpPr>
          <p:nvPr>
            <p:ph type="dt" sz="half" idx="2"/>
          </p:nvPr>
        </p:nvSpPr>
        <p:spPr>
          <a:xfrm>
            <a:off x="570451" y="6356350"/>
            <a:ext cx="2743200" cy="365125"/>
          </a:xfrm>
          <a:prstGeom prst="rect">
            <a:avLst/>
          </a:prstGeom>
        </p:spPr>
        <p:txBody>
          <a:bodyPr vert="horz" lIns="91440" tIns="45720" rIns="91440" bIns="45720" rtlCol="0" anchor="ctr"/>
          <a:lstStyle>
            <a:lvl1pPr algn="l">
              <a:defRPr sz="1200">
                <a:solidFill>
                  <a:schemeClr val="accent5"/>
                </a:solidFill>
                <a:latin typeface="Roboto" panose="02000000000000000000" pitchFamily="2" charset="0"/>
                <a:ea typeface="Roboto" panose="02000000000000000000" pitchFamily="2" charset="0"/>
              </a:defRPr>
            </a:lvl1pPr>
          </a:lstStyle>
          <a:p>
            <a:fld id="{4A42E974-1968-4E86-BDA4-BD7EA82763A4}" type="datetimeFigureOut">
              <a:rPr lang="en-US" smtClean="0"/>
              <a:pPr/>
              <a:t>9/16/2026</a:t>
            </a:fld>
            <a:endParaRPr lang="en-US"/>
          </a:p>
        </p:txBody>
      </p:sp>
      <p:sp>
        <p:nvSpPr>
          <p:cNvPr id="6" name="Slide Number Placeholder 5">
            <a:extLst>
              <a:ext uri="{FF2B5EF4-FFF2-40B4-BE49-F238E27FC236}">
                <a16:creationId xmlns:a16="http://schemas.microsoft.com/office/drawing/2014/main" id="{39F1A329-B41B-4DBF-81E5-9FB4E214CE0A}"/>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accent5"/>
                </a:solidFill>
                <a:latin typeface="Roboto" panose="02000000000000000000" pitchFamily="2" charset="0"/>
                <a:ea typeface="Roboto" panose="02000000000000000000" pitchFamily="2" charset="0"/>
              </a:defRPr>
            </a:lvl1pPr>
          </a:lstStyle>
          <a:p>
            <a:fld id="{EEC710B1-C3AF-489B-B850-BFA7DB3B43F3}" type="slidenum">
              <a:rPr lang="en-US" smtClean="0"/>
              <a:pPr/>
              <a:t>‹#›</a:t>
            </a:fld>
            <a:endParaRPr lang="en-US" dirty="0"/>
          </a:p>
        </p:txBody>
      </p:sp>
      <p:pic>
        <p:nvPicPr>
          <p:cNvPr id="8" name="Picture 7">
            <a:extLst>
              <a:ext uri="{FF2B5EF4-FFF2-40B4-BE49-F238E27FC236}">
                <a16:creationId xmlns:a16="http://schemas.microsoft.com/office/drawing/2014/main" id="{F311CF9D-DED0-44D2-88AF-A23CEF81663E}"/>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2015" y="6313427"/>
            <a:ext cx="1425021" cy="450007"/>
          </a:xfrm>
          <a:prstGeom prst="rect">
            <a:avLst/>
          </a:prstGeom>
        </p:spPr>
      </p:pic>
    </p:spTree>
    <p:extLst>
      <p:ext uri="{BB962C8B-B14F-4D97-AF65-F5344CB8AC3E}">
        <p14:creationId xmlns:p14="http://schemas.microsoft.com/office/powerpoint/2010/main" val="1364987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6" r:id="rId12"/>
  </p:sldLayoutIdLst>
  <p:txStyles>
    <p:titleStyle>
      <a:lvl1pPr algn="l" defTabSz="914400" rtl="0" eaLnBrk="1" latinLnBrk="0" hangingPunct="1">
        <a:lnSpc>
          <a:spcPct val="90000"/>
        </a:lnSpc>
        <a:spcBef>
          <a:spcPct val="0"/>
        </a:spcBef>
        <a:buNone/>
        <a:defRPr sz="3200" b="1" kern="1200">
          <a:solidFill>
            <a:srgbClr val="FF6302"/>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rgbClr val="002060"/>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1800" kern="1200">
          <a:solidFill>
            <a:srgbClr val="002060"/>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ü"/>
        <a:defRPr sz="1600" kern="1200">
          <a:solidFill>
            <a:srgbClr val="002060"/>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Wingdings" panose="05000000000000000000" pitchFamily="2" charset="2"/>
        <a:buChar char="Ø"/>
        <a:defRPr sz="1600" kern="1200">
          <a:solidFill>
            <a:srgbClr val="002060"/>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90000">
              <a:schemeClr val="bg1">
                <a:alpha val="50000"/>
              </a:schemeClr>
            </a:gs>
            <a:gs pos="10000">
              <a:srgbClr val="FAFFFF">
                <a:alpha val="50000"/>
              </a:srgbClr>
            </a:gs>
            <a:gs pos="0">
              <a:srgbClr val="99CCFF">
                <a:alpha val="50000"/>
              </a:srgbClr>
            </a:gs>
            <a:gs pos="100000">
              <a:schemeClr val="accent2"/>
            </a:gs>
          </a:gsLst>
          <a:lin ang="5400000" scaled="0"/>
          <a:tileRect/>
        </a:gradFill>
        <a:effectLst/>
      </p:bgPr>
    </p:bg>
    <p:spTree>
      <p:nvGrpSpPr>
        <p:cNvPr id="1" name=""/>
        <p:cNvGrpSpPr/>
        <p:nvPr/>
      </p:nvGrpSpPr>
      <p:grpSpPr>
        <a:xfrm>
          <a:off x="0" y="0"/>
          <a:ext cx="0" cy="0"/>
          <a:chOff x="0" y="0"/>
          <a:chExt cx="0" cy="0"/>
        </a:xfrm>
      </p:grpSpPr>
      <p:pic>
        <p:nvPicPr>
          <p:cNvPr id="7" name="图片 78">
            <a:extLst>
              <a:ext uri="{FF2B5EF4-FFF2-40B4-BE49-F238E27FC236}">
                <a16:creationId xmlns:a16="http://schemas.microsoft.com/office/drawing/2014/main" id="{FCE9E361-D667-4070-A270-625F386D7E5F}"/>
              </a:ext>
            </a:extLst>
          </p:cNvPr>
          <p:cNvPicPr>
            <a:picLocks noChangeAspect="1"/>
          </p:cNvPicPr>
          <p:nvPr userDrawn="1"/>
        </p:nvPicPr>
        <p:blipFill>
          <a:blip r:embed="rId3">
            <a:alphaModFix amt="19000"/>
          </a:blip>
          <a:stretch>
            <a:fillRect/>
          </a:stretch>
        </p:blipFill>
        <p:spPr>
          <a:xfrm>
            <a:off x="-3175" y="4927261"/>
            <a:ext cx="12195175" cy="2963447"/>
          </a:xfrm>
          <a:prstGeom prst="rect">
            <a:avLst/>
          </a:prstGeom>
        </p:spPr>
      </p:pic>
      <p:sp>
        <p:nvSpPr>
          <p:cNvPr id="2" name="Title Placeholder 1">
            <a:extLst>
              <a:ext uri="{FF2B5EF4-FFF2-40B4-BE49-F238E27FC236}">
                <a16:creationId xmlns:a16="http://schemas.microsoft.com/office/drawing/2014/main" id="{B15A3F88-AA6E-4AEE-9FFE-AACE427F9F12}"/>
              </a:ext>
            </a:extLst>
          </p:cNvPr>
          <p:cNvSpPr>
            <a:spLocks noGrp="1"/>
          </p:cNvSpPr>
          <p:nvPr>
            <p:ph type="title"/>
          </p:nvPr>
        </p:nvSpPr>
        <p:spPr>
          <a:xfrm>
            <a:off x="570451" y="260059"/>
            <a:ext cx="11157357" cy="60400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2CF7F95-30AD-45A2-8597-09F7C7AF27D2}"/>
              </a:ext>
            </a:extLst>
          </p:cNvPr>
          <p:cNvSpPr>
            <a:spLocks noGrp="1"/>
          </p:cNvSpPr>
          <p:nvPr>
            <p:ph type="body" idx="1"/>
          </p:nvPr>
        </p:nvSpPr>
        <p:spPr>
          <a:xfrm>
            <a:off x="570451" y="939567"/>
            <a:ext cx="11157357" cy="52373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6A7AE0-B9AD-4691-BE8C-FC761BEC6C0C}"/>
              </a:ext>
            </a:extLst>
          </p:cNvPr>
          <p:cNvSpPr>
            <a:spLocks noGrp="1"/>
          </p:cNvSpPr>
          <p:nvPr>
            <p:ph type="dt" sz="half" idx="2"/>
          </p:nvPr>
        </p:nvSpPr>
        <p:spPr>
          <a:xfrm>
            <a:off x="570451" y="6356350"/>
            <a:ext cx="2743200" cy="365125"/>
          </a:xfrm>
          <a:prstGeom prst="rect">
            <a:avLst/>
          </a:prstGeom>
        </p:spPr>
        <p:txBody>
          <a:bodyPr vert="horz" lIns="91440" tIns="45720" rIns="91440" bIns="45720" rtlCol="0" anchor="ctr"/>
          <a:lstStyle>
            <a:lvl1pPr algn="l">
              <a:defRPr sz="1200">
                <a:solidFill>
                  <a:schemeClr val="accent5"/>
                </a:solidFill>
                <a:latin typeface="Roboto" panose="02000000000000000000" pitchFamily="2" charset="0"/>
                <a:ea typeface="Roboto" panose="02000000000000000000" pitchFamily="2" charset="0"/>
              </a:defRPr>
            </a:lvl1pPr>
          </a:lstStyle>
          <a:p>
            <a:fld id="{4A42E974-1968-4E86-BDA4-BD7EA82763A4}" type="datetimeFigureOut">
              <a:rPr lang="en-US" smtClean="0"/>
              <a:pPr/>
              <a:t>9/16/2026</a:t>
            </a:fld>
            <a:endParaRPr lang="en-US"/>
          </a:p>
        </p:txBody>
      </p:sp>
      <p:sp>
        <p:nvSpPr>
          <p:cNvPr id="6" name="Slide Number Placeholder 5">
            <a:extLst>
              <a:ext uri="{FF2B5EF4-FFF2-40B4-BE49-F238E27FC236}">
                <a16:creationId xmlns:a16="http://schemas.microsoft.com/office/drawing/2014/main" id="{39F1A329-B41B-4DBF-81E5-9FB4E214CE0A}"/>
              </a:ext>
            </a:extLst>
          </p:cNvPr>
          <p:cNvSpPr>
            <a:spLocks noGrp="1"/>
          </p:cNvSpPr>
          <p:nvPr>
            <p:ph type="sldNum" sz="quarter" idx="4"/>
          </p:nvPr>
        </p:nvSpPr>
        <p:spPr>
          <a:xfrm>
            <a:off x="4724400" y="6356350"/>
            <a:ext cx="2743200" cy="365125"/>
          </a:xfrm>
          <a:prstGeom prst="rect">
            <a:avLst/>
          </a:prstGeom>
        </p:spPr>
        <p:txBody>
          <a:bodyPr vert="horz" lIns="91440" tIns="45720" rIns="91440" bIns="45720" rtlCol="0" anchor="ctr"/>
          <a:lstStyle>
            <a:lvl1pPr algn="ctr">
              <a:defRPr sz="1200">
                <a:solidFill>
                  <a:schemeClr val="accent5"/>
                </a:solidFill>
                <a:latin typeface="Roboto" panose="02000000000000000000" pitchFamily="2" charset="0"/>
                <a:ea typeface="Roboto" panose="02000000000000000000" pitchFamily="2" charset="0"/>
              </a:defRPr>
            </a:lvl1pPr>
          </a:lstStyle>
          <a:p>
            <a:fld id="{EEC710B1-C3AF-489B-B850-BFA7DB3B43F3}" type="slidenum">
              <a:rPr lang="en-US" smtClean="0"/>
              <a:pPr/>
              <a:t>‹#›</a:t>
            </a:fld>
            <a:endParaRPr lang="en-US" dirty="0"/>
          </a:p>
        </p:txBody>
      </p:sp>
    </p:spTree>
    <p:extLst>
      <p:ext uri="{BB962C8B-B14F-4D97-AF65-F5344CB8AC3E}">
        <p14:creationId xmlns:p14="http://schemas.microsoft.com/office/powerpoint/2010/main" val="1302999841"/>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3200" b="1" kern="1200">
          <a:solidFill>
            <a:srgbClr val="FF6302"/>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rgbClr val="002060"/>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1800" kern="1200">
          <a:solidFill>
            <a:srgbClr val="002060"/>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ü"/>
        <a:defRPr sz="1600" kern="1200">
          <a:solidFill>
            <a:srgbClr val="002060"/>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Wingdings" panose="05000000000000000000" pitchFamily="2" charset="2"/>
        <a:buChar char="Ø"/>
        <a:defRPr sz="1600" kern="1200">
          <a:solidFill>
            <a:srgbClr val="002060"/>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90000">
              <a:schemeClr val="bg1">
                <a:alpha val="50000"/>
              </a:schemeClr>
            </a:gs>
            <a:gs pos="10000">
              <a:srgbClr val="FAFFFF">
                <a:alpha val="50000"/>
              </a:srgbClr>
            </a:gs>
            <a:gs pos="0">
              <a:srgbClr val="99CCFF">
                <a:alpha val="50000"/>
              </a:srgbClr>
            </a:gs>
            <a:gs pos="100000">
              <a:schemeClr val="accent2"/>
            </a:gs>
          </a:gsLst>
          <a:lin ang="5400000" scaled="0"/>
          <a:tileRect/>
        </a:gradFill>
        <a:effectLst/>
      </p:bgPr>
    </p:bg>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7CC50549-857A-442A-BF46-9B8FD69F63A1}"/>
              </a:ext>
            </a:extLst>
          </p:cNvPr>
          <p:cNvSpPr>
            <a:spLocks noGrp="1"/>
          </p:cNvSpPr>
          <p:nvPr>
            <p:ph type="title"/>
          </p:nvPr>
        </p:nvSpPr>
        <p:spPr>
          <a:xfrm>
            <a:off x="570451" y="260059"/>
            <a:ext cx="11157357" cy="604007"/>
          </a:xfrm>
          <a:prstGeom prst="rect">
            <a:avLst/>
          </a:prstGeom>
        </p:spPr>
        <p:txBody>
          <a:bodyPr vert="horz" lIns="91440" tIns="45720" rIns="91440" bIns="45720" rtlCol="0" anchor="ctr">
            <a:normAutofit/>
          </a:bodyPr>
          <a:lstStyle/>
          <a:p>
            <a:r>
              <a:rPr lang="en-US" dirty="0"/>
              <a:t>Click to edit Master title style</a:t>
            </a:r>
          </a:p>
        </p:txBody>
      </p:sp>
      <p:sp>
        <p:nvSpPr>
          <p:cNvPr id="18" name="Text Placeholder 2">
            <a:extLst>
              <a:ext uri="{FF2B5EF4-FFF2-40B4-BE49-F238E27FC236}">
                <a16:creationId xmlns:a16="http://schemas.microsoft.com/office/drawing/2014/main" id="{4D60C25C-BF70-4D97-B16C-17764C299687}"/>
              </a:ext>
            </a:extLst>
          </p:cNvPr>
          <p:cNvSpPr>
            <a:spLocks noGrp="1"/>
          </p:cNvSpPr>
          <p:nvPr>
            <p:ph type="body" idx="1"/>
          </p:nvPr>
        </p:nvSpPr>
        <p:spPr>
          <a:xfrm>
            <a:off x="570451" y="939567"/>
            <a:ext cx="11157357" cy="523739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Date Placeholder 3">
            <a:extLst>
              <a:ext uri="{FF2B5EF4-FFF2-40B4-BE49-F238E27FC236}">
                <a16:creationId xmlns:a16="http://schemas.microsoft.com/office/drawing/2014/main" id="{1197C51C-28D5-47DD-A690-419D66A5A155}"/>
              </a:ext>
            </a:extLst>
          </p:cNvPr>
          <p:cNvSpPr>
            <a:spLocks noGrp="1"/>
          </p:cNvSpPr>
          <p:nvPr>
            <p:ph type="dt" sz="half" idx="2"/>
          </p:nvPr>
        </p:nvSpPr>
        <p:spPr>
          <a:xfrm>
            <a:off x="570451" y="6356350"/>
            <a:ext cx="2743200" cy="365125"/>
          </a:xfrm>
          <a:prstGeom prst="rect">
            <a:avLst/>
          </a:prstGeom>
        </p:spPr>
        <p:txBody>
          <a:bodyPr vert="horz" lIns="91440" tIns="45720" rIns="91440" bIns="45720" rtlCol="0" anchor="ctr"/>
          <a:lstStyle>
            <a:lvl1pPr algn="l">
              <a:defRPr sz="1200">
                <a:solidFill>
                  <a:schemeClr val="accent5"/>
                </a:solidFill>
                <a:latin typeface="Roboto" panose="02000000000000000000" pitchFamily="2" charset="0"/>
                <a:ea typeface="Roboto" panose="02000000000000000000" pitchFamily="2" charset="0"/>
              </a:defRPr>
            </a:lvl1pPr>
          </a:lstStyle>
          <a:p>
            <a:fld id="{4A42E974-1968-4E86-BDA4-BD7EA82763A4}" type="datetimeFigureOut">
              <a:rPr lang="en-US" smtClean="0"/>
              <a:pPr/>
              <a:t>9/16/2026</a:t>
            </a:fld>
            <a:endParaRPr lang="en-US"/>
          </a:p>
        </p:txBody>
      </p:sp>
      <p:sp>
        <p:nvSpPr>
          <p:cNvPr id="20" name="Slide Number Placeholder 5">
            <a:extLst>
              <a:ext uri="{FF2B5EF4-FFF2-40B4-BE49-F238E27FC236}">
                <a16:creationId xmlns:a16="http://schemas.microsoft.com/office/drawing/2014/main" id="{9DD7FFD4-4860-4387-8BB0-A777DD0E14CF}"/>
              </a:ext>
            </a:extLst>
          </p:cNvPr>
          <p:cNvSpPr>
            <a:spLocks noGrp="1"/>
          </p:cNvSpPr>
          <p:nvPr>
            <p:ph type="sldNum" sz="quarter" idx="4"/>
          </p:nvPr>
        </p:nvSpPr>
        <p:spPr>
          <a:xfrm>
            <a:off x="8984608" y="6356350"/>
            <a:ext cx="2743200" cy="365125"/>
          </a:xfrm>
          <a:prstGeom prst="rect">
            <a:avLst/>
          </a:prstGeom>
        </p:spPr>
        <p:txBody>
          <a:bodyPr vert="horz" lIns="91440" tIns="45720" rIns="91440" bIns="45720" rtlCol="0" anchor="ctr"/>
          <a:lstStyle>
            <a:lvl1pPr algn="ctr">
              <a:defRPr sz="1200">
                <a:solidFill>
                  <a:schemeClr val="accent5"/>
                </a:solidFill>
                <a:latin typeface="Roboto" panose="02000000000000000000" pitchFamily="2" charset="0"/>
                <a:ea typeface="Roboto" panose="02000000000000000000" pitchFamily="2" charset="0"/>
              </a:defRPr>
            </a:lvl1pPr>
          </a:lstStyle>
          <a:p>
            <a:fld id="{EEC710B1-C3AF-489B-B850-BFA7DB3B43F3}" type="slidenum">
              <a:rPr lang="en-US" smtClean="0"/>
              <a:pPr/>
              <a:t>‹#›</a:t>
            </a:fld>
            <a:endParaRPr lang="en-US" dirty="0"/>
          </a:p>
        </p:txBody>
      </p:sp>
    </p:spTree>
    <p:extLst>
      <p:ext uri="{BB962C8B-B14F-4D97-AF65-F5344CB8AC3E}">
        <p14:creationId xmlns:p14="http://schemas.microsoft.com/office/powerpoint/2010/main" val="3244334430"/>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3200" b="1" kern="1200">
          <a:solidFill>
            <a:srgbClr val="FF6302"/>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2060"/>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002060"/>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002060"/>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hyperlink" Target="https://lazinet.com/" TargetMode="External"/><Relationship Id="rId3" Type="http://schemas.openxmlformats.org/officeDocument/2006/relationships/hyperlink" Target="mailto:email@lazinet.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svg"/><Relationship Id="rId10" Type="http://schemas.openxmlformats.org/officeDocument/2006/relationships/image" Target="../media/image15.jpg"/><Relationship Id="rId11" Type="http://schemas.openxmlformats.org/officeDocument/2006/relationships/image" Target="../media/image16.png"/><Relationship Id="rId12"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3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445FDB-0E06-4459-BFDA-C0BF406BBFE4}"/>
              </a:ext>
            </a:extLst>
          </p:cNvPr>
          <p:cNvSpPr>
            <a:spLocks noGrp="1"/>
          </p:cNvSpPr>
          <p:nvPr>
            <p:ph type="ctrTitle"/>
          </p:nvPr>
        </p:nvSpPr>
        <p:spPr>
          <a:xfrm>
            <a:off x="1524000" y="1818303"/>
            <a:ext cx="9144000" cy="2618231"/>
          </a:xfrm>
        </p:spPr>
        <p:txBody>
          <a:bodyPr anchor="ctr" anchorCtr="0">
            <a:noAutofit/>
          </a:bodyPr>
          <a:lstStyle/>
          <a:p>
            <a:pPr algn="ctr">
              <a:lnSpc>
                <a:spcPct val="100000"/>
              </a:lnSpc>
              <a:spcBef>
                <a:spcPts val="1200"/>
              </a:spcBef>
              <a:spcAft>
                <a:spcPts val="1800"/>
              </a:spcAft>
            </a:pPr>
            <a:r>
              <a:rPr sz="3000" b="1">
                <a:solidFill>
                  <a:srgbClr val="FF6302"/>
                </a:solidFill>
                <a:latin typeface="Roboto"/>
              </a:rPr>
              <a:t>Ứng dụng AI vào vận hành
</a:t>
            </a:r>
            <a:endParaRPr lang="en-US" sz="7200" dirty="0">
              <a:solidFill>
                <a:srgbClr val="0000FF"/>
              </a:solidFill>
            </a:endParaRPr>
          </a:p>
          <a:p>
            <a:pPr algn="ctr"/>
            <a:r>
              <a:rPr sz="4600" b="1">
                <a:solidFill>
                  <a:srgbClr val="0B3A8F"/>
                </a:solidFill>
                <a:latin typeface="Roboto"/>
              </a:rPr>
              <a:t>ĐẠI LÝ THUẾ ATL</a:t>
            </a:r>
          </a:p>
          <a:p>
            <a:pPr algn="ctr"/>
            <a:r>
              <a:rPr sz="1500">
                <a:solidFill>
                  <a:srgbClr val="475569"/>
                </a:solidFill>
                <a:latin typeface="Roboto"/>
              </a:rPr>
              <a:t>Đề xuất giải pháp hệ thống vận hành số và tác tử AI</a:t>
            </a:r>
          </a:p>
        </p:txBody>
      </p:sp>
      <p:sp>
        <p:nvSpPr>
          <p:cNvPr id="5" name="Subtitle 4">
            <a:extLst>
              <a:ext uri="{FF2B5EF4-FFF2-40B4-BE49-F238E27FC236}">
                <a16:creationId xmlns:a16="http://schemas.microsoft.com/office/drawing/2014/main" id="{82ECCCED-8C31-486B-8E82-949815A74DF4}"/>
              </a:ext>
            </a:extLst>
          </p:cNvPr>
          <p:cNvSpPr>
            <a:spLocks noGrp="1"/>
          </p:cNvSpPr>
          <p:nvPr>
            <p:ph type="subTitle" idx="1"/>
          </p:nvPr>
        </p:nvSpPr>
        <p:spPr>
          <a:xfrm>
            <a:off x="3213100" y="4836497"/>
            <a:ext cx="5765800" cy="1519238"/>
          </a:xfrm>
        </p:spPr>
        <p:txBody>
          <a:bodyPr>
            <a:normAutofit fontScale="92500"/>
          </a:bodyPr>
          <a:lstStyle/>
          <a:p>
            <a:pPr algn="ctr"/>
            <a:r>
              <a:rPr sz="1500" b="1">
                <a:solidFill>
                  <a:srgbClr val="0B3A8F"/>
                </a:solidFill>
                <a:latin typeface="Roboto"/>
              </a:rPr>
              <a:t>CÔNG TY TNHH CÔNG NGHỆ ỨNG DỤNG LAZINET</a:t>
            </a:r>
          </a:p>
          <a:p>
            <a:pPr algn="ctr"/>
            <a:r>
              <a:rPr sz="1100" b="0">
                <a:solidFill>
                  <a:srgbClr val="475569"/>
                </a:solidFill>
                <a:latin typeface="Roboto"/>
              </a:rPr>
              <a:t>Trình bày cho Công ty TNHH Tư vấn và Dịch vụ - Đại Lý Thuế ATL</a:t>
            </a:r>
          </a:p>
          <a:p>
            <a:pPr algn="ctr"/>
            <a:r>
              <a:rPr sz="1000" b="0">
                <a:solidFill>
                  <a:srgbClr val="475569"/>
                </a:solidFill>
                <a:latin typeface="Roboto"/>
              </a:rPr>
              <a:t>06/10/2026  |  lazinet.com  |  0908 556 220</a:t>
            </a:r>
          </a:p>
        </p:txBody>
      </p:sp>
    </p:spTree>
    <p:extLst>
      <p:ext uri="{BB962C8B-B14F-4D97-AF65-F5344CB8AC3E}">
        <p14:creationId xmlns:p14="http://schemas.microsoft.com/office/powerpoint/2010/main" val="2724411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19">
            <a:extLst>
              <a:ext uri="{FF2B5EF4-FFF2-40B4-BE49-F238E27FC236}">
                <a16:creationId xmlns:a16="http://schemas.microsoft.com/office/drawing/2014/main" id="{5BA331AD-9A8C-4109-AF8F-D9709875A5AA}"/>
              </a:ext>
            </a:extLst>
          </p:cNvPr>
          <p:cNvSpPr txBox="1">
            <a:spLocks/>
          </p:cNvSpPr>
          <p:nvPr/>
        </p:nvSpPr>
        <p:spPr>
          <a:xfrm>
            <a:off x="6937031" y="747755"/>
            <a:ext cx="5129198" cy="147989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rgbClr val="002060"/>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1800" kern="1200">
                <a:solidFill>
                  <a:srgbClr val="002060"/>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ü"/>
              <a:defRPr sz="1600" kern="1200">
                <a:solidFill>
                  <a:srgbClr val="002060"/>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Wingdings" panose="05000000000000000000" pitchFamily="2" charset="2"/>
              <a:buChar char="Ø"/>
              <a:defRPr sz="1600" kern="1200">
                <a:solidFill>
                  <a:srgbClr val="002060"/>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SzPct val="150000"/>
              <a:buBlip>
                <a:blip r:embed="rId2">
                  <a:extLst>
                    <a:ext uri="{96DAC541-7B7A-43D3-8B79-37D633B846F1}">
                      <asvg:svgBlip xmlns:asvg="http://schemas.microsoft.com/office/drawing/2016/SVG/main" r:embed="rId3"/>
                    </a:ext>
                  </a:extLst>
                </a:blip>
              </a:buBlip>
            </a:pPr>
            <a:r>
              <a:rPr lang="en-US" sz="1200" b="1" dirty="0">
                <a:solidFill>
                  <a:srgbClr val="FF6302"/>
                </a:solidFill>
              </a:rPr>
              <a:t>LAZI</a:t>
            </a:r>
            <a:r>
              <a:rPr lang="en-US" sz="1200" b="1" dirty="0">
                <a:solidFill>
                  <a:srgbClr val="0000FF"/>
                </a:solidFill>
              </a:rPr>
              <a:t>NET</a:t>
            </a:r>
            <a:r>
              <a:rPr lang="en-US" sz="1200" dirty="0"/>
              <a:t> </a:t>
            </a:r>
            <a:r>
              <a:rPr lang="en-US" sz="1200" dirty="0">
                <a:solidFill>
                  <a:schemeClr val="tx1"/>
                </a:solidFill>
              </a:rPr>
              <a:t>là </a:t>
            </a:r>
            <a:r>
              <a:rPr lang="en-US" sz="1200" dirty="0" err="1">
                <a:solidFill>
                  <a:schemeClr val="tx1"/>
                </a:solidFill>
              </a:rPr>
              <a:t>đội</a:t>
            </a:r>
            <a:r>
              <a:rPr lang="en-US" sz="1200" dirty="0">
                <a:solidFill>
                  <a:schemeClr val="tx1"/>
                </a:solidFill>
              </a:rPr>
              <a:t> </a:t>
            </a:r>
            <a:r>
              <a:rPr lang="en-US" sz="1200" dirty="0" err="1">
                <a:solidFill>
                  <a:schemeClr val="tx1"/>
                </a:solidFill>
              </a:rPr>
              <a:t>ngũ</a:t>
            </a:r>
            <a:r>
              <a:rPr lang="en-US" sz="1200" dirty="0">
                <a:solidFill>
                  <a:schemeClr val="tx1"/>
                </a:solidFill>
              </a:rPr>
              <a:t> </a:t>
            </a:r>
            <a:r>
              <a:rPr lang="en-US" sz="1200" dirty="0" err="1">
                <a:solidFill>
                  <a:schemeClr val="tx1"/>
                </a:solidFill>
              </a:rPr>
              <a:t>của</a:t>
            </a:r>
            <a:r>
              <a:rPr lang="en-US" sz="1200" dirty="0">
                <a:solidFill>
                  <a:schemeClr val="tx1"/>
                </a:solidFill>
              </a:rPr>
              <a:t> </a:t>
            </a:r>
            <a:r>
              <a:rPr lang="en-US" sz="1200" dirty="0" err="1">
                <a:solidFill>
                  <a:schemeClr val="tx1"/>
                </a:solidFill>
              </a:rPr>
              <a:t>những</a:t>
            </a:r>
            <a:r>
              <a:rPr lang="en-US" sz="1200" dirty="0">
                <a:solidFill>
                  <a:schemeClr val="tx1"/>
                </a:solidFill>
              </a:rPr>
              <a:t> </a:t>
            </a:r>
            <a:r>
              <a:rPr lang="en-US" sz="1200" dirty="0" err="1">
                <a:solidFill>
                  <a:schemeClr val="tx1"/>
                </a:solidFill>
              </a:rPr>
              <a:t>chuyên</a:t>
            </a:r>
            <a:r>
              <a:rPr lang="en-US" sz="1200" dirty="0">
                <a:solidFill>
                  <a:schemeClr val="tx1"/>
                </a:solidFill>
              </a:rPr>
              <a:t> </a:t>
            </a:r>
            <a:r>
              <a:rPr lang="en-US" sz="1200" dirty="0" err="1">
                <a:solidFill>
                  <a:schemeClr val="tx1"/>
                </a:solidFill>
              </a:rPr>
              <a:t>gia</a:t>
            </a:r>
            <a:r>
              <a:rPr lang="en-US" sz="1200" dirty="0">
                <a:solidFill>
                  <a:schemeClr val="tx1"/>
                </a:solidFill>
              </a:rPr>
              <a:t> công </a:t>
            </a:r>
            <a:r>
              <a:rPr lang="en-US" sz="1200" dirty="0" err="1">
                <a:solidFill>
                  <a:schemeClr val="tx1"/>
                </a:solidFill>
              </a:rPr>
              <a:t>nghệ</a:t>
            </a:r>
            <a:r>
              <a:rPr lang="en-US" sz="1200" dirty="0">
                <a:solidFill>
                  <a:schemeClr val="tx1"/>
                </a:solidFill>
              </a:rPr>
              <a:t> </a:t>
            </a:r>
            <a:r>
              <a:rPr lang="en-US" sz="1200" dirty="0" err="1">
                <a:solidFill>
                  <a:schemeClr val="tx1"/>
                </a:solidFill>
              </a:rPr>
              <a:t>và</a:t>
            </a:r>
            <a:r>
              <a:rPr lang="en-US" sz="1200" dirty="0">
                <a:solidFill>
                  <a:schemeClr val="tx1"/>
                </a:solidFill>
              </a:rPr>
              <a:t> </a:t>
            </a:r>
            <a:r>
              <a:rPr lang="en-US" sz="1200" dirty="0" err="1">
                <a:solidFill>
                  <a:schemeClr val="tx1"/>
                </a:solidFill>
              </a:rPr>
              <a:t>kỹ</a:t>
            </a:r>
            <a:r>
              <a:rPr lang="en-US" sz="1200" dirty="0">
                <a:solidFill>
                  <a:schemeClr val="tx1"/>
                </a:solidFill>
              </a:rPr>
              <a:t> </a:t>
            </a:r>
            <a:r>
              <a:rPr lang="en-US" sz="1200" dirty="0" err="1">
                <a:solidFill>
                  <a:schemeClr val="tx1"/>
                </a:solidFill>
              </a:rPr>
              <a:t>sư</a:t>
            </a:r>
            <a:r>
              <a:rPr lang="en-US" sz="1200" dirty="0">
                <a:solidFill>
                  <a:schemeClr val="tx1"/>
                </a:solidFill>
              </a:rPr>
              <a:t> </a:t>
            </a:r>
            <a:r>
              <a:rPr lang="en-US" sz="1200" dirty="0" err="1">
                <a:solidFill>
                  <a:schemeClr val="tx1"/>
                </a:solidFill>
              </a:rPr>
              <a:t>giàu</a:t>
            </a:r>
            <a:r>
              <a:rPr lang="en-US" sz="1200" dirty="0">
                <a:solidFill>
                  <a:schemeClr val="tx1"/>
                </a:solidFill>
              </a:rPr>
              <a:t> </a:t>
            </a:r>
            <a:r>
              <a:rPr lang="en-US" sz="1200" dirty="0" err="1">
                <a:solidFill>
                  <a:schemeClr val="tx1"/>
                </a:solidFill>
              </a:rPr>
              <a:t>kinh</a:t>
            </a:r>
            <a:r>
              <a:rPr lang="en-US" sz="1200" dirty="0">
                <a:solidFill>
                  <a:schemeClr val="tx1"/>
                </a:solidFill>
              </a:rPr>
              <a:t> </a:t>
            </a:r>
            <a:r>
              <a:rPr lang="en-US" sz="1200" dirty="0" err="1">
                <a:solidFill>
                  <a:schemeClr val="tx1"/>
                </a:solidFill>
              </a:rPr>
              <a:t>nghiệm</a:t>
            </a:r>
            <a:r>
              <a:rPr lang="en-US" sz="1200" dirty="0">
                <a:solidFill>
                  <a:schemeClr val="tx1"/>
                </a:solidFill>
              </a:rPr>
              <a:t>, </a:t>
            </a:r>
            <a:r>
              <a:rPr lang="en-US" sz="1200" dirty="0" err="1">
                <a:solidFill>
                  <a:schemeClr val="tx1"/>
                </a:solidFill>
              </a:rPr>
              <a:t>cùng</a:t>
            </a:r>
            <a:r>
              <a:rPr lang="en-US" sz="1200" dirty="0">
                <a:solidFill>
                  <a:schemeClr val="tx1"/>
                </a:solidFill>
              </a:rPr>
              <a:t> </a:t>
            </a:r>
            <a:r>
              <a:rPr lang="en-US" sz="1200" dirty="0" err="1">
                <a:solidFill>
                  <a:schemeClr val="tx1"/>
                </a:solidFill>
              </a:rPr>
              <a:t>với</a:t>
            </a:r>
            <a:r>
              <a:rPr lang="en-US" sz="1200" dirty="0">
                <a:solidFill>
                  <a:schemeClr val="tx1"/>
                </a:solidFill>
              </a:rPr>
              <a:t> </a:t>
            </a:r>
            <a:r>
              <a:rPr lang="en-US" sz="1200" dirty="0" err="1">
                <a:solidFill>
                  <a:schemeClr val="tx1"/>
                </a:solidFill>
              </a:rPr>
              <a:t>nguồn</a:t>
            </a:r>
            <a:r>
              <a:rPr lang="en-US" sz="1200" dirty="0">
                <a:solidFill>
                  <a:schemeClr val="tx1"/>
                </a:solidFill>
              </a:rPr>
              <a:t> </a:t>
            </a:r>
            <a:r>
              <a:rPr lang="en-US" sz="1200" dirty="0" err="1">
                <a:solidFill>
                  <a:schemeClr val="tx1"/>
                </a:solidFill>
              </a:rPr>
              <a:t>lực</a:t>
            </a:r>
            <a:r>
              <a:rPr lang="en-US" sz="1200" dirty="0">
                <a:solidFill>
                  <a:schemeClr val="tx1"/>
                </a:solidFill>
              </a:rPr>
              <a:t> </a:t>
            </a:r>
            <a:r>
              <a:rPr lang="en-US" sz="1200" dirty="0" err="1">
                <a:solidFill>
                  <a:schemeClr val="tx1"/>
                </a:solidFill>
              </a:rPr>
              <a:t>trẻ</a:t>
            </a:r>
            <a:r>
              <a:rPr lang="en-US" sz="1200" dirty="0">
                <a:solidFill>
                  <a:schemeClr val="tx1"/>
                </a:solidFill>
              </a:rPr>
              <a:t> </a:t>
            </a:r>
            <a:r>
              <a:rPr lang="en-US" sz="1200" dirty="0" err="1">
                <a:solidFill>
                  <a:schemeClr val="tx1"/>
                </a:solidFill>
              </a:rPr>
              <a:t>và</a:t>
            </a:r>
            <a:r>
              <a:rPr lang="en-US" sz="1200" dirty="0">
                <a:solidFill>
                  <a:schemeClr val="tx1"/>
                </a:solidFill>
              </a:rPr>
              <a:t> </a:t>
            </a:r>
            <a:r>
              <a:rPr lang="en-US" sz="1200" dirty="0" err="1">
                <a:solidFill>
                  <a:schemeClr val="tx1"/>
                </a:solidFill>
              </a:rPr>
              <a:t>năng</a:t>
            </a:r>
            <a:r>
              <a:rPr lang="en-US" sz="1200" dirty="0">
                <a:solidFill>
                  <a:schemeClr val="tx1"/>
                </a:solidFill>
              </a:rPr>
              <a:t> </a:t>
            </a:r>
            <a:r>
              <a:rPr lang="en-US" sz="1200" dirty="0" err="1">
                <a:solidFill>
                  <a:schemeClr val="tx1"/>
                </a:solidFill>
              </a:rPr>
              <a:t>động</a:t>
            </a:r>
            <a:r>
              <a:rPr lang="en-US" sz="1200" dirty="0">
                <a:solidFill>
                  <a:schemeClr val="tx1"/>
                </a:solidFill>
              </a:rPr>
              <a:t> </a:t>
            </a:r>
            <a:r>
              <a:rPr lang="en-US" sz="1200" dirty="0" err="1">
                <a:solidFill>
                  <a:schemeClr val="tx1"/>
                </a:solidFill>
              </a:rPr>
              <a:t>có</a:t>
            </a:r>
            <a:r>
              <a:rPr lang="en-US" sz="1200" dirty="0">
                <a:solidFill>
                  <a:schemeClr val="tx1"/>
                </a:solidFill>
              </a:rPr>
              <a:t> </a:t>
            </a:r>
            <a:r>
              <a:rPr lang="en-US" sz="1200" dirty="0" err="1">
                <a:solidFill>
                  <a:schemeClr val="tx1"/>
                </a:solidFill>
              </a:rPr>
              <a:t>cùng</a:t>
            </a:r>
            <a:r>
              <a:rPr lang="en-US" sz="1200" dirty="0">
                <a:solidFill>
                  <a:schemeClr val="tx1"/>
                </a:solidFill>
              </a:rPr>
              <a:t> </a:t>
            </a:r>
            <a:r>
              <a:rPr lang="en-US" sz="1200" dirty="0" err="1">
                <a:solidFill>
                  <a:schemeClr val="tx1"/>
                </a:solidFill>
              </a:rPr>
              <a:t>mong</a:t>
            </a:r>
            <a:r>
              <a:rPr lang="en-US" sz="1200" dirty="0">
                <a:solidFill>
                  <a:schemeClr val="tx1"/>
                </a:solidFill>
              </a:rPr>
              <a:t> </a:t>
            </a:r>
            <a:r>
              <a:rPr lang="en-US" sz="1200" dirty="0" err="1">
                <a:solidFill>
                  <a:schemeClr val="tx1"/>
                </a:solidFill>
              </a:rPr>
              <a:t>ước</a:t>
            </a:r>
            <a:r>
              <a:rPr lang="en-US" sz="1200" dirty="0">
                <a:solidFill>
                  <a:schemeClr val="tx1"/>
                </a:solidFill>
              </a:rPr>
              <a:t> </a:t>
            </a:r>
            <a:r>
              <a:rPr lang="en-US" sz="1200" dirty="0" err="1">
                <a:solidFill>
                  <a:schemeClr val="tx1"/>
                </a:solidFill>
              </a:rPr>
              <a:t>mang</a:t>
            </a:r>
            <a:r>
              <a:rPr lang="en-US" sz="1200" dirty="0">
                <a:solidFill>
                  <a:schemeClr val="tx1"/>
                </a:solidFill>
              </a:rPr>
              <a:t> </a:t>
            </a:r>
            <a:r>
              <a:rPr lang="en-US" sz="1200" dirty="0" err="1">
                <a:solidFill>
                  <a:schemeClr val="tx1"/>
                </a:solidFill>
              </a:rPr>
              <a:t>những</a:t>
            </a:r>
            <a:r>
              <a:rPr lang="en-US" sz="1200" dirty="0">
                <a:solidFill>
                  <a:schemeClr val="tx1"/>
                </a:solidFill>
              </a:rPr>
              <a:t> công </a:t>
            </a:r>
            <a:r>
              <a:rPr lang="en-US" sz="1200" dirty="0" err="1">
                <a:solidFill>
                  <a:schemeClr val="tx1"/>
                </a:solidFill>
              </a:rPr>
              <a:t>nghệ</a:t>
            </a:r>
            <a:r>
              <a:rPr lang="en-US" sz="1200" dirty="0">
                <a:solidFill>
                  <a:schemeClr val="tx1"/>
                </a:solidFill>
              </a:rPr>
              <a:t> mới </a:t>
            </a:r>
            <a:r>
              <a:rPr lang="en-US" sz="1200" dirty="0" err="1">
                <a:solidFill>
                  <a:schemeClr val="tx1"/>
                </a:solidFill>
              </a:rPr>
              <a:t>vào</a:t>
            </a:r>
            <a:r>
              <a:rPr lang="en-US" sz="1200" dirty="0">
                <a:solidFill>
                  <a:schemeClr val="tx1"/>
                </a:solidFill>
              </a:rPr>
              <a:t> </a:t>
            </a:r>
            <a:r>
              <a:rPr lang="en-US" sz="1200" dirty="0" err="1">
                <a:solidFill>
                  <a:schemeClr val="tx1"/>
                </a:solidFill>
              </a:rPr>
              <a:t>ứng</a:t>
            </a:r>
            <a:r>
              <a:rPr lang="en-US" sz="1200" dirty="0">
                <a:solidFill>
                  <a:schemeClr val="tx1"/>
                </a:solidFill>
              </a:rPr>
              <a:t> </a:t>
            </a:r>
            <a:r>
              <a:rPr lang="en-US" sz="1200" dirty="0" err="1">
                <a:solidFill>
                  <a:schemeClr val="tx1"/>
                </a:solidFill>
              </a:rPr>
              <a:t>dụng</a:t>
            </a:r>
            <a:r>
              <a:rPr lang="en-US" sz="1200" dirty="0">
                <a:solidFill>
                  <a:schemeClr val="tx1"/>
                </a:solidFill>
              </a:rPr>
              <a:t> </a:t>
            </a:r>
            <a:r>
              <a:rPr lang="en-US" sz="1200" dirty="0" err="1">
                <a:solidFill>
                  <a:schemeClr val="tx1"/>
                </a:solidFill>
              </a:rPr>
              <a:t>thực</a:t>
            </a:r>
            <a:r>
              <a:rPr lang="en-US" sz="1200" dirty="0">
                <a:solidFill>
                  <a:schemeClr val="tx1"/>
                </a:solidFill>
              </a:rPr>
              <a:t> </a:t>
            </a:r>
            <a:r>
              <a:rPr lang="en-US" sz="1200" dirty="0" err="1">
                <a:solidFill>
                  <a:schemeClr val="tx1"/>
                </a:solidFill>
              </a:rPr>
              <a:t>tiễn</a:t>
            </a:r>
            <a:r>
              <a:rPr lang="en-US" sz="1200" dirty="0">
                <a:solidFill>
                  <a:schemeClr val="tx1"/>
                </a:solidFill>
              </a:rPr>
              <a:t>, </a:t>
            </a:r>
            <a:r>
              <a:rPr lang="en-US" sz="1200" dirty="0" err="1">
                <a:solidFill>
                  <a:schemeClr val="tx1"/>
                </a:solidFill>
              </a:rPr>
              <a:t>tạo</a:t>
            </a:r>
            <a:r>
              <a:rPr lang="en-US" sz="1200" dirty="0">
                <a:solidFill>
                  <a:schemeClr val="tx1"/>
                </a:solidFill>
              </a:rPr>
              <a:t> </a:t>
            </a:r>
            <a:r>
              <a:rPr lang="en-US" sz="1200" dirty="0" err="1">
                <a:solidFill>
                  <a:schemeClr val="tx1"/>
                </a:solidFill>
              </a:rPr>
              <a:t>giá</a:t>
            </a:r>
            <a:r>
              <a:rPr lang="en-US" sz="1200" dirty="0">
                <a:solidFill>
                  <a:schemeClr val="tx1"/>
                </a:solidFill>
              </a:rPr>
              <a:t> </a:t>
            </a:r>
            <a:r>
              <a:rPr lang="en-US" sz="1200" dirty="0" err="1">
                <a:solidFill>
                  <a:schemeClr val="tx1"/>
                </a:solidFill>
              </a:rPr>
              <a:t>trị</a:t>
            </a:r>
            <a:r>
              <a:rPr lang="en-US" sz="1200" dirty="0">
                <a:solidFill>
                  <a:schemeClr val="tx1"/>
                </a:solidFill>
              </a:rPr>
              <a:t> </a:t>
            </a:r>
            <a:r>
              <a:rPr lang="en-US" sz="1200" dirty="0" err="1">
                <a:solidFill>
                  <a:schemeClr val="tx1"/>
                </a:solidFill>
              </a:rPr>
              <a:t>thiết</a:t>
            </a:r>
            <a:r>
              <a:rPr lang="en-US" sz="1200" dirty="0">
                <a:solidFill>
                  <a:schemeClr val="tx1"/>
                </a:solidFill>
              </a:rPr>
              <a:t> </a:t>
            </a:r>
            <a:r>
              <a:rPr lang="en-US" sz="1200" dirty="0" err="1">
                <a:solidFill>
                  <a:schemeClr val="tx1"/>
                </a:solidFill>
              </a:rPr>
              <a:t>thực</a:t>
            </a:r>
            <a:r>
              <a:rPr lang="en-US" sz="1200" dirty="0">
                <a:solidFill>
                  <a:schemeClr val="tx1"/>
                </a:solidFill>
              </a:rPr>
              <a:t>.</a:t>
            </a:r>
          </a:p>
          <a:p>
            <a:pPr>
              <a:lnSpc>
                <a:spcPct val="100000"/>
              </a:lnSpc>
              <a:spcBef>
                <a:spcPts val="600"/>
              </a:spcBef>
              <a:buSzPct val="150000"/>
              <a:buBlip>
                <a:blip r:embed="rId2">
                  <a:extLst>
                    <a:ext uri="{96DAC541-7B7A-43D3-8B79-37D633B846F1}">
                      <asvg:svgBlip xmlns:asvg="http://schemas.microsoft.com/office/drawing/2016/SVG/main" r:embed="rId3"/>
                    </a:ext>
                  </a:extLst>
                </a:blip>
              </a:buBlip>
            </a:pPr>
            <a:r>
              <a:rPr lang="en-US" sz="1200" b="1" dirty="0">
                <a:solidFill>
                  <a:srgbClr val="FF6302"/>
                </a:solidFill>
                <a:latin typeface="Roboto" panose="02000000000000000000" pitchFamily="2" charset="0"/>
                <a:ea typeface="Roboto" panose="02000000000000000000" pitchFamily="2" charset="0"/>
              </a:rPr>
              <a:t>LAZI</a:t>
            </a:r>
            <a:r>
              <a:rPr lang="en-US" sz="1200" b="1" dirty="0">
                <a:solidFill>
                  <a:srgbClr val="0000FF"/>
                </a:solidFill>
                <a:latin typeface="Roboto" panose="02000000000000000000" pitchFamily="2" charset="0"/>
                <a:ea typeface="Roboto" panose="02000000000000000000" pitchFamily="2" charset="0"/>
              </a:rPr>
              <a:t>NET</a:t>
            </a:r>
            <a:r>
              <a:rPr lang="en-US" sz="1200" dirty="0">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tập</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trung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ứng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dụng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công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nghệ</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mới</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gồm</a:t>
            </a:r>
            <a:r>
              <a:rPr lang="en-US" sz="1200" dirty="0">
                <a:solidFill>
                  <a:schemeClr val="tx1"/>
                </a:solidFill>
                <a:latin typeface="Roboto" panose="02000000000000000000" pitchFamily="2" charset="0"/>
                <a:ea typeface="Roboto" panose="02000000000000000000" pitchFamily="2" charset="0"/>
              </a:rPr>
              <a:t> </a:t>
            </a:r>
            <a:r>
              <a:rPr lang="vi-VN" sz="1200" dirty="0">
                <a:solidFill>
                  <a:schemeClr val="tx1"/>
                </a:solidFill>
                <a:latin typeface="Roboto" panose="02000000000000000000" pitchFamily="2" charset="0"/>
                <a:ea typeface="Roboto" panose="02000000000000000000" pitchFamily="2" charset="0"/>
              </a:rPr>
              <a:t>AI, IoT, </a:t>
            </a:r>
            <a:r>
              <a:rPr lang="en-US" sz="1200" dirty="0">
                <a:solidFill>
                  <a:schemeClr val="tx1"/>
                </a:solidFill>
                <a:latin typeface="Roboto" panose="02000000000000000000" pitchFamily="2" charset="0"/>
                <a:ea typeface="Roboto" panose="02000000000000000000" pitchFamily="2" charset="0"/>
              </a:rPr>
              <a:t>Cloud </a:t>
            </a:r>
            <a:r>
              <a:rPr lang="en-US" sz="1200" dirty="0" err="1">
                <a:solidFill>
                  <a:schemeClr val="tx1"/>
                </a:solidFill>
                <a:latin typeface="Roboto" panose="02000000000000000000" pitchFamily="2" charset="0"/>
                <a:ea typeface="Roboto" panose="02000000000000000000" pitchFamily="2" charset="0"/>
              </a:rPr>
              <a:t>nhằm</a:t>
            </a:r>
            <a:r>
              <a:rPr lang="en-US" sz="1200" dirty="0">
                <a:solidFill>
                  <a:schemeClr val="tx1"/>
                </a:solidFill>
                <a:latin typeface="Roboto" panose="02000000000000000000" pitchFamily="2" charset="0"/>
                <a:ea typeface="Roboto" panose="02000000000000000000" pitchFamily="2" charset="0"/>
              </a:rPr>
              <a:t> </a:t>
            </a:r>
            <a:r>
              <a:rPr lang="vi-VN" sz="1200" dirty="0">
                <a:solidFill>
                  <a:schemeClr val="tx1"/>
                </a:solidFill>
                <a:latin typeface="Roboto" panose="02000000000000000000" pitchFamily="2" charset="0"/>
                <a:ea typeface="Roboto" panose="02000000000000000000" pitchFamily="2" charset="0"/>
              </a:rPr>
              <a:t>cung cấp giải pháp </a:t>
            </a:r>
            <a:r>
              <a:rPr lang="en-US" sz="1200" dirty="0" err="1">
                <a:solidFill>
                  <a:schemeClr val="tx1"/>
                </a:solidFill>
                <a:latin typeface="Roboto" panose="02000000000000000000" pitchFamily="2" charset="0"/>
                <a:ea typeface="Roboto" panose="02000000000000000000" pitchFamily="2" charset="0"/>
              </a:rPr>
              <a:t>thông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minh</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và</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hiệu</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quả</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đến</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với</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khách</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hàng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Chúng</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tôi</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thực</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hành</a:t>
            </a:r>
            <a:r>
              <a:rPr lang="en-US" sz="1200" dirty="0">
                <a:solidFill>
                  <a:schemeClr val="tx1"/>
                </a:solidFill>
                <a:latin typeface="Roboto" panose="02000000000000000000" pitchFamily="2" charset="0"/>
                <a:ea typeface="Roboto" panose="02000000000000000000" pitchFamily="2" charset="0"/>
              </a:rPr>
              <a:t> </a:t>
            </a:r>
            <a:r>
              <a:rPr lang="vi-VN" sz="1200" dirty="0">
                <a:solidFill>
                  <a:schemeClr val="tx1"/>
                </a:solidFill>
                <a:latin typeface="Roboto" panose="02000000000000000000" pitchFamily="2" charset="0"/>
                <a:ea typeface="Roboto" panose="02000000000000000000" pitchFamily="2" charset="0"/>
              </a:rPr>
              <a:t>chuyển đổi số</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toàn</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diện</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và</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linh</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hoạt</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để</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giải</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quyết</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các</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vấn</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đề</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nhức</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nhối</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mở</a:t>
            </a:r>
            <a:r>
              <a:rPr lang="en-US" sz="1200" dirty="0">
                <a:solidFill>
                  <a:schemeClr val="tx1"/>
                </a:solidFill>
                <a:latin typeface="Roboto" panose="02000000000000000000" pitchFamily="2" charset="0"/>
                <a:ea typeface="Roboto" panose="02000000000000000000" pitchFamily="2" charset="0"/>
              </a:rPr>
              <a:t> ra </a:t>
            </a:r>
            <a:r>
              <a:rPr lang="en-US" sz="1200" dirty="0" err="1">
                <a:solidFill>
                  <a:schemeClr val="tx1"/>
                </a:solidFill>
                <a:latin typeface="Roboto" panose="02000000000000000000" pitchFamily="2" charset="0"/>
                <a:ea typeface="Roboto" panose="02000000000000000000" pitchFamily="2" charset="0"/>
              </a:rPr>
              <a:t>cơ</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hội</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phát</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triển</a:t>
            </a:r>
            <a:r>
              <a:rPr lang="en-US" sz="1200" dirty="0">
                <a:solidFill>
                  <a:schemeClr val="tx1"/>
                </a:solidFill>
                <a:latin typeface="Roboto" panose="02000000000000000000" pitchFamily="2" charset="0"/>
                <a:ea typeface="Roboto" panose="02000000000000000000" pitchFamily="2" charset="0"/>
              </a:rPr>
              <a:t> </a:t>
            </a:r>
            <a:r>
              <a:rPr lang="en-US" sz="1200" dirty="0" err="1">
                <a:solidFill>
                  <a:schemeClr val="tx1"/>
                </a:solidFill>
                <a:latin typeface="Roboto" panose="02000000000000000000" pitchFamily="2" charset="0"/>
                <a:ea typeface="Roboto" panose="02000000000000000000" pitchFamily="2" charset="0"/>
              </a:rPr>
              <a:t>mới</a:t>
            </a:r>
            <a:r>
              <a:rPr lang="en-US" sz="1200" dirty="0">
                <a:solidFill>
                  <a:schemeClr val="tx1"/>
                </a:solidFill>
                <a:latin typeface="Roboto" panose="02000000000000000000" pitchFamily="2" charset="0"/>
                <a:ea typeface="Roboto" panose="02000000000000000000" pitchFamily="2" charset="0"/>
              </a:rPr>
              <a:t>.</a:t>
            </a:r>
            <a:endParaRPr lang="en-US" sz="1200" b="1" dirty="0">
              <a:solidFill>
                <a:schemeClr val="tx1"/>
              </a:solidFill>
            </a:endParaRPr>
          </a:p>
        </p:txBody>
      </p:sp>
      <p:grpSp>
        <p:nvGrpSpPr>
          <p:cNvPr id="9" name="Group 8">
            <a:extLst>
              <a:ext uri="{FF2B5EF4-FFF2-40B4-BE49-F238E27FC236}">
                <a16:creationId xmlns:a16="http://schemas.microsoft.com/office/drawing/2014/main" id="{02DE1F06-B1BB-4E4C-BD14-58D27E89BF92}"/>
              </a:ext>
            </a:extLst>
          </p:cNvPr>
          <p:cNvGrpSpPr/>
          <p:nvPr/>
        </p:nvGrpSpPr>
        <p:grpSpPr>
          <a:xfrm>
            <a:off x="7155275" y="2227653"/>
            <a:ext cx="4562611" cy="4225683"/>
            <a:chOff x="5479568" y="1380063"/>
            <a:chExt cx="5332365" cy="4954085"/>
          </a:xfrm>
        </p:grpSpPr>
        <p:graphicFrame>
          <p:nvGraphicFramePr>
            <p:cNvPr id="2" name="Diagram 1">
              <a:extLst>
                <a:ext uri="{FF2B5EF4-FFF2-40B4-BE49-F238E27FC236}">
                  <a16:creationId xmlns:a16="http://schemas.microsoft.com/office/drawing/2014/main" id="{34510BA9-EF1C-403A-B291-0360AFC00245}"/>
                </a:ext>
              </a:extLst>
            </p:cNvPr>
            <p:cNvGraphicFramePr/>
            <p:nvPr>
              <p:extLst>
                <p:ext uri="{D42A27DB-BD31-4B8C-83A1-F6EECF244321}">
                  <p14:modId xmlns:p14="http://schemas.microsoft.com/office/powerpoint/2010/main" val="3792792226"/>
                </p:ext>
              </p:extLst>
            </p:nvPr>
          </p:nvGraphicFramePr>
          <p:xfrm>
            <a:off x="5479568" y="1380063"/>
            <a:ext cx="5332365" cy="49540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Graphic 7">
              <a:extLst>
                <a:ext uri="{FF2B5EF4-FFF2-40B4-BE49-F238E27FC236}">
                  <a16:creationId xmlns:a16="http://schemas.microsoft.com/office/drawing/2014/main" id="{DA618240-5936-47DD-BFEE-7C3F49C751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588412" y="3299767"/>
              <a:ext cx="1114677" cy="1114677"/>
            </a:xfrm>
            <a:prstGeom prst="rect">
              <a:avLst/>
            </a:prstGeom>
          </p:spPr>
        </p:pic>
      </p:grpSp>
      <p:pic>
        <p:nvPicPr>
          <p:cNvPr id="7" name="Picture 6">
            <a:extLst>
              <a:ext uri="{FF2B5EF4-FFF2-40B4-BE49-F238E27FC236}">
                <a16:creationId xmlns:a16="http://schemas.microsoft.com/office/drawing/2014/main" id="{7EF94AFB-D8B4-414C-BEF1-A1F4FADB12A8}"/>
              </a:ext>
            </a:extLst>
          </p:cNvPr>
          <p:cNvPicPr>
            <a:picLocks noChangeAspect="1"/>
          </p:cNvPicPr>
          <p:nvPr/>
        </p:nvPicPr>
        <p:blipFill>
          <a:blip r:embed="rId11"/>
          <a:stretch>
            <a:fillRect/>
          </a:stretch>
        </p:blipFill>
        <p:spPr>
          <a:xfrm>
            <a:off x="198341" y="747755"/>
            <a:ext cx="6659683" cy="5714049"/>
          </a:xfrm>
          <a:prstGeom prst="rect">
            <a:avLst/>
          </a:prstGeom>
        </p:spPr>
      </p:pic>
      <p:grpSp>
        <p:nvGrpSpPr>
          <p:cNvPr id="3" name="Group 2">
            <a:extLst>
              <a:ext uri="{FF2B5EF4-FFF2-40B4-BE49-F238E27FC236}">
                <a16:creationId xmlns:a16="http://schemas.microsoft.com/office/drawing/2014/main" id="{E08B89D3-715E-4E7E-BCF4-3D7868FFC546}"/>
              </a:ext>
            </a:extLst>
          </p:cNvPr>
          <p:cNvGrpSpPr/>
          <p:nvPr/>
        </p:nvGrpSpPr>
        <p:grpSpPr>
          <a:xfrm>
            <a:off x="1813422" y="135549"/>
            <a:ext cx="8565157" cy="260648"/>
            <a:chOff x="2883356" y="135549"/>
            <a:chExt cx="8565157" cy="260648"/>
          </a:xfrm>
        </p:grpSpPr>
        <p:sp>
          <p:nvSpPr>
            <p:cNvPr id="12" name="Round Same Side Corner Rectangle 69">
              <a:extLst>
                <a:ext uri="{FF2B5EF4-FFF2-40B4-BE49-F238E27FC236}">
                  <a16:creationId xmlns:a16="http://schemas.microsoft.com/office/drawing/2014/main" id="{DBCE5661-37E7-40EB-8158-9FE0B1D3F484}"/>
                </a:ext>
              </a:extLst>
            </p:cNvPr>
            <p:cNvSpPr/>
            <p:nvPr/>
          </p:nvSpPr>
          <p:spPr bwMode="auto">
            <a:xfrm>
              <a:off x="9305092" y="135549"/>
              <a:ext cx="2143421" cy="260648"/>
            </a:xfrm>
            <a:prstGeom prst="round2SameRect">
              <a:avLst/>
            </a:prstGeom>
            <a:solidFill>
              <a:srgbClr val="0000FF"/>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200" b="1" u="none" strike="noStrike" cap="none" normalizeH="0" baseline="0" dirty="0">
                  <a:ln>
                    <a:noFill/>
                  </a:ln>
                  <a:solidFill>
                    <a:schemeClr val="bg1"/>
                  </a:solidFill>
                  <a:effectLst/>
                  <a:latin typeface="Roboto" panose="02000000000000000000" pitchFamily="2" charset="0"/>
                  <a:ea typeface="Roboto" panose="02000000000000000000" pitchFamily="2" charset="0"/>
                </a:rPr>
                <a:t>LAZIBOT</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sp>
          <p:nvSpPr>
            <p:cNvPr id="18" name="Round Same Side Corner Rectangle 69">
              <a:extLst>
                <a:ext uri="{FF2B5EF4-FFF2-40B4-BE49-F238E27FC236}">
                  <a16:creationId xmlns:a16="http://schemas.microsoft.com/office/drawing/2014/main" id="{76B2E5CC-947C-495D-A7A7-F7E4F20C1EEF}"/>
                </a:ext>
              </a:extLst>
            </p:cNvPr>
            <p:cNvSpPr/>
            <p:nvPr/>
          </p:nvSpPr>
          <p:spPr bwMode="auto">
            <a:xfrm>
              <a:off x="7165224" y="135549"/>
              <a:ext cx="2143421" cy="260648"/>
            </a:xfrm>
            <a:prstGeom prst="round2SameRect">
              <a:avLst/>
            </a:prstGeom>
            <a:solidFill>
              <a:srgbClr val="0000FF"/>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200" b="1" u="none" strike="noStrike" cap="none" normalizeH="0" baseline="0" dirty="0">
                  <a:ln>
                    <a:noFill/>
                  </a:ln>
                  <a:solidFill>
                    <a:schemeClr val="bg1"/>
                  </a:solidFill>
                  <a:effectLst/>
                  <a:latin typeface="Roboto" panose="02000000000000000000" pitchFamily="2" charset="0"/>
                  <a:ea typeface="Roboto" panose="02000000000000000000" pitchFamily="2" charset="0"/>
                </a:rPr>
                <a:t>DỊCH VỤ</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sp>
          <p:nvSpPr>
            <p:cNvPr id="19" name="Round Same Side Corner Rectangle 69">
              <a:extLst>
                <a:ext uri="{FF2B5EF4-FFF2-40B4-BE49-F238E27FC236}">
                  <a16:creationId xmlns:a16="http://schemas.microsoft.com/office/drawing/2014/main" id="{4F6EECE8-EF8F-431D-8DBB-1A1778CF02CB}"/>
                </a:ext>
              </a:extLst>
            </p:cNvPr>
            <p:cNvSpPr/>
            <p:nvPr/>
          </p:nvSpPr>
          <p:spPr bwMode="auto">
            <a:xfrm>
              <a:off x="5024290" y="135549"/>
              <a:ext cx="2142000" cy="260648"/>
            </a:xfrm>
            <a:prstGeom prst="round2SameRect">
              <a:avLst/>
            </a:prstGeom>
            <a:solidFill>
              <a:srgbClr val="0000FF"/>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lang="en-US" sz="1200" b="1" dirty="0">
                  <a:solidFill>
                    <a:schemeClr val="bg1"/>
                  </a:solidFill>
                  <a:latin typeface="Roboto" panose="02000000000000000000" pitchFamily="2" charset="0"/>
                  <a:ea typeface="Roboto" panose="02000000000000000000" pitchFamily="2" charset="0"/>
                </a:rPr>
                <a:t>GIẢI PHÁP</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sp>
          <p:nvSpPr>
            <p:cNvPr id="20" name="Round Same Side Corner Rectangle 72">
              <a:extLst>
                <a:ext uri="{FF2B5EF4-FFF2-40B4-BE49-F238E27FC236}">
                  <a16:creationId xmlns:a16="http://schemas.microsoft.com/office/drawing/2014/main" id="{795D0224-131F-4DDC-B9F9-EA5801E1CAC6}"/>
                </a:ext>
              </a:extLst>
            </p:cNvPr>
            <p:cNvSpPr/>
            <p:nvPr/>
          </p:nvSpPr>
          <p:spPr bwMode="auto">
            <a:xfrm>
              <a:off x="2883356" y="135549"/>
              <a:ext cx="2142000" cy="260648"/>
            </a:xfrm>
            <a:prstGeom prst="round2SameRect">
              <a:avLst/>
            </a:prstGeom>
            <a:solidFill>
              <a:srgbClr val="FF6302"/>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200" b="1" u="none" strike="noStrike" cap="none" normalizeH="0" baseline="0" dirty="0">
                  <a:ln>
                    <a:noFill/>
                  </a:ln>
                  <a:solidFill>
                    <a:schemeClr val="bg1"/>
                  </a:solidFill>
                  <a:effectLst/>
                  <a:latin typeface="Roboto" panose="02000000000000000000" pitchFamily="2" charset="0"/>
                  <a:ea typeface="Roboto" panose="02000000000000000000" pitchFamily="2" charset="0"/>
                </a:rPr>
                <a:t>GIỚI THIỆU LAZINET</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grpSp>
      <p:cxnSp>
        <p:nvCxnSpPr>
          <p:cNvPr id="21" name="Straight Connector 20">
            <a:extLst>
              <a:ext uri="{FF2B5EF4-FFF2-40B4-BE49-F238E27FC236}">
                <a16:creationId xmlns:a16="http://schemas.microsoft.com/office/drawing/2014/main" id="{686A0407-84CF-4ADF-B4E0-51DA9D96FA19}"/>
              </a:ext>
            </a:extLst>
          </p:cNvPr>
          <p:cNvCxnSpPr>
            <a:cxnSpLocks/>
          </p:cNvCxnSpPr>
          <p:nvPr/>
        </p:nvCxnSpPr>
        <p:spPr bwMode="auto">
          <a:xfrm>
            <a:off x="0" y="404664"/>
            <a:ext cx="12195175" cy="0"/>
          </a:xfrm>
          <a:prstGeom prst="line">
            <a:avLst/>
          </a:prstGeom>
          <a:noFill/>
          <a:ln w="28575">
            <a:solidFill>
              <a:srgbClr val="FF630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cxnSp>
    </p:spTree>
    <p:extLst>
      <p:ext uri="{BB962C8B-B14F-4D97-AF65-F5344CB8AC3E}">
        <p14:creationId xmlns:p14="http://schemas.microsoft.com/office/powerpoint/2010/main" val="400909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19">
            <a:extLst>
              <a:ext uri="{FF2B5EF4-FFF2-40B4-BE49-F238E27FC236}">
                <a16:creationId xmlns:a16="http://schemas.microsoft.com/office/drawing/2014/main" id="{5BA331AD-9A8C-4109-AF8F-D9709875A5AA}"/>
              </a:ext>
            </a:extLst>
          </p:cNvPr>
          <p:cNvSpPr txBox="1">
            <a:spLocks/>
          </p:cNvSpPr>
          <p:nvPr/>
        </p:nvSpPr>
        <p:spPr>
          <a:xfrm>
            <a:off x="180283" y="737360"/>
            <a:ext cx="4585938" cy="54983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
              <a:defRPr sz="2400" kern="1200">
                <a:solidFill>
                  <a:srgbClr val="002060"/>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Courier New" panose="02070309020205020404" pitchFamily="49" charset="0"/>
              <a:buChar char="o"/>
              <a:defRPr sz="1800" kern="1200">
                <a:solidFill>
                  <a:srgbClr val="002060"/>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Wingdings" panose="05000000000000000000" pitchFamily="2" charset="2"/>
              <a:buChar char="ü"/>
              <a:defRPr sz="1600" kern="1200">
                <a:solidFill>
                  <a:srgbClr val="002060"/>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Wingdings" panose="05000000000000000000" pitchFamily="2" charset="2"/>
              <a:buChar char="Ø"/>
              <a:defRPr sz="1600" kern="1200">
                <a:solidFill>
                  <a:srgbClr val="002060"/>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600"/>
              </a:spcBef>
              <a:buSzPct val="150000"/>
              <a:buBlip>
                <a:blip r:embed="rId2">
                  <a:extLst>
                    <a:ext uri="{96DAC541-7B7A-43D3-8B79-37D633B846F1}">
                      <asvg:svgBlip xmlns:asvg="http://schemas.microsoft.com/office/drawing/2016/SVG/main" r:embed="rId3"/>
                    </a:ext>
                  </a:extLst>
                </a:blip>
              </a:buBlip>
            </a:pPr>
            <a:r>
              <a:rPr lang="vi-VN" sz="1400" b="1" dirty="0">
                <a:solidFill>
                  <a:schemeClr val="tx1"/>
                </a:solidFill>
              </a:rPr>
              <a:t>CÔNG TY TNHH CÔNG NGHỆ ỨNG DỤNG LAZINET </a:t>
            </a:r>
          </a:p>
          <a:p>
            <a:pPr>
              <a:lnSpc>
                <a:spcPct val="100000"/>
              </a:lnSpc>
              <a:spcBef>
                <a:spcPts val="600"/>
              </a:spcBef>
              <a:buSzPct val="150000"/>
              <a:buFont typeface="Courier New" panose="02070309020205020404" pitchFamily="49" charset="0"/>
              <a:buChar char="o"/>
            </a:pPr>
            <a:r>
              <a:rPr lang="vi-VN" sz="1350" dirty="0">
                <a:solidFill>
                  <a:schemeClr val="tx1"/>
                </a:solidFill>
              </a:rPr>
              <a:t>LAZINET APPLIED TECHNOLOG</a:t>
            </a:r>
            <a:r>
              <a:rPr lang="en-US" sz="1350" dirty="0">
                <a:solidFill>
                  <a:schemeClr val="tx1"/>
                </a:solidFill>
              </a:rPr>
              <a:t>IES</a:t>
            </a:r>
            <a:r>
              <a:rPr lang="vi-VN" sz="1350" dirty="0">
                <a:solidFill>
                  <a:schemeClr val="tx1"/>
                </a:solidFill>
              </a:rPr>
              <a:t> COMPANY LIMITED</a:t>
            </a:r>
          </a:p>
          <a:p>
            <a:pPr>
              <a:lnSpc>
                <a:spcPct val="100000"/>
              </a:lnSpc>
              <a:spcBef>
                <a:spcPts val="600"/>
              </a:spcBef>
              <a:buSzPct val="150000"/>
              <a:buFont typeface="Courier New" panose="02070309020205020404" pitchFamily="49" charset="0"/>
              <a:buChar char="o"/>
            </a:pPr>
            <a:r>
              <a:rPr lang="vi-VN" sz="1350" dirty="0">
                <a:solidFill>
                  <a:schemeClr val="tx1"/>
                </a:solidFill>
              </a:rPr>
              <a:t>Mã số thuế:</a:t>
            </a:r>
            <a:r>
              <a:rPr lang="en-US" sz="1350" dirty="0">
                <a:solidFill>
                  <a:schemeClr val="tx1"/>
                </a:solidFill>
              </a:rPr>
              <a:t> </a:t>
            </a:r>
            <a:r>
              <a:rPr lang="vi-VN" sz="1350" dirty="0">
                <a:solidFill>
                  <a:schemeClr val="tx1"/>
                </a:solidFill>
              </a:rPr>
              <a:t>0318751953</a:t>
            </a:r>
          </a:p>
          <a:p>
            <a:pPr>
              <a:lnSpc>
                <a:spcPct val="100000"/>
              </a:lnSpc>
              <a:spcBef>
                <a:spcPts val="600"/>
              </a:spcBef>
              <a:buSzPct val="150000"/>
              <a:buFont typeface="Courier New" panose="02070309020205020404" pitchFamily="49" charset="0"/>
              <a:buChar char="o"/>
            </a:pPr>
            <a:r>
              <a:rPr lang="vi-VN" sz="1350" dirty="0">
                <a:solidFill>
                  <a:schemeClr val="tx1"/>
                </a:solidFill>
              </a:rPr>
              <a:t>Ngày </a:t>
            </a:r>
            <a:r>
              <a:rPr lang="en-US" sz="1350" dirty="0" err="1">
                <a:solidFill>
                  <a:schemeClr val="tx1"/>
                </a:solidFill>
              </a:rPr>
              <a:t>thành</a:t>
            </a:r>
            <a:r>
              <a:rPr lang="en-US" sz="1350" dirty="0">
                <a:solidFill>
                  <a:schemeClr val="tx1"/>
                </a:solidFill>
              </a:rPr>
              <a:t> </a:t>
            </a:r>
            <a:r>
              <a:rPr lang="en-US" sz="1350" dirty="0" err="1">
                <a:solidFill>
                  <a:schemeClr val="tx1"/>
                </a:solidFill>
              </a:rPr>
              <a:t>lập</a:t>
            </a:r>
            <a:r>
              <a:rPr lang="vi-VN" sz="1350" dirty="0">
                <a:solidFill>
                  <a:schemeClr val="tx1"/>
                </a:solidFill>
              </a:rPr>
              <a:t>:</a:t>
            </a:r>
            <a:r>
              <a:rPr lang="en-US" sz="1350" dirty="0">
                <a:solidFill>
                  <a:schemeClr val="tx1"/>
                </a:solidFill>
              </a:rPr>
              <a:t> </a:t>
            </a:r>
            <a:r>
              <a:rPr lang="vi-VN" sz="1350" dirty="0">
                <a:solidFill>
                  <a:schemeClr val="tx1"/>
                </a:solidFill>
              </a:rPr>
              <a:t>18/11/2024</a:t>
            </a:r>
            <a:endParaRPr lang="en-US" sz="1350" dirty="0">
              <a:solidFill>
                <a:schemeClr val="tx1"/>
              </a:solidFill>
            </a:endParaRPr>
          </a:p>
          <a:p>
            <a:pPr>
              <a:lnSpc>
                <a:spcPct val="100000"/>
              </a:lnSpc>
              <a:spcBef>
                <a:spcPts val="600"/>
              </a:spcBef>
              <a:buSzPct val="150000"/>
              <a:buFont typeface="Courier New" panose="02070309020205020404" pitchFamily="49" charset="0"/>
              <a:buChar char="o"/>
            </a:pPr>
            <a:r>
              <a:rPr lang="en-US" sz="1350" dirty="0">
                <a:solidFill>
                  <a:schemeClr val="tx1"/>
                </a:solidFill>
              </a:rPr>
              <a:t>Website: lazinet.com	Email: email@lazinet.com</a:t>
            </a:r>
          </a:p>
          <a:p>
            <a:pPr>
              <a:lnSpc>
                <a:spcPct val="100000"/>
              </a:lnSpc>
              <a:spcBef>
                <a:spcPts val="600"/>
              </a:spcBef>
              <a:buSzPct val="150000"/>
              <a:buFont typeface="Courier New" panose="02070309020205020404" pitchFamily="49" charset="0"/>
              <a:buChar char="o"/>
            </a:pPr>
            <a:r>
              <a:rPr lang="en-US" sz="1350" dirty="0" err="1">
                <a:solidFill>
                  <a:schemeClr val="tx1"/>
                </a:solidFill>
              </a:rPr>
              <a:t>Văn</a:t>
            </a:r>
            <a:r>
              <a:rPr lang="en-US" sz="1350" dirty="0">
                <a:solidFill>
                  <a:schemeClr val="tx1"/>
                </a:solidFill>
              </a:rPr>
              <a:t> </a:t>
            </a:r>
            <a:r>
              <a:rPr lang="en-US" sz="1350" dirty="0" err="1">
                <a:solidFill>
                  <a:schemeClr val="tx1"/>
                </a:solidFill>
              </a:rPr>
              <a:t>phòng</a:t>
            </a:r>
            <a:r>
              <a:rPr lang="en-US" sz="1350" dirty="0">
                <a:solidFill>
                  <a:schemeClr val="tx1"/>
                </a:solidFill>
              </a:rPr>
              <a:t>: </a:t>
            </a:r>
            <a:r>
              <a:rPr lang="en-US" sz="1350" dirty="0" err="1">
                <a:solidFill>
                  <a:schemeClr val="tx1"/>
                </a:solidFill>
              </a:rPr>
              <a:t>Tầng</a:t>
            </a:r>
            <a:r>
              <a:rPr lang="en-US" sz="1350" dirty="0">
                <a:solidFill>
                  <a:schemeClr val="tx1"/>
                </a:solidFill>
              </a:rPr>
              <a:t> 9, </a:t>
            </a:r>
            <a:r>
              <a:rPr lang="en-US" sz="1350" dirty="0" err="1">
                <a:solidFill>
                  <a:schemeClr val="tx1"/>
                </a:solidFill>
              </a:rPr>
              <a:t>Tòa</a:t>
            </a:r>
            <a:r>
              <a:rPr lang="en-US" sz="1350" dirty="0">
                <a:solidFill>
                  <a:schemeClr val="tx1"/>
                </a:solidFill>
              </a:rPr>
              <a:t> </a:t>
            </a:r>
            <a:r>
              <a:rPr lang="en-US" sz="1350" dirty="0" err="1">
                <a:solidFill>
                  <a:schemeClr val="tx1"/>
                </a:solidFill>
              </a:rPr>
              <a:t>nhà</a:t>
            </a:r>
            <a:r>
              <a:rPr lang="en-US" sz="1350" dirty="0">
                <a:solidFill>
                  <a:schemeClr val="tx1"/>
                </a:solidFill>
              </a:rPr>
              <a:t> M.O.R.E, </a:t>
            </a:r>
            <a:r>
              <a:rPr lang="en-US" sz="1350" dirty="0" err="1">
                <a:solidFill>
                  <a:schemeClr val="tx1"/>
                </a:solidFill>
              </a:rPr>
              <a:t>số</a:t>
            </a:r>
            <a:r>
              <a:rPr lang="en-US" sz="1350" dirty="0">
                <a:solidFill>
                  <a:schemeClr val="tx1"/>
                </a:solidFill>
              </a:rPr>
              <a:t> 89 Phan </a:t>
            </a:r>
            <a:r>
              <a:rPr lang="en-US" sz="1350" dirty="0" err="1">
                <a:solidFill>
                  <a:schemeClr val="tx1"/>
                </a:solidFill>
              </a:rPr>
              <a:t>Đình</a:t>
            </a:r>
            <a:r>
              <a:rPr lang="en-US" sz="1350" dirty="0">
                <a:solidFill>
                  <a:schemeClr val="tx1"/>
                </a:solidFill>
              </a:rPr>
              <a:t> </a:t>
            </a:r>
            <a:r>
              <a:rPr lang="en-US" sz="1350" dirty="0" err="1">
                <a:solidFill>
                  <a:schemeClr val="tx1"/>
                </a:solidFill>
              </a:rPr>
              <a:t>Phùng</a:t>
            </a:r>
            <a:r>
              <a:rPr lang="en-US" sz="1350" dirty="0">
                <a:solidFill>
                  <a:schemeClr val="tx1"/>
                </a:solidFill>
              </a:rPr>
              <a:t>, </a:t>
            </a:r>
            <a:r>
              <a:rPr lang="en-US" sz="1350" dirty="0" err="1">
                <a:solidFill>
                  <a:schemeClr val="tx1"/>
                </a:solidFill>
              </a:rPr>
              <a:t>Phường</a:t>
            </a:r>
            <a:r>
              <a:rPr lang="en-US" sz="1350" dirty="0">
                <a:solidFill>
                  <a:schemeClr val="tx1"/>
                </a:solidFill>
              </a:rPr>
              <a:t> </a:t>
            </a:r>
            <a:r>
              <a:rPr lang="en-US" sz="1350" dirty="0" err="1">
                <a:solidFill>
                  <a:schemeClr val="tx1"/>
                </a:solidFill>
              </a:rPr>
              <a:t>Phú</a:t>
            </a:r>
            <a:r>
              <a:rPr lang="en-US" sz="1350" dirty="0">
                <a:solidFill>
                  <a:schemeClr val="tx1"/>
                </a:solidFill>
              </a:rPr>
              <a:t> </a:t>
            </a:r>
            <a:r>
              <a:rPr lang="en-US" sz="1350" dirty="0" err="1">
                <a:solidFill>
                  <a:schemeClr val="tx1"/>
                </a:solidFill>
              </a:rPr>
              <a:t>Nhuận</a:t>
            </a:r>
            <a:r>
              <a:rPr lang="en-US" sz="1350" dirty="0">
                <a:solidFill>
                  <a:schemeClr val="tx1"/>
                </a:solidFill>
              </a:rPr>
              <a:t>, TP.HCM</a:t>
            </a:r>
          </a:p>
          <a:p>
            <a:pPr>
              <a:lnSpc>
                <a:spcPct val="100000"/>
              </a:lnSpc>
              <a:spcBef>
                <a:spcPts val="600"/>
              </a:spcBef>
              <a:buSzPct val="150000"/>
              <a:buFont typeface="Courier New" panose="02070309020205020404" pitchFamily="49" charset="0"/>
              <a:buChar char="o"/>
            </a:pPr>
            <a:r>
              <a:rPr lang="en-US" sz="1350" dirty="0" err="1">
                <a:solidFill>
                  <a:schemeClr val="tx1"/>
                </a:solidFill>
              </a:rPr>
              <a:t>Nhà</a:t>
            </a:r>
            <a:r>
              <a:rPr lang="en-US" sz="1350" dirty="0">
                <a:solidFill>
                  <a:schemeClr val="tx1"/>
                </a:solidFill>
              </a:rPr>
              <a:t> </a:t>
            </a:r>
            <a:r>
              <a:rPr lang="en-US" sz="1350" dirty="0" err="1">
                <a:solidFill>
                  <a:schemeClr val="tx1"/>
                </a:solidFill>
              </a:rPr>
              <a:t>máy</a:t>
            </a:r>
            <a:r>
              <a:rPr lang="en-US" sz="1350" dirty="0">
                <a:solidFill>
                  <a:schemeClr val="tx1"/>
                </a:solidFill>
              </a:rPr>
              <a:t>: </a:t>
            </a:r>
            <a:r>
              <a:rPr lang="vi-VN" sz="1350" dirty="0">
                <a:solidFill>
                  <a:schemeClr val="tx1"/>
                </a:solidFill>
              </a:rPr>
              <a:t>69 Đường 35, </a:t>
            </a:r>
            <a:r>
              <a:rPr lang="en-US" sz="1350" dirty="0" err="1">
                <a:solidFill>
                  <a:schemeClr val="tx1"/>
                </a:solidFill>
              </a:rPr>
              <a:t>Phường</a:t>
            </a:r>
            <a:r>
              <a:rPr lang="en-US" sz="1350" dirty="0">
                <a:solidFill>
                  <a:schemeClr val="tx1"/>
                </a:solidFill>
              </a:rPr>
              <a:t> </a:t>
            </a:r>
            <a:r>
              <a:rPr lang="vi-VN" sz="1350" dirty="0">
                <a:solidFill>
                  <a:schemeClr val="tx1"/>
                </a:solidFill>
              </a:rPr>
              <a:t>Hiệp Bình, TP. HCM</a:t>
            </a:r>
          </a:p>
        </p:txBody>
      </p:sp>
      <p:pic>
        <p:nvPicPr>
          <p:cNvPr id="6" name="Picture 5">
            <a:extLst>
              <a:ext uri="{FF2B5EF4-FFF2-40B4-BE49-F238E27FC236}">
                <a16:creationId xmlns:a16="http://schemas.microsoft.com/office/drawing/2014/main" id="{AFCB2B88-5B54-425E-A5C4-06103ED8E257}"/>
              </a:ext>
            </a:extLst>
          </p:cNvPr>
          <p:cNvPicPr>
            <a:picLocks noChangeAspect="1"/>
          </p:cNvPicPr>
          <p:nvPr/>
        </p:nvPicPr>
        <p:blipFill>
          <a:blip r:embed="rId4"/>
          <a:stretch>
            <a:fillRect/>
          </a:stretch>
        </p:blipFill>
        <p:spPr>
          <a:xfrm>
            <a:off x="4890124" y="777878"/>
            <a:ext cx="6951266" cy="5302243"/>
          </a:xfrm>
          <a:prstGeom prst="rect">
            <a:avLst/>
          </a:prstGeom>
          <a:ln>
            <a:solidFill>
              <a:srgbClr val="0000FF"/>
            </a:solidFill>
          </a:ln>
        </p:spPr>
      </p:pic>
      <p:pic>
        <p:nvPicPr>
          <p:cNvPr id="4" name="Picture 3">
            <a:extLst>
              <a:ext uri="{FF2B5EF4-FFF2-40B4-BE49-F238E27FC236}">
                <a16:creationId xmlns:a16="http://schemas.microsoft.com/office/drawing/2014/main" id="{0AC47754-12D0-4D72-B887-F9C2B9B13E73}"/>
              </a:ext>
            </a:extLst>
          </p:cNvPr>
          <p:cNvPicPr>
            <a:picLocks noChangeAspect="1"/>
          </p:cNvPicPr>
          <p:nvPr/>
        </p:nvPicPr>
        <p:blipFill>
          <a:blip r:embed="rId5"/>
          <a:stretch>
            <a:fillRect/>
          </a:stretch>
        </p:blipFill>
        <p:spPr>
          <a:xfrm>
            <a:off x="5859318" y="3684735"/>
            <a:ext cx="1761138" cy="2369986"/>
          </a:xfrm>
          <a:prstGeom prst="rect">
            <a:avLst/>
          </a:prstGeom>
          <a:ln w="12700">
            <a:solidFill>
              <a:srgbClr val="FF6300"/>
            </a:solidFill>
          </a:ln>
        </p:spPr>
      </p:pic>
      <p:grpSp>
        <p:nvGrpSpPr>
          <p:cNvPr id="30" name="Group 29">
            <a:extLst>
              <a:ext uri="{FF2B5EF4-FFF2-40B4-BE49-F238E27FC236}">
                <a16:creationId xmlns:a16="http://schemas.microsoft.com/office/drawing/2014/main" id="{C455F3F5-5D81-4475-8C01-1AD3F5390AB6}"/>
              </a:ext>
            </a:extLst>
          </p:cNvPr>
          <p:cNvGrpSpPr/>
          <p:nvPr/>
        </p:nvGrpSpPr>
        <p:grpSpPr>
          <a:xfrm>
            <a:off x="9164916" y="785496"/>
            <a:ext cx="2668854" cy="1283610"/>
            <a:chOff x="4524336" y="717718"/>
            <a:chExt cx="2668854" cy="1283610"/>
          </a:xfrm>
        </p:grpSpPr>
        <p:pic>
          <p:nvPicPr>
            <p:cNvPr id="23" name="Picture 22">
              <a:extLst>
                <a:ext uri="{FF2B5EF4-FFF2-40B4-BE49-F238E27FC236}">
                  <a16:creationId xmlns:a16="http://schemas.microsoft.com/office/drawing/2014/main" id="{407610FC-5500-4949-8348-AB033AE8040F}"/>
                </a:ext>
              </a:extLst>
            </p:cNvPr>
            <p:cNvPicPr>
              <a:picLocks noChangeAspect="1"/>
            </p:cNvPicPr>
            <p:nvPr/>
          </p:nvPicPr>
          <p:blipFill>
            <a:blip r:embed="rId6"/>
            <a:stretch>
              <a:fillRect/>
            </a:stretch>
          </p:blipFill>
          <p:spPr>
            <a:xfrm>
              <a:off x="5487043" y="717719"/>
              <a:ext cx="1706147" cy="1283609"/>
            </a:xfrm>
            <a:prstGeom prst="rect">
              <a:avLst/>
            </a:prstGeom>
            <a:ln>
              <a:solidFill>
                <a:srgbClr val="FF6300"/>
              </a:solidFill>
            </a:ln>
          </p:spPr>
        </p:pic>
        <p:pic>
          <p:nvPicPr>
            <p:cNvPr id="25" name="Picture 24">
              <a:extLst>
                <a:ext uri="{FF2B5EF4-FFF2-40B4-BE49-F238E27FC236}">
                  <a16:creationId xmlns:a16="http://schemas.microsoft.com/office/drawing/2014/main" id="{2FED5343-AE72-4127-92D9-A4AEE9FD7982}"/>
                </a:ext>
              </a:extLst>
            </p:cNvPr>
            <p:cNvPicPr>
              <a:picLocks noChangeAspect="1"/>
            </p:cNvPicPr>
            <p:nvPr/>
          </p:nvPicPr>
          <p:blipFill>
            <a:blip r:embed="rId7"/>
            <a:stretch>
              <a:fillRect/>
            </a:stretch>
          </p:blipFill>
          <p:spPr>
            <a:xfrm>
              <a:off x="4524336" y="717718"/>
              <a:ext cx="962707" cy="1283609"/>
            </a:xfrm>
            <a:prstGeom prst="rect">
              <a:avLst/>
            </a:prstGeom>
            <a:ln>
              <a:solidFill>
                <a:srgbClr val="FF6300"/>
              </a:solidFill>
            </a:ln>
          </p:spPr>
        </p:pic>
      </p:grpSp>
      <p:pic>
        <p:nvPicPr>
          <p:cNvPr id="19" name="Graphic 18" descr="Marker with solid fill">
            <a:extLst>
              <a:ext uri="{FF2B5EF4-FFF2-40B4-BE49-F238E27FC236}">
                <a16:creationId xmlns:a16="http://schemas.microsoft.com/office/drawing/2014/main" id="{C87584E5-1028-4400-B5EF-F86289F38A3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98086" y="3892639"/>
            <a:ext cx="464839" cy="464839"/>
          </a:xfrm>
          <a:prstGeom prst="rect">
            <a:avLst/>
          </a:prstGeom>
        </p:spPr>
      </p:pic>
      <p:pic>
        <p:nvPicPr>
          <p:cNvPr id="27" name="Picture 26">
            <a:extLst>
              <a:ext uri="{FF2B5EF4-FFF2-40B4-BE49-F238E27FC236}">
                <a16:creationId xmlns:a16="http://schemas.microsoft.com/office/drawing/2014/main" id="{30BA9B8F-BABD-4562-95DC-B9B2606E5681}"/>
              </a:ext>
            </a:extLst>
          </p:cNvPr>
          <p:cNvPicPr>
            <a:picLocks noChangeAspect="1"/>
          </p:cNvPicPr>
          <p:nvPr/>
        </p:nvPicPr>
        <p:blipFill rotWithShape="1">
          <a:blip r:embed="rId10">
            <a:extLst>
              <a:ext uri="{28A0092B-C50C-407E-A947-70E740481C1C}">
                <a14:useLocalDpi xmlns:a14="http://schemas.microsoft.com/office/drawing/2010/main" val="0"/>
              </a:ext>
            </a:extLst>
          </a:blip>
          <a:srcRect l="5375" t="2401" r="2563" b="4377"/>
          <a:stretch/>
        </p:blipFill>
        <p:spPr>
          <a:xfrm>
            <a:off x="5859317" y="5572350"/>
            <a:ext cx="1761137" cy="482372"/>
          </a:xfrm>
          <a:prstGeom prst="rect">
            <a:avLst/>
          </a:prstGeom>
        </p:spPr>
      </p:pic>
      <p:sp>
        <p:nvSpPr>
          <p:cNvPr id="29" name="TextBox 28">
            <a:extLst>
              <a:ext uri="{FF2B5EF4-FFF2-40B4-BE49-F238E27FC236}">
                <a16:creationId xmlns:a16="http://schemas.microsoft.com/office/drawing/2014/main" id="{69FC167C-43A9-4EFB-809C-D21C93D05AA1}"/>
              </a:ext>
            </a:extLst>
          </p:cNvPr>
          <p:cNvSpPr txBox="1"/>
          <p:nvPr/>
        </p:nvSpPr>
        <p:spPr>
          <a:xfrm>
            <a:off x="7663069" y="4329595"/>
            <a:ext cx="1761138" cy="646331"/>
          </a:xfrm>
          <a:prstGeom prst="rect">
            <a:avLst/>
          </a:prstGeom>
          <a:solidFill>
            <a:srgbClr val="FF6300">
              <a:alpha val="50196"/>
            </a:srgbClr>
          </a:solidFill>
        </p:spPr>
        <p:txBody>
          <a:bodyPr wrap="square" rtlCol="0">
            <a:spAutoFit/>
          </a:bodyPr>
          <a:lstStyle/>
          <a:p>
            <a:pPr algn="ctr"/>
            <a:r>
              <a:rPr lang="en-US" sz="1200" b="1" dirty="0">
                <a:solidFill>
                  <a:srgbClr val="0000FF"/>
                </a:solidFill>
              </a:rPr>
              <a:t>VP: 89 Phan </a:t>
            </a:r>
            <a:r>
              <a:rPr lang="en-US" sz="1200" b="1" dirty="0" err="1">
                <a:solidFill>
                  <a:srgbClr val="0000FF"/>
                </a:solidFill>
              </a:rPr>
              <a:t>Đình</a:t>
            </a:r>
            <a:r>
              <a:rPr lang="en-US" sz="1200" b="1" dirty="0">
                <a:solidFill>
                  <a:srgbClr val="0000FF"/>
                </a:solidFill>
              </a:rPr>
              <a:t> </a:t>
            </a:r>
            <a:r>
              <a:rPr lang="en-US" sz="1200" b="1" dirty="0" err="1">
                <a:solidFill>
                  <a:srgbClr val="0000FF"/>
                </a:solidFill>
              </a:rPr>
              <a:t>Phùng</a:t>
            </a:r>
            <a:endParaRPr lang="en-US" sz="1200" b="1" dirty="0">
              <a:solidFill>
                <a:srgbClr val="0000FF"/>
              </a:solidFill>
            </a:endParaRPr>
          </a:p>
          <a:p>
            <a:pPr algn="ctr"/>
            <a:r>
              <a:rPr lang="en-US" sz="1200" b="1" dirty="0">
                <a:solidFill>
                  <a:srgbClr val="0000FF"/>
                </a:solidFill>
              </a:rPr>
              <a:t>P. </a:t>
            </a:r>
            <a:r>
              <a:rPr lang="en-US" sz="1200" b="1" dirty="0" err="1">
                <a:solidFill>
                  <a:srgbClr val="0000FF"/>
                </a:solidFill>
              </a:rPr>
              <a:t>Phú</a:t>
            </a:r>
            <a:r>
              <a:rPr lang="en-US" sz="1200" b="1" dirty="0">
                <a:solidFill>
                  <a:srgbClr val="0000FF"/>
                </a:solidFill>
              </a:rPr>
              <a:t> </a:t>
            </a:r>
            <a:r>
              <a:rPr lang="en-US" sz="1200" b="1" dirty="0" err="1">
                <a:solidFill>
                  <a:srgbClr val="0000FF"/>
                </a:solidFill>
              </a:rPr>
              <a:t>Nhuận</a:t>
            </a:r>
            <a:r>
              <a:rPr lang="en-US" sz="1200" b="1" dirty="0">
                <a:solidFill>
                  <a:srgbClr val="0000FF"/>
                </a:solidFill>
              </a:rPr>
              <a:t>, TP. HCM</a:t>
            </a:r>
          </a:p>
          <a:p>
            <a:pPr algn="ctr"/>
            <a:r>
              <a:rPr lang="en-US" sz="1200" b="1" dirty="0">
                <a:solidFill>
                  <a:srgbClr val="0000FF"/>
                </a:solidFill>
              </a:rPr>
              <a:t>Trung </a:t>
            </a:r>
            <a:r>
              <a:rPr lang="en-US" sz="1200" b="1" dirty="0" err="1">
                <a:solidFill>
                  <a:srgbClr val="0000FF"/>
                </a:solidFill>
              </a:rPr>
              <a:t>tâm</a:t>
            </a:r>
            <a:r>
              <a:rPr lang="en-US" sz="1200" b="1" dirty="0">
                <a:solidFill>
                  <a:srgbClr val="0000FF"/>
                </a:solidFill>
              </a:rPr>
              <a:t> R&amp;D</a:t>
            </a:r>
          </a:p>
        </p:txBody>
      </p:sp>
      <p:sp>
        <p:nvSpPr>
          <p:cNvPr id="33" name="TextBox 32">
            <a:extLst>
              <a:ext uri="{FF2B5EF4-FFF2-40B4-BE49-F238E27FC236}">
                <a16:creationId xmlns:a16="http://schemas.microsoft.com/office/drawing/2014/main" id="{38E4BD33-98C5-4FC3-B53A-3124D70C4E3A}"/>
              </a:ext>
            </a:extLst>
          </p:cNvPr>
          <p:cNvSpPr txBox="1"/>
          <p:nvPr/>
        </p:nvSpPr>
        <p:spPr>
          <a:xfrm>
            <a:off x="9164916" y="2079274"/>
            <a:ext cx="2668855" cy="461665"/>
          </a:xfrm>
          <a:prstGeom prst="rect">
            <a:avLst/>
          </a:prstGeom>
          <a:solidFill>
            <a:srgbClr val="FF6300">
              <a:alpha val="50196"/>
            </a:srgbClr>
          </a:solidFill>
        </p:spPr>
        <p:txBody>
          <a:bodyPr wrap="square" rtlCol="0">
            <a:spAutoFit/>
          </a:bodyPr>
          <a:lstStyle/>
          <a:p>
            <a:pPr algn="ctr"/>
            <a:r>
              <a:rPr lang="en-US" sz="1200" b="1" dirty="0" err="1">
                <a:solidFill>
                  <a:srgbClr val="0000FF"/>
                </a:solidFill>
              </a:rPr>
              <a:t>Xưởng</a:t>
            </a:r>
            <a:r>
              <a:rPr lang="en-US" sz="1200" b="1" dirty="0">
                <a:solidFill>
                  <a:srgbClr val="0000FF"/>
                </a:solidFill>
              </a:rPr>
              <a:t> IoT &amp; </a:t>
            </a:r>
            <a:r>
              <a:rPr lang="en-US" sz="1200" b="1" dirty="0" err="1">
                <a:solidFill>
                  <a:srgbClr val="0000FF"/>
                </a:solidFill>
              </a:rPr>
              <a:t>Tự</a:t>
            </a:r>
            <a:r>
              <a:rPr lang="en-US" sz="1200" b="1" dirty="0">
                <a:solidFill>
                  <a:srgbClr val="0000FF"/>
                </a:solidFill>
              </a:rPr>
              <a:t> </a:t>
            </a:r>
            <a:r>
              <a:rPr lang="en-US" sz="1200" b="1" dirty="0" err="1">
                <a:solidFill>
                  <a:srgbClr val="0000FF"/>
                </a:solidFill>
              </a:rPr>
              <a:t>động</a:t>
            </a:r>
            <a:r>
              <a:rPr lang="en-US" sz="1200" b="1" dirty="0">
                <a:solidFill>
                  <a:srgbClr val="0000FF"/>
                </a:solidFill>
              </a:rPr>
              <a:t> </a:t>
            </a:r>
            <a:r>
              <a:rPr lang="en-US" sz="1200" b="1" dirty="0" err="1">
                <a:solidFill>
                  <a:srgbClr val="0000FF"/>
                </a:solidFill>
              </a:rPr>
              <a:t>hóa</a:t>
            </a:r>
            <a:r>
              <a:rPr lang="en-US" sz="1200" b="1" dirty="0">
                <a:solidFill>
                  <a:srgbClr val="0000FF"/>
                </a:solidFill>
              </a:rPr>
              <a:t>:</a:t>
            </a:r>
          </a:p>
          <a:p>
            <a:pPr algn="ctr"/>
            <a:r>
              <a:rPr lang="vi-VN" sz="1200" b="1" dirty="0">
                <a:solidFill>
                  <a:srgbClr val="0000FF"/>
                </a:solidFill>
              </a:rPr>
              <a:t>69 Đường 35</a:t>
            </a:r>
            <a:r>
              <a:rPr lang="en-US" sz="1200" b="1" dirty="0">
                <a:solidFill>
                  <a:srgbClr val="0000FF"/>
                </a:solidFill>
              </a:rPr>
              <a:t>, P. </a:t>
            </a:r>
            <a:r>
              <a:rPr lang="vi-VN" sz="1200" b="1" dirty="0">
                <a:solidFill>
                  <a:srgbClr val="0000FF"/>
                </a:solidFill>
              </a:rPr>
              <a:t>Hiệp Bình, </a:t>
            </a:r>
            <a:r>
              <a:rPr lang="en-US" sz="1200" b="1" dirty="0">
                <a:solidFill>
                  <a:srgbClr val="0000FF"/>
                </a:solidFill>
              </a:rPr>
              <a:t>TP. HCM</a:t>
            </a:r>
          </a:p>
        </p:txBody>
      </p:sp>
      <p:pic>
        <p:nvPicPr>
          <p:cNvPr id="36" name="Picture 35">
            <a:extLst>
              <a:ext uri="{FF2B5EF4-FFF2-40B4-BE49-F238E27FC236}">
                <a16:creationId xmlns:a16="http://schemas.microsoft.com/office/drawing/2014/main" id="{8A05FDFE-35FE-40CC-BDC5-C77E7480D01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0283" y="3338014"/>
            <a:ext cx="4585938" cy="2742107"/>
          </a:xfrm>
          <a:prstGeom prst="rect">
            <a:avLst/>
          </a:prstGeom>
        </p:spPr>
      </p:pic>
      <p:pic>
        <p:nvPicPr>
          <p:cNvPr id="38" name="Picture 37">
            <a:extLst>
              <a:ext uri="{FF2B5EF4-FFF2-40B4-BE49-F238E27FC236}">
                <a16:creationId xmlns:a16="http://schemas.microsoft.com/office/drawing/2014/main" id="{96038769-2731-4D34-86F6-BBF56AE7F0A8}"/>
              </a:ext>
            </a:extLst>
          </p:cNvPr>
          <p:cNvPicPr>
            <a:picLocks noChangeAspect="1"/>
          </p:cNvPicPr>
          <p:nvPr/>
        </p:nvPicPr>
        <p:blipFill rotWithShape="1">
          <a:blip r:embed="rId12">
            <a:extLst>
              <a:ext uri="{28A0092B-C50C-407E-A947-70E740481C1C}">
                <a14:useLocalDpi xmlns:a14="http://schemas.microsoft.com/office/drawing/2010/main" val="0"/>
              </a:ext>
            </a:extLst>
          </a:blip>
          <a:srcRect l="1635" t="839" r="4297" b="-839"/>
          <a:stretch/>
        </p:blipFill>
        <p:spPr>
          <a:xfrm>
            <a:off x="7663069" y="5002345"/>
            <a:ext cx="1761137" cy="1052377"/>
          </a:xfrm>
          <a:prstGeom prst="rect">
            <a:avLst/>
          </a:prstGeom>
        </p:spPr>
      </p:pic>
      <p:pic>
        <p:nvPicPr>
          <p:cNvPr id="42" name="Graphic 41" descr="Marker with solid fill">
            <a:extLst>
              <a:ext uri="{FF2B5EF4-FFF2-40B4-BE49-F238E27FC236}">
                <a16:creationId xmlns:a16="http://schemas.microsoft.com/office/drawing/2014/main" id="{DB2C7731-0F38-48C5-A80C-6C50E6C6D2E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64916" y="2507558"/>
            <a:ext cx="464839" cy="464839"/>
          </a:xfrm>
          <a:prstGeom prst="rect">
            <a:avLst/>
          </a:prstGeom>
        </p:spPr>
      </p:pic>
      <p:grpSp>
        <p:nvGrpSpPr>
          <p:cNvPr id="20" name="Group 19">
            <a:extLst>
              <a:ext uri="{FF2B5EF4-FFF2-40B4-BE49-F238E27FC236}">
                <a16:creationId xmlns:a16="http://schemas.microsoft.com/office/drawing/2014/main" id="{2B60EC28-4E64-49C1-B7A9-F28C8F6175FF}"/>
              </a:ext>
            </a:extLst>
          </p:cNvPr>
          <p:cNvGrpSpPr/>
          <p:nvPr/>
        </p:nvGrpSpPr>
        <p:grpSpPr>
          <a:xfrm>
            <a:off x="1813422" y="135549"/>
            <a:ext cx="8565157" cy="260648"/>
            <a:chOff x="2883356" y="135549"/>
            <a:chExt cx="8565157" cy="260648"/>
          </a:xfrm>
        </p:grpSpPr>
        <p:sp>
          <p:nvSpPr>
            <p:cNvPr id="21" name="Round Same Side Corner Rectangle 69">
              <a:extLst>
                <a:ext uri="{FF2B5EF4-FFF2-40B4-BE49-F238E27FC236}">
                  <a16:creationId xmlns:a16="http://schemas.microsoft.com/office/drawing/2014/main" id="{8CA905D0-AABD-4D34-A661-11B5EC360095}"/>
                </a:ext>
              </a:extLst>
            </p:cNvPr>
            <p:cNvSpPr/>
            <p:nvPr/>
          </p:nvSpPr>
          <p:spPr bwMode="auto">
            <a:xfrm>
              <a:off x="9305092" y="135549"/>
              <a:ext cx="2143421" cy="260648"/>
            </a:xfrm>
            <a:prstGeom prst="round2SameRect">
              <a:avLst/>
            </a:prstGeom>
            <a:solidFill>
              <a:srgbClr val="0000FF"/>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200" b="1" u="none" strike="noStrike" cap="none" normalizeH="0" baseline="0" dirty="0">
                  <a:ln>
                    <a:noFill/>
                  </a:ln>
                  <a:solidFill>
                    <a:schemeClr val="bg1"/>
                  </a:solidFill>
                  <a:effectLst/>
                  <a:latin typeface="Roboto" panose="02000000000000000000" pitchFamily="2" charset="0"/>
                  <a:ea typeface="Roboto" panose="02000000000000000000" pitchFamily="2" charset="0"/>
                </a:rPr>
                <a:t>LAZIBOT</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sp>
          <p:nvSpPr>
            <p:cNvPr id="22" name="Round Same Side Corner Rectangle 69">
              <a:extLst>
                <a:ext uri="{FF2B5EF4-FFF2-40B4-BE49-F238E27FC236}">
                  <a16:creationId xmlns:a16="http://schemas.microsoft.com/office/drawing/2014/main" id="{355317B7-7BCF-40BB-A8A0-C4C4CE30D5D5}"/>
                </a:ext>
              </a:extLst>
            </p:cNvPr>
            <p:cNvSpPr/>
            <p:nvPr/>
          </p:nvSpPr>
          <p:spPr bwMode="auto">
            <a:xfrm>
              <a:off x="7165224" y="135549"/>
              <a:ext cx="2143421" cy="260648"/>
            </a:xfrm>
            <a:prstGeom prst="round2SameRect">
              <a:avLst/>
            </a:prstGeom>
            <a:solidFill>
              <a:srgbClr val="0000FF"/>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200" b="1" u="none" strike="noStrike" cap="none" normalizeH="0" baseline="0" dirty="0">
                  <a:ln>
                    <a:noFill/>
                  </a:ln>
                  <a:solidFill>
                    <a:schemeClr val="bg1"/>
                  </a:solidFill>
                  <a:effectLst/>
                  <a:latin typeface="Roboto" panose="02000000000000000000" pitchFamily="2" charset="0"/>
                  <a:ea typeface="Roboto" panose="02000000000000000000" pitchFamily="2" charset="0"/>
                </a:rPr>
                <a:t>DỊCH VỤ</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sp>
          <p:nvSpPr>
            <p:cNvPr id="24" name="Round Same Side Corner Rectangle 69">
              <a:extLst>
                <a:ext uri="{FF2B5EF4-FFF2-40B4-BE49-F238E27FC236}">
                  <a16:creationId xmlns:a16="http://schemas.microsoft.com/office/drawing/2014/main" id="{B52E8C02-ED3B-4EAF-BE13-0033B79DC5E2}"/>
                </a:ext>
              </a:extLst>
            </p:cNvPr>
            <p:cNvSpPr/>
            <p:nvPr/>
          </p:nvSpPr>
          <p:spPr bwMode="auto">
            <a:xfrm>
              <a:off x="5024290" y="135549"/>
              <a:ext cx="2142000" cy="260648"/>
            </a:xfrm>
            <a:prstGeom prst="round2SameRect">
              <a:avLst/>
            </a:prstGeom>
            <a:solidFill>
              <a:srgbClr val="0000FF"/>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lang="en-US" sz="1200" b="1" dirty="0">
                  <a:solidFill>
                    <a:schemeClr val="bg1"/>
                  </a:solidFill>
                  <a:latin typeface="Roboto" panose="02000000000000000000" pitchFamily="2" charset="0"/>
                  <a:ea typeface="Roboto" panose="02000000000000000000" pitchFamily="2" charset="0"/>
                </a:rPr>
                <a:t>GIẢI PHÁP</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sp>
          <p:nvSpPr>
            <p:cNvPr id="26" name="Round Same Side Corner Rectangle 72">
              <a:extLst>
                <a:ext uri="{FF2B5EF4-FFF2-40B4-BE49-F238E27FC236}">
                  <a16:creationId xmlns:a16="http://schemas.microsoft.com/office/drawing/2014/main" id="{8962CF22-B053-4817-8746-62B15A65C787}"/>
                </a:ext>
              </a:extLst>
            </p:cNvPr>
            <p:cNvSpPr/>
            <p:nvPr/>
          </p:nvSpPr>
          <p:spPr bwMode="auto">
            <a:xfrm>
              <a:off x="2883356" y="135549"/>
              <a:ext cx="2142000" cy="260648"/>
            </a:xfrm>
            <a:prstGeom prst="round2SameRect">
              <a:avLst/>
            </a:prstGeom>
            <a:solidFill>
              <a:srgbClr val="FF6302"/>
            </a:solidFill>
            <a:ln>
              <a:noFill/>
            </a:ln>
            <a:effectLst>
              <a:outerShdw blurRad="50800" dist="38100" dir="2700000" algn="tl"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
                  <a:srgbClr val="CC9900"/>
                </a:buClr>
                <a:buSzTx/>
                <a:tabLst/>
              </a:pPr>
              <a:r>
                <a:rPr kumimoji="0" lang="en-US" altLang="zh-CN" sz="1200" b="1" u="none" strike="noStrike" cap="none" normalizeH="0" baseline="0" dirty="0">
                  <a:ln>
                    <a:noFill/>
                  </a:ln>
                  <a:solidFill>
                    <a:schemeClr val="bg1"/>
                  </a:solidFill>
                  <a:effectLst/>
                  <a:latin typeface="Roboto" panose="02000000000000000000" pitchFamily="2" charset="0"/>
                  <a:ea typeface="Roboto" panose="02000000000000000000" pitchFamily="2" charset="0"/>
                </a:rPr>
                <a:t>GIỚI THIỆU LAZINET</a:t>
              </a:r>
              <a:endParaRPr kumimoji="0" lang="en-US" sz="1200" b="1" u="none" strike="noStrike" cap="none" normalizeH="0" baseline="0" dirty="0">
                <a:ln>
                  <a:noFill/>
                </a:ln>
                <a:solidFill>
                  <a:schemeClr val="bg1"/>
                </a:solidFill>
                <a:effectLst/>
                <a:latin typeface="Roboto" panose="02000000000000000000" pitchFamily="2" charset="0"/>
                <a:ea typeface="Roboto" panose="02000000000000000000" pitchFamily="2" charset="0"/>
              </a:endParaRPr>
            </a:p>
          </p:txBody>
        </p:sp>
      </p:grpSp>
      <p:cxnSp>
        <p:nvCxnSpPr>
          <p:cNvPr id="31" name="Straight Connector 30">
            <a:extLst>
              <a:ext uri="{FF2B5EF4-FFF2-40B4-BE49-F238E27FC236}">
                <a16:creationId xmlns:a16="http://schemas.microsoft.com/office/drawing/2014/main" id="{DEB58A11-C677-4E39-BB6A-E88BE96C8647}"/>
              </a:ext>
            </a:extLst>
          </p:cNvPr>
          <p:cNvCxnSpPr>
            <a:cxnSpLocks/>
          </p:cNvCxnSpPr>
          <p:nvPr/>
        </p:nvCxnSpPr>
        <p:spPr bwMode="auto">
          <a:xfrm>
            <a:off x="0" y="404664"/>
            <a:ext cx="12195175" cy="0"/>
          </a:xfrm>
          <a:prstGeom prst="line">
            <a:avLst/>
          </a:prstGeom>
          <a:noFill/>
          <a:ln w="28575">
            <a:solidFill>
              <a:srgbClr val="FF6302"/>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cxnSp>
    </p:spTree>
    <p:extLst>
      <p:ext uri="{BB962C8B-B14F-4D97-AF65-F5344CB8AC3E}">
        <p14:creationId xmlns:p14="http://schemas.microsoft.com/office/powerpoint/2010/main" val="3617843483"/>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Vì sao là lúc này</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Ba điều kiện cùng xảy ra trong 18 tháng qua. Đơn vị nào xây xong năng lực xử lý tự động trước thì vừa giữ được khách cũ vừa đón được làn sóng khách mới mà không phải tuyển thêm người.</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4</a:t>
            </a:r>
          </a:p>
        </p:txBody>
      </p:sp>
      <p:sp>
        <p:nvSpPr>
          <p:cNvPr id="13" name="Rectangle 12"/>
          <p:cNvSpPr/>
          <p:nvPr/>
        </p:nvSpPr>
        <p:spPr>
          <a:xfrm>
            <a:off x="411480" y="1600200"/>
            <a:ext cx="3637269" cy="2148840"/>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600200"/>
            <a:ext cx="50292" cy="2148840"/>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94360" y="1728216"/>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D81F26"/>
                </a:solidFill>
                <a:latin typeface="Roboto"/>
              </a:rPr>
              <a:t>CHÍNH SÁCH</a:t>
            </a:r>
          </a:p>
        </p:txBody>
      </p:sp>
      <p:sp>
        <p:nvSpPr>
          <p:cNvPr id="16" name="TextBox 15"/>
          <p:cNvSpPr txBox="1"/>
          <p:nvPr/>
        </p:nvSpPr>
        <p:spPr>
          <a:xfrm>
            <a:off x="594360" y="1929384"/>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Khối lượng việc tăng mạnh</a:t>
            </a:r>
          </a:p>
        </p:txBody>
      </p:sp>
      <p:sp>
        <p:nvSpPr>
          <p:cNvPr id="17" name="TextBox 16"/>
          <p:cNvSpPr txBox="1"/>
          <p:nvPr/>
        </p:nvSpPr>
        <p:spPr>
          <a:xfrm>
            <a:off x="594360" y="2203704"/>
            <a:ext cx="3308085" cy="1435607"/>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Bỏ thuế khoán hộ kinh doanh từ 01/01/2026, hàng triệu hộ chuyển sang tự khai tự nộp</a:t>
            </a:r>
          </a:p>
          <a:p>
            <a:pPr algn="l">
              <a:lnSpc>
                <a:spcPct val="112000"/>
              </a:lnSpc>
              <a:spcAft>
                <a:spcPts val="300"/>
              </a:spcAft>
            </a:pPr>
            <a:r>
              <a:rPr sz="950" b="0">
                <a:solidFill>
                  <a:srgbClr val="475569"/>
                </a:solidFill>
                <a:latin typeface="Roboto"/>
              </a:rPr>
              <a:t>Nghị định 70/2025 về hóa đơn điện tử từ máy tính tiền, hiệu lực 01/6/2025</a:t>
            </a:r>
          </a:p>
          <a:p>
            <a:pPr algn="l">
              <a:lnSpc>
                <a:spcPct val="112000"/>
              </a:lnSpc>
              <a:spcAft>
                <a:spcPts val="300"/>
              </a:spcAft>
            </a:pPr>
            <a:r>
              <a:rPr sz="950" b="0">
                <a:solidFill>
                  <a:srgbClr val="475569"/>
                </a:solidFill>
                <a:latin typeface="Roboto"/>
              </a:rPr>
              <a:t>Luật Thuế GTGT 2024 bỏ ngưỡng 20 triệu, mọi hóa đơn phải có chứng từ thanh toán</a:t>
            </a:r>
          </a:p>
          <a:p>
            <a:pPr algn="l">
              <a:lnSpc>
                <a:spcPct val="112000"/>
              </a:lnSpc>
              <a:spcAft>
                <a:spcPts val="300"/>
              </a:spcAft>
            </a:pPr>
            <a:r>
              <a:rPr sz="950" b="0">
                <a:solidFill>
                  <a:srgbClr val="475569"/>
                </a:solidFill>
                <a:latin typeface="Roboto"/>
              </a:rPr>
              <a:t>Luật Bảo vệ dữ liệu cá nhân hiệu lực 01/01/2026</a:t>
            </a:r>
          </a:p>
        </p:txBody>
      </p:sp>
      <p:sp>
        <p:nvSpPr>
          <p:cNvPr id="18" name="Rectangle 17"/>
          <p:cNvSpPr/>
          <p:nvPr/>
        </p:nvSpPr>
        <p:spPr>
          <a:xfrm>
            <a:off x="4277349" y="1600200"/>
            <a:ext cx="3637269" cy="2148840"/>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277349" y="1600200"/>
            <a:ext cx="50292" cy="214884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60229" y="1728216"/>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1F6FD0"/>
                </a:solidFill>
                <a:latin typeface="Roboto"/>
              </a:rPr>
              <a:t>CÔNG NGHỆ</a:t>
            </a:r>
          </a:p>
        </p:txBody>
      </p:sp>
      <p:sp>
        <p:nvSpPr>
          <p:cNvPr id="21" name="TextBox 20"/>
          <p:cNvSpPr txBox="1"/>
          <p:nvPr/>
        </p:nvSpPr>
        <p:spPr>
          <a:xfrm>
            <a:off x="4460229" y="1929384"/>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Máy đã đọc được chứng từ Việt</a:t>
            </a:r>
          </a:p>
        </p:txBody>
      </p:sp>
      <p:sp>
        <p:nvSpPr>
          <p:cNvPr id="22" name="TextBox 21"/>
          <p:cNvSpPr txBox="1"/>
          <p:nvPr/>
        </p:nvSpPr>
        <p:spPr>
          <a:xfrm>
            <a:off x="4460229" y="2203704"/>
            <a:ext cx="3308085" cy="1435607"/>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Mô hình đa phương thức đọc ảnh chụp điện thoại, bản scan nghiêng, bảng biểu phức tạp</a:t>
            </a:r>
          </a:p>
          <a:p>
            <a:pPr algn="l">
              <a:lnSpc>
                <a:spcPct val="112000"/>
              </a:lnSpc>
              <a:spcAft>
                <a:spcPts val="300"/>
              </a:spcAft>
            </a:pPr>
            <a:r>
              <a:rPr sz="950" b="0">
                <a:solidFill>
                  <a:srgbClr val="475569"/>
                </a:solidFill>
                <a:latin typeface="Roboto"/>
              </a:rPr>
              <a:t>Trích xuất trả về đúng khuôn dữ liệu kèm điểm tin cậy từng trường</a:t>
            </a:r>
          </a:p>
          <a:p>
            <a:pPr algn="l">
              <a:lnSpc>
                <a:spcPct val="112000"/>
              </a:lnSpc>
              <a:spcAft>
                <a:spcPts val="300"/>
              </a:spcAft>
            </a:pPr>
            <a:r>
              <a:rPr sz="950" b="0">
                <a:solidFill>
                  <a:srgbClr val="475569"/>
                </a:solidFill>
                <a:latin typeface="Roboto"/>
              </a:rPr>
              <a:t>Hóa đơn điện tử đã chuẩn hóa XML toàn quốc, máy đọc trực tiếp</a:t>
            </a:r>
          </a:p>
          <a:p>
            <a:pPr algn="l">
              <a:lnSpc>
                <a:spcPct val="112000"/>
              </a:lnSpc>
              <a:spcAft>
                <a:spcPts val="300"/>
              </a:spcAft>
            </a:pPr>
            <a:r>
              <a:rPr sz="950" b="0">
                <a:solidFill>
                  <a:srgbClr val="475569"/>
                </a:solidFill>
                <a:latin typeface="Roboto"/>
              </a:rPr>
              <a:t>Nền tảng biên không cần quản trị máy chủ, chi phí theo mức dùng</a:t>
            </a:r>
          </a:p>
        </p:txBody>
      </p:sp>
      <p:sp>
        <p:nvSpPr>
          <p:cNvPr id="23" name="Rectangle 22"/>
          <p:cNvSpPr/>
          <p:nvPr/>
        </p:nvSpPr>
        <p:spPr>
          <a:xfrm>
            <a:off x="8143219" y="1600200"/>
            <a:ext cx="3637269" cy="2148840"/>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143219" y="1600200"/>
            <a:ext cx="50292" cy="214884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26099" y="1728216"/>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B7791F"/>
                </a:solidFill>
                <a:latin typeface="Roboto"/>
              </a:rPr>
              <a:t>THỊ TRƯỜNG</a:t>
            </a:r>
          </a:p>
        </p:txBody>
      </p:sp>
      <p:sp>
        <p:nvSpPr>
          <p:cNvPr id="26" name="TextBox 25"/>
          <p:cNvSpPr txBox="1"/>
          <p:nvPr/>
        </p:nvSpPr>
        <p:spPr>
          <a:xfrm>
            <a:off x="8326099" y="1929384"/>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Mô hình cũ đã tới giới hạn</a:t>
            </a:r>
          </a:p>
        </p:txBody>
      </p:sp>
      <p:sp>
        <p:nvSpPr>
          <p:cNvPr id="27" name="TextBox 26"/>
          <p:cNvSpPr txBox="1"/>
          <p:nvPr/>
        </p:nvSpPr>
        <p:spPr>
          <a:xfrm>
            <a:off x="8326099" y="2203704"/>
            <a:ext cx="3308085" cy="1435607"/>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Chi phí nhân sự kế toán tăng, nguồn tuyển người có kinh nghiệm khó</a:t>
            </a:r>
          </a:p>
          <a:p>
            <a:pPr algn="l">
              <a:lnSpc>
                <a:spcPct val="112000"/>
              </a:lnSpc>
              <a:spcAft>
                <a:spcPts val="300"/>
              </a:spcAft>
            </a:pPr>
            <a:r>
              <a:rPr sz="950" b="0">
                <a:solidFill>
                  <a:srgbClr val="475569"/>
                </a:solidFill>
                <a:latin typeface="Roboto"/>
              </a:rPr>
              <a:t>Nhân sự trẻ không mặn mà với công việc nhập liệu lặp lại</a:t>
            </a:r>
          </a:p>
          <a:p>
            <a:pPr algn="l">
              <a:lnSpc>
                <a:spcPct val="112000"/>
              </a:lnSpc>
              <a:spcAft>
                <a:spcPts val="300"/>
              </a:spcAft>
            </a:pPr>
            <a:r>
              <a:rPr sz="950" b="0">
                <a:solidFill>
                  <a:srgbClr val="475569"/>
                </a:solidFill>
                <a:latin typeface="Roboto"/>
              </a:rPr>
              <a:t>Phần mềm kế toán lớn đã đưa AI vào sản phẩm, khách sẽ coi tốc độ là mặc định</a:t>
            </a:r>
          </a:p>
          <a:p>
            <a:pPr algn="l">
              <a:lnSpc>
                <a:spcPct val="112000"/>
              </a:lnSpc>
              <a:spcAft>
                <a:spcPts val="300"/>
              </a:spcAft>
            </a:pPr>
            <a:r>
              <a:rPr sz="950" b="0">
                <a:solidFill>
                  <a:srgbClr val="475569"/>
                </a:solidFill>
                <a:latin typeface="Roboto"/>
              </a:rPr>
              <a:t>Nhóm dịch vụ giá rẻ ép biên lợi nhuận từ phía dưới</a:t>
            </a:r>
          </a:p>
        </p:txBody>
      </p:sp>
      <p:sp>
        <p:nvSpPr>
          <p:cNvPr id="28" name="Rectangle 27"/>
          <p:cNvSpPr/>
          <p:nvPr/>
        </p:nvSpPr>
        <p:spPr>
          <a:xfrm>
            <a:off x="411480" y="3977639"/>
            <a:ext cx="11369009" cy="384048"/>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0B3A8F"/>
                </a:solidFill>
                <a:latin typeface="Roboto"/>
              </a:rPr>
              <a:t>Hệ quả: tăng trưởng bằng cách tuyển thêm người đã hết dư địa. Muốn nhận thêm khách mà không tăng chi phí thì phải thay đổi cách làm việc, không phải thay đổi số người.</a:t>
            </a:r>
          </a:p>
        </p:txBody>
      </p:sp>
      <p:sp>
        <p:nvSpPr>
          <p:cNvPr id="29" name="Rectangle 28"/>
          <p:cNvSpPr/>
          <p:nvPr/>
        </p:nvSpPr>
        <p:spPr>
          <a:xfrm>
            <a:off x="411480" y="4526280"/>
            <a:ext cx="2739382" cy="91440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48640" y="4626864"/>
            <a:ext cx="2465062" cy="384048"/>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24</a:t>
            </a:r>
          </a:p>
        </p:txBody>
      </p:sp>
      <p:sp>
        <p:nvSpPr>
          <p:cNvPr id="31" name="TextBox 30"/>
          <p:cNvSpPr txBox="1"/>
          <p:nvPr/>
        </p:nvSpPr>
        <p:spPr>
          <a:xfrm>
            <a:off x="548640" y="5047488"/>
            <a:ext cx="2465062" cy="310896"/>
          </a:xfrm>
          <a:prstGeom prst="rect">
            <a:avLst/>
          </a:prstGeom>
          <a:noFill/>
        </p:spPr>
        <p:txBody>
          <a:bodyPr wrap="square" lIns="0" rIns="0" tIns="0" bIns="0" anchor="t">
            <a:spAutoFit/>
          </a:bodyPr>
          <a:lstStyle/>
          <a:p>
            <a:pPr algn="l">
              <a:lnSpc>
                <a:spcPct val="105000"/>
              </a:lnSpc>
              <a:spcAft>
                <a:spcPts val="400"/>
              </a:spcAft>
            </a:pPr>
            <a:r>
              <a:rPr sz="900" b="0">
                <a:solidFill>
                  <a:srgbClr val="475569"/>
                </a:solidFill>
                <a:latin typeface="Roboto"/>
              </a:rPr>
              <a:t>nỗi đau nghiệp vụ được nhận diện</a:t>
            </a:r>
          </a:p>
        </p:txBody>
      </p:sp>
      <p:sp>
        <p:nvSpPr>
          <p:cNvPr id="32" name="Rectangle 31"/>
          <p:cNvSpPr/>
          <p:nvPr/>
        </p:nvSpPr>
        <p:spPr>
          <a:xfrm>
            <a:off x="3288022" y="4526280"/>
            <a:ext cx="2739382" cy="91440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425182" y="4626864"/>
            <a:ext cx="2465062" cy="384048"/>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9</a:t>
            </a:r>
          </a:p>
        </p:txBody>
      </p:sp>
      <p:sp>
        <p:nvSpPr>
          <p:cNvPr id="34" name="TextBox 33"/>
          <p:cNvSpPr txBox="1"/>
          <p:nvPr/>
        </p:nvSpPr>
        <p:spPr>
          <a:xfrm>
            <a:off x="3425182" y="5047488"/>
            <a:ext cx="2465062" cy="310896"/>
          </a:xfrm>
          <a:prstGeom prst="rect">
            <a:avLst/>
          </a:prstGeom>
          <a:noFill/>
        </p:spPr>
        <p:txBody>
          <a:bodyPr wrap="square" lIns="0" rIns="0" tIns="0" bIns="0" anchor="t">
            <a:spAutoFit/>
          </a:bodyPr>
          <a:lstStyle/>
          <a:p>
            <a:pPr algn="l">
              <a:lnSpc>
                <a:spcPct val="105000"/>
              </a:lnSpc>
              <a:spcAft>
                <a:spcPts val="400"/>
              </a:spcAft>
            </a:pPr>
            <a:r>
              <a:rPr sz="900" b="0">
                <a:solidFill>
                  <a:srgbClr val="475569"/>
                </a:solidFill>
                <a:latin typeface="Roboto"/>
              </a:rPr>
              <a:t>nhóm, trải khắp chu trình</a:t>
            </a:r>
          </a:p>
        </p:txBody>
      </p:sp>
      <p:sp>
        <p:nvSpPr>
          <p:cNvPr id="35" name="Rectangle 34"/>
          <p:cNvSpPr/>
          <p:nvPr/>
        </p:nvSpPr>
        <p:spPr>
          <a:xfrm>
            <a:off x="6164564" y="4526280"/>
            <a:ext cx="2739382" cy="91440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301724" y="4626864"/>
            <a:ext cx="2465062" cy="384048"/>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14</a:t>
            </a:r>
          </a:p>
        </p:txBody>
      </p:sp>
      <p:sp>
        <p:nvSpPr>
          <p:cNvPr id="37" name="TextBox 36"/>
          <p:cNvSpPr txBox="1"/>
          <p:nvPr/>
        </p:nvSpPr>
        <p:spPr>
          <a:xfrm>
            <a:off x="6301724" y="5047488"/>
            <a:ext cx="2465062" cy="310896"/>
          </a:xfrm>
          <a:prstGeom prst="rect">
            <a:avLst/>
          </a:prstGeom>
          <a:noFill/>
        </p:spPr>
        <p:txBody>
          <a:bodyPr wrap="square" lIns="0" rIns="0" tIns="0" bIns="0" anchor="t">
            <a:spAutoFit/>
          </a:bodyPr>
          <a:lstStyle/>
          <a:p>
            <a:pPr algn="l">
              <a:lnSpc>
                <a:spcPct val="105000"/>
              </a:lnSpc>
              <a:spcAft>
                <a:spcPts val="400"/>
              </a:spcAft>
            </a:pPr>
            <a:r>
              <a:rPr sz="900" b="0">
                <a:solidFill>
                  <a:srgbClr val="475569"/>
                </a:solidFill>
                <a:latin typeface="Roboto"/>
              </a:rPr>
              <a:t>tháng website không có nội dung mới</a:t>
            </a:r>
          </a:p>
        </p:txBody>
      </p:sp>
      <p:sp>
        <p:nvSpPr>
          <p:cNvPr id="38" name="Rectangle 37"/>
          <p:cNvSpPr/>
          <p:nvPr/>
        </p:nvSpPr>
        <p:spPr>
          <a:xfrm>
            <a:off x="9041107" y="4526280"/>
            <a:ext cx="2739382" cy="91440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178267" y="4626864"/>
            <a:ext cx="2465062" cy="384048"/>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30</a:t>
            </a:r>
          </a:p>
        </p:txBody>
      </p:sp>
      <p:sp>
        <p:nvSpPr>
          <p:cNvPr id="40" name="TextBox 39"/>
          <p:cNvSpPr txBox="1"/>
          <p:nvPr/>
        </p:nvSpPr>
        <p:spPr>
          <a:xfrm>
            <a:off x="9178267" y="5047488"/>
            <a:ext cx="2465062" cy="310896"/>
          </a:xfrm>
          <a:prstGeom prst="rect">
            <a:avLst/>
          </a:prstGeom>
          <a:noFill/>
        </p:spPr>
        <p:txBody>
          <a:bodyPr wrap="square" lIns="0" rIns="0" tIns="0" bIns="0" anchor="t">
            <a:spAutoFit/>
          </a:bodyPr>
          <a:lstStyle/>
          <a:p>
            <a:pPr algn="l">
              <a:lnSpc>
                <a:spcPct val="105000"/>
              </a:lnSpc>
              <a:spcAft>
                <a:spcPts val="400"/>
              </a:spcAft>
            </a:pPr>
            <a:r>
              <a:rPr sz="900" b="0">
                <a:solidFill>
                  <a:srgbClr val="475569"/>
                </a:solidFill>
                <a:latin typeface="Roboto"/>
              </a:rPr>
              <a:t>nhân sự đang gánh toàn bộ khối lượng</a:t>
            </a:r>
          </a:p>
        </p:txBody>
      </p:sp>
      <p:sp>
        <p:nvSpPr>
          <p:cNvPr id="41" name="Rectangle 40"/>
          <p:cNvSpPr/>
          <p:nvPr/>
        </p:nvSpPr>
        <p:spPr>
          <a:xfrm>
            <a:off x="411480" y="5623560"/>
            <a:ext cx="11369009" cy="384048"/>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950" b="1">
                <a:solidFill>
                  <a:srgbClr val="475569"/>
                </a:solidFill>
                <a:latin typeface="Roboto"/>
              </a:rPr>
              <a:t>Nguồn: phân tích 60 trang website kekhaithue24h.com tải về ngày 06/10/2026, dữ liệu hạ tầng check-host.net, và trao đổi trực tiếp với ATL ngày 05/10/2026.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Điểm nghẽn trong vận hành của một đại lý thuế</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Chi tiết đầy đủ ở sheet Painpoints của file 2_ATL-LAZINET-Business-Analytics.xlsx.</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5</a:t>
            </a:r>
          </a:p>
        </p:txBody>
      </p:sp>
      <p:sp>
        <p:nvSpPr>
          <p:cNvPr id="13" name="Rectangle 12"/>
          <p:cNvSpPr/>
          <p:nvPr/>
        </p:nvSpPr>
        <p:spPr>
          <a:xfrm>
            <a:off x="411480" y="1572768"/>
            <a:ext cx="227380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Nhóm nghiệp vụ</a:t>
            </a:r>
          </a:p>
        </p:txBody>
      </p:sp>
      <p:sp>
        <p:nvSpPr>
          <p:cNvPr id="14" name="Rectangle 13"/>
          <p:cNvSpPr/>
          <p:nvPr/>
        </p:nvSpPr>
        <p:spPr>
          <a:xfrm>
            <a:off x="2685281" y="1572768"/>
            <a:ext cx="5343434"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Điểm nghẽn nặng nhất</a:t>
            </a:r>
          </a:p>
        </p:txBody>
      </p:sp>
      <p:sp>
        <p:nvSpPr>
          <p:cNvPr id="15" name="Rectangle 14"/>
          <p:cNvSpPr/>
          <p:nvPr/>
        </p:nvSpPr>
        <p:spPr>
          <a:xfrm>
            <a:off x="8028716" y="1572768"/>
            <a:ext cx="125059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Mức độ</a:t>
            </a:r>
          </a:p>
        </p:txBody>
      </p:sp>
      <p:sp>
        <p:nvSpPr>
          <p:cNvPr id="16" name="Rectangle 15"/>
          <p:cNvSpPr/>
          <p:nvPr/>
        </p:nvSpPr>
        <p:spPr>
          <a:xfrm>
            <a:off x="9279307" y="1572768"/>
            <a:ext cx="250118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Lãng phí ước tính</a:t>
            </a:r>
          </a:p>
        </p:txBody>
      </p:sp>
      <p:sp>
        <p:nvSpPr>
          <p:cNvPr id="17" name="Rectangle 16"/>
          <p:cNvSpPr/>
          <p:nvPr/>
        </p:nvSpPr>
        <p:spPr>
          <a:xfrm>
            <a:off x="411480" y="1865376"/>
            <a:ext cx="2273801"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Thu nhận chứng từ</a:t>
            </a:r>
          </a:p>
        </p:txBody>
      </p:sp>
      <p:sp>
        <p:nvSpPr>
          <p:cNvPr id="18" name="Rectangle 17"/>
          <p:cNvSpPr/>
          <p:nvPr/>
        </p:nvSpPr>
        <p:spPr>
          <a:xfrm>
            <a:off x="2685281" y="1865376"/>
            <a:ext cx="5343434"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Nhập liệu thủ công từ ảnh và PDF, mỗi khách 300 tới 500 chứng từ một tháng</a:t>
            </a:r>
          </a:p>
        </p:txBody>
      </p:sp>
      <p:sp>
        <p:nvSpPr>
          <p:cNvPr id="19" name="Rectangle 18"/>
          <p:cNvSpPr/>
          <p:nvPr/>
        </p:nvSpPr>
        <p:spPr>
          <a:xfrm>
            <a:off x="8028716" y="1865376"/>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20" name="Rectangle 19"/>
          <p:cNvSpPr/>
          <p:nvPr/>
        </p:nvSpPr>
        <p:spPr>
          <a:xfrm>
            <a:off x="9279307" y="1865376"/>
            <a:ext cx="2501182"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40 tới 60% quỹ thời gian</a:t>
            </a:r>
          </a:p>
        </p:txBody>
      </p:sp>
      <p:sp>
        <p:nvSpPr>
          <p:cNvPr id="21" name="Rectangle 20"/>
          <p:cNvSpPr/>
          <p:nvPr/>
        </p:nvSpPr>
        <p:spPr>
          <a:xfrm>
            <a:off x="411480" y="2249424"/>
            <a:ext cx="2273801"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Kiểm soát hóa đơn</a:t>
            </a:r>
          </a:p>
        </p:txBody>
      </p:sp>
      <p:sp>
        <p:nvSpPr>
          <p:cNvPr id="22" name="Rectangle 21"/>
          <p:cNvSpPr/>
          <p:nvPr/>
        </p:nvSpPr>
        <p:spPr>
          <a:xfrm>
            <a:off x="2685281" y="2249424"/>
            <a:ext cx="5343434"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Bản khách gửi không khớp XML trên hệ thống thuế, trùng, thiếu, nháp vẫn ghi sổ</a:t>
            </a:r>
          </a:p>
        </p:txBody>
      </p:sp>
      <p:sp>
        <p:nvSpPr>
          <p:cNvPr id="23" name="Rectangle 22"/>
          <p:cNvSpPr/>
          <p:nvPr/>
        </p:nvSpPr>
        <p:spPr>
          <a:xfrm>
            <a:off x="8028716" y="2249424"/>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24" name="Rectangle 23"/>
          <p:cNvSpPr/>
          <p:nvPr/>
        </p:nvSpPr>
        <p:spPr>
          <a:xfrm>
            <a:off x="9279307" y="2249424"/>
            <a:ext cx="2501182"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Phạt 20 tới 50 triệu mỗi vụ</a:t>
            </a:r>
          </a:p>
        </p:txBody>
      </p:sp>
      <p:sp>
        <p:nvSpPr>
          <p:cNvPr id="25" name="Rectangle 24"/>
          <p:cNvSpPr/>
          <p:nvPr/>
        </p:nvSpPr>
        <p:spPr>
          <a:xfrm>
            <a:off x="411480" y="2633472"/>
            <a:ext cx="2273801"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Đối soát thanh toán</a:t>
            </a:r>
          </a:p>
        </p:txBody>
      </p:sp>
      <p:sp>
        <p:nvSpPr>
          <p:cNvPr id="26" name="Rectangle 25"/>
          <p:cNvSpPr/>
          <p:nvPr/>
        </p:nvSpPr>
        <p:spPr>
          <a:xfrm>
            <a:off x="2685281" y="2633472"/>
            <a:ext cx="5343434"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Mọi hóa đơn phải có chứng từ thanh toán không dùng tiền mặt, đang làm bằng Excel</a:t>
            </a:r>
          </a:p>
        </p:txBody>
      </p:sp>
      <p:sp>
        <p:nvSpPr>
          <p:cNvPr id="27" name="Rectangle 26"/>
          <p:cNvSpPr/>
          <p:nvPr/>
        </p:nvSpPr>
        <p:spPr>
          <a:xfrm>
            <a:off x="8028716" y="2633472"/>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28" name="Rectangle 27"/>
          <p:cNvSpPr/>
          <p:nvPr/>
        </p:nvSpPr>
        <p:spPr>
          <a:xfrm>
            <a:off x="9279307" y="2633472"/>
            <a:ext cx="2501182"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20 tới 30 giờ một người</a:t>
            </a:r>
          </a:p>
        </p:txBody>
      </p:sp>
      <p:sp>
        <p:nvSpPr>
          <p:cNvPr id="29" name="Rectangle 28"/>
          <p:cNvSpPr/>
          <p:nvPr/>
        </p:nvSpPr>
        <p:spPr>
          <a:xfrm>
            <a:off x="411480" y="3017520"/>
            <a:ext cx="2273801"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Lịch tuân thủ</a:t>
            </a:r>
          </a:p>
        </p:txBody>
      </p:sp>
      <p:sp>
        <p:nvSpPr>
          <p:cNvPr id="30" name="Rectangle 29"/>
          <p:cNvSpPr/>
          <p:nvPr/>
        </p:nvSpPr>
        <p:spPr>
          <a:xfrm>
            <a:off x="2685281" y="3017520"/>
            <a:ext cx="5343434"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Hàng trăm hạn nộp theo dõi bằng Excel và bằng trí nhớ</a:t>
            </a:r>
          </a:p>
        </p:txBody>
      </p:sp>
      <p:sp>
        <p:nvSpPr>
          <p:cNvPr id="31" name="Rectangle 30"/>
          <p:cNvSpPr/>
          <p:nvPr/>
        </p:nvSpPr>
        <p:spPr>
          <a:xfrm>
            <a:off x="8028716" y="3017520"/>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32" name="Rectangle 31"/>
          <p:cNvSpPr/>
          <p:nvPr/>
        </p:nvSpPr>
        <p:spPr>
          <a:xfrm>
            <a:off x="9279307" y="3017520"/>
            <a:ext cx="2501182"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Phạt 2 tới 25 triệu mỗi lần</a:t>
            </a:r>
          </a:p>
        </p:txBody>
      </p:sp>
      <p:sp>
        <p:nvSpPr>
          <p:cNvPr id="33" name="Rectangle 32"/>
          <p:cNvSpPr/>
          <p:nvPr/>
        </p:nvSpPr>
        <p:spPr>
          <a:xfrm>
            <a:off x="411480" y="3401568"/>
            <a:ext cx="2273801"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Soát xét chất lượng</a:t>
            </a:r>
          </a:p>
        </p:txBody>
      </p:sp>
      <p:sp>
        <p:nvSpPr>
          <p:cNvPr id="34" name="Rectangle 33"/>
          <p:cNvSpPr/>
          <p:nvPr/>
        </p:nvSpPr>
        <p:spPr>
          <a:xfrm>
            <a:off x="2685281" y="3401568"/>
            <a:ext cx="5343434"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Toàn bộ hồ sơ dồn lên kế toán trưởng và giám đốc</a:t>
            </a:r>
          </a:p>
        </p:txBody>
      </p:sp>
      <p:sp>
        <p:nvSpPr>
          <p:cNvPr id="35" name="Rectangle 34"/>
          <p:cNvSpPr/>
          <p:nvPr/>
        </p:nvSpPr>
        <p:spPr>
          <a:xfrm>
            <a:off x="8028716" y="3401568"/>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36" name="Rectangle 35"/>
          <p:cNvSpPr/>
          <p:nvPr/>
        </p:nvSpPr>
        <p:spPr>
          <a:xfrm>
            <a:off x="9279307" y="3401568"/>
            <a:ext cx="2501182"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Giám đốc mất 30 tới 50% thời gian</a:t>
            </a:r>
          </a:p>
        </p:txBody>
      </p:sp>
      <p:sp>
        <p:nvSpPr>
          <p:cNvPr id="37" name="Rectangle 36"/>
          <p:cNvSpPr/>
          <p:nvPr/>
        </p:nvSpPr>
        <p:spPr>
          <a:xfrm>
            <a:off x="411480" y="3785615"/>
            <a:ext cx="2273801"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Nhân sự và tri thức</a:t>
            </a:r>
          </a:p>
        </p:txBody>
      </p:sp>
      <p:sp>
        <p:nvSpPr>
          <p:cNvPr id="38" name="Rectangle 37"/>
          <p:cNvSpPr/>
          <p:nvPr/>
        </p:nvSpPr>
        <p:spPr>
          <a:xfrm>
            <a:off x="2685281" y="3785615"/>
            <a:ext cx="5343434"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Tri thức nằm trong đầu vài người, một người nghỉ là mất khách</a:t>
            </a:r>
          </a:p>
        </p:txBody>
      </p:sp>
      <p:sp>
        <p:nvSpPr>
          <p:cNvPr id="39" name="Rectangle 38"/>
          <p:cNvSpPr/>
          <p:nvPr/>
        </p:nvSpPr>
        <p:spPr>
          <a:xfrm>
            <a:off x="8028716" y="3785615"/>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40" name="Rectangle 39"/>
          <p:cNvSpPr/>
          <p:nvPr/>
        </p:nvSpPr>
        <p:spPr>
          <a:xfrm>
            <a:off x="9279307" y="3785615"/>
            <a:ext cx="2501182"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40 tới 80 triệu mỗi lần thay người</a:t>
            </a:r>
          </a:p>
        </p:txBody>
      </p:sp>
      <p:sp>
        <p:nvSpPr>
          <p:cNvPr id="41" name="Rectangle 40"/>
          <p:cNvSpPr/>
          <p:nvPr/>
        </p:nvSpPr>
        <p:spPr>
          <a:xfrm>
            <a:off x="411480" y="4169663"/>
            <a:ext cx="2273801"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Điều hành</a:t>
            </a:r>
          </a:p>
        </p:txBody>
      </p:sp>
      <p:sp>
        <p:nvSpPr>
          <p:cNvPr id="42" name="Rectangle 41"/>
          <p:cNvSpPr/>
          <p:nvPr/>
        </p:nvSpPr>
        <p:spPr>
          <a:xfrm>
            <a:off x="2685281" y="4169663"/>
            <a:ext cx="5343434"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Không có số liệu thời gian thực về hồ sơ trễ, tải việc, lãi lỗ theo khách</a:t>
            </a:r>
          </a:p>
        </p:txBody>
      </p:sp>
      <p:sp>
        <p:nvSpPr>
          <p:cNvPr id="43" name="Rectangle 42"/>
          <p:cNvSpPr/>
          <p:nvPr/>
        </p:nvSpPr>
        <p:spPr>
          <a:xfrm>
            <a:off x="8028716" y="4169663"/>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44" name="Rectangle 43"/>
          <p:cNvSpPr/>
          <p:nvPr/>
        </p:nvSpPr>
        <p:spPr>
          <a:xfrm>
            <a:off x="9279307" y="4169663"/>
            <a:ext cx="2501182"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Quyết định chậm và theo cảm tính</a:t>
            </a:r>
          </a:p>
        </p:txBody>
      </p:sp>
      <p:sp>
        <p:nvSpPr>
          <p:cNvPr id="45" name="Rectangle 44"/>
          <p:cNvSpPr/>
          <p:nvPr/>
        </p:nvSpPr>
        <p:spPr>
          <a:xfrm>
            <a:off x="411480" y="4553712"/>
            <a:ext cx="2273801"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Dữ liệu và tuân thủ</a:t>
            </a:r>
          </a:p>
        </p:txBody>
      </p:sp>
      <p:sp>
        <p:nvSpPr>
          <p:cNvPr id="46" name="Rectangle 45"/>
          <p:cNvSpPr/>
          <p:nvPr/>
        </p:nvSpPr>
        <p:spPr>
          <a:xfrm>
            <a:off x="2685281" y="4553712"/>
            <a:ext cx="5343434"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Dữ liệu khách nằm trên máy cá nhân và USB, chưa sẵn sàng cho luật mới</a:t>
            </a:r>
          </a:p>
        </p:txBody>
      </p:sp>
      <p:sp>
        <p:nvSpPr>
          <p:cNvPr id="47" name="Rectangle 46"/>
          <p:cNvSpPr/>
          <p:nvPr/>
        </p:nvSpPr>
        <p:spPr>
          <a:xfrm>
            <a:off x="8028716" y="4553712"/>
            <a:ext cx="1250591" cy="384048"/>
          </a:xfrm>
          <a:prstGeom prst="rect">
            <a:avLst/>
          </a:prstGeom>
          <a:solidFill>
            <a:srgbClr val="FDEBE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D81F26"/>
                </a:solidFill>
                <a:latin typeface="Roboto"/>
              </a:rPr>
              <a:t>Rất cao</a:t>
            </a:r>
          </a:p>
        </p:txBody>
      </p:sp>
      <p:sp>
        <p:nvSpPr>
          <p:cNvPr id="48" name="Rectangle 47"/>
          <p:cNvSpPr/>
          <p:nvPr/>
        </p:nvSpPr>
        <p:spPr>
          <a:xfrm>
            <a:off x="9279307" y="4553712"/>
            <a:ext cx="2501182" cy="384048"/>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Rủi ro pháp lý và uy tín</a:t>
            </a:r>
          </a:p>
        </p:txBody>
      </p:sp>
      <p:sp>
        <p:nvSpPr>
          <p:cNvPr id="49" name="Rectangle 48"/>
          <p:cNvSpPr/>
          <p:nvPr/>
        </p:nvSpPr>
        <p:spPr>
          <a:xfrm>
            <a:off x="411480" y="4937759"/>
            <a:ext cx="2273801"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hàng</a:t>
            </a:r>
          </a:p>
        </p:txBody>
      </p:sp>
      <p:sp>
        <p:nvSpPr>
          <p:cNvPr id="50" name="Rectangle 49"/>
          <p:cNvSpPr/>
          <p:nvPr/>
        </p:nvSpPr>
        <p:spPr>
          <a:xfrm>
            <a:off x="2685281" y="4937759"/>
            <a:ext cx="5343434"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Giá không gắn khối lượng thực, khách hỏi trạng thái bằng tin nhắn</a:t>
            </a:r>
          </a:p>
        </p:txBody>
      </p:sp>
      <p:sp>
        <p:nvSpPr>
          <p:cNvPr id="51" name="Rectangle 50"/>
          <p:cNvSpPr/>
          <p:nvPr/>
        </p:nvSpPr>
        <p:spPr>
          <a:xfrm>
            <a:off x="8028716" y="4937759"/>
            <a:ext cx="1250591" cy="384048"/>
          </a:xfrm>
          <a:prstGeom prst="rect">
            <a:avLst/>
          </a:prstGeom>
          <a:solidFill>
            <a:srgbClr val="FEF6E7"/>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B7791F"/>
                </a:solidFill>
                <a:latin typeface="Roboto"/>
              </a:rPr>
              <a:t>Cao</a:t>
            </a:r>
          </a:p>
        </p:txBody>
      </p:sp>
      <p:sp>
        <p:nvSpPr>
          <p:cNvPr id="52" name="Rectangle 51"/>
          <p:cNvSpPr/>
          <p:nvPr/>
        </p:nvSpPr>
        <p:spPr>
          <a:xfrm>
            <a:off x="9279307" y="4937759"/>
            <a:ext cx="2501182" cy="384048"/>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Lệch biên lợi nhuận 20 tới 40%</a:t>
            </a:r>
          </a:p>
        </p:txBody>
      </p:sp>
      <p:sp>
        <p:nvSpPr>
          <p:cNvPr id="53" name="Rectangle 52"/>
          <p:cNvSpPr/>
          <p:nvPr/>
        </p:nvSpPr>
        <p:spPr>
          <a:xfrm>
            <a:off x="411480" y="5669280"/>
            <a:ext cx="11369009" cy="384048"/>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0B3A8F"/>
                </a:solidFill>
                <a:latin typeface="Roboto"/>
              </a:rPr>
              <a:t>Điểm chung của cả chín nhóm: khối lượng tăng nhưng cách làm không đổi. Mọi nỗ lực cải thiện bằng cách yêu cầu nhân viên cố gắng hơn đều đã tới giới hạn.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Website hiện tại không tạo ra khách hàng</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kekhaithue24h.com, kiểm chứng bằng bản sao toàn bộ website tải về ngày 06/10/2026.</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6</a:t>
            </a:r>
          </a:p>
        </p:txBody>
      </p:sp>
      <p:sp>
        <p:nvSpPr>
          <p:cNvPr id="13" name="Rectangle 12"/>
          <p:cNvSpPr/>
          <p:nvPr/>
        </p:nvSpPr>
        <p:spPr>
          <a:xfrm>
            <a:off x="411480" y="1572768"/>
            <a:ext cx="250118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Hạng mục</a:t>
            </a:r>
          </a:p>
        </p:txBody>
      </p:sp>
      <p:sp>
        <p:nvSpPr>
          <p:cNvPr id="14" name="Rectangle 13"/>
          <p:cNvSpPr/>
          <p:nvPr/>
        </p:nvSpPr>
        <p:spPr>
          <a:xfrm>
            <a:off x="2912662" y="1572768"/>
            <a:ext cx="5229744"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Hiện trạng kiểm chứng được</a:t>
            </a:r>
          </a:p>
        </p:txBody>
      </p:sp>
      <p:sp>
        <p:nvSpPr>
          <p:cNvPr id="15" name="Rectangle 14"/>
          <p:cNvSpPr/>
          <p:nvPr/>
        </p:nvSpPr>
        <p:spPr>
          <a:xfrm>
            <a:off x="8142406" y="1572768"/>
            <a:ext cx="3638083"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Tác động</a:t>
            </a:r>
          </a:p>
        </p:txBody>
      </p:sp>
      <p:sp>
        <p:nvSpPr>
          <p:cNvPr id="16" name="Rectangle 15"/>
          <p:cNvSpPr/>
          <p:nvPr/>
        </p:nvSpPr>
        <p:spPr>
          <a:xfrm>
            <a:off x="411480" y="1865376"/>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Thẻ tiêu đề và mô tả</a:t>
            </a:r>
          </a:p>
        </p:txBody>
      </p:sp>
      <p:sp>
        <p:nvSpPr>
          <p:cNvPr id="17" name="Rectangle 16"/>
          <p:cNvSpPr/>
          <p:nvPr/>
        </p:nvSpPr>
        <p:spPr>
          <a:xfrm>
            <a:off x="2912662" y="1865376"/>
            <a:ext cx="522974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Trang chủ có thẻ tiêu đề rỗng, mô tả rỗng, từ khóa rỗng</a:t>
            </a:r>
          </a:p>
        </p:txBody>
      </p:sp>
      <p:sp>
        <p:nvSpPr>
          <p:cNvPr id="18" name="Rectangle 17"/>
          <p:cNvSpPr/>
          <p:nvPr/>
        </p:nvSpPr>
        <p:spPr>
          <a:xfrm>
            <a:off x="8142406" y="1865376"/>
            <a:ext cx="3638083"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Gần như không thể lên thứ hạng tìm kiếm</a:t>
            </a:r>
          </a:p>
        </p:txBody>
      </p:sp>
      <p:sp>
        <p:nvSpPr>
          <p:cNvPr id="19" name="Rectangle 18"/>
          <p:cNvSpPr/>
          <p:nvPr/>
        </p:nvSpPr>
        <p:spPr>
          <a:xfrm>
            <a:off x="411480" y="223113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Chia sẻ Zalo và Facebook</a:t>
            </a:r>
          </a:p>
        </p:txBody>
      </p:sp>
      <p:sp>
        <p:nvSpPr>
          <p:cNvPr id="20" name="Rectangle 19"/>
          <p:cNvSpPr/>
          <p:nvPr/>
        </p:nvSpPr>
        <p:spPr>
          <a:xfrm>
            <a:off x="2912662" y="2231136"/>
            <a:ext cx="522974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Toàn bộ thẻ Open Graph để trống, không tiêu đề, không ảnh</a:t>
            </a:r>
          </a:p>
        </p:txBody>
      </p:sp>
      <p:sp>
        <p:nvSpPr>
          <p:cNvPr id="21" name="Rectangle 20"/>
          <p:cNvSpPr/>
          <p:nvPr/>
        </p:nvSpPr>
        <p:spPr>
          <a:xfrm>
            <a:off x="8142406" y="2231136"/>
            <a:ext cx="3638083"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Dán liên kết lên Zalo hiện ra ô trắng</a:t>
            </a:r>
          </a:p>
        </p:txBody>
      </p:sp>
      <p:sp>
        <p:nvSpPr>
          <p:cNvPr id="22" name="Rectangle 21"/>
          <p:cNvSpPr/>
          <p:nvPr/>
        </p:nvSpPr>
        <p:spPr>
          <a:xfrm>
            <a:off x="411480" y="2596896"/>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Nội dung</a:t>
            </a:r>
          </a:p>
        </p:txBody>
      </p:sp>
      <p:sp>
        <p:nvSpPr>
          <p:cNvPr id="23" name="Rectangle 22"/>
          <p:cNvSpPr/>
          <p:nvPr/>
        </p:nvSpPr>
        <p:spPr>
          <a:xfrm>
            <a:off x="2912662" y="2596896"/>
            <a:ext cx="522974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Bài mới nhất ghi ngày 04/8/2025, không có bài nào trong 14 tháng</a:t>
            </a:r>
          </a:p>
        </p:txBody>
      </p:sp>
      <p:sp>
        <p:nvSpPr>
          <p:cNvPr id="24" name="Rectangle 23"/>
          <p:cNvSpPr/>
          <p:nvPr/>
        </p:nvSpPr>
        <p:spPr>
          <a:xfrm>
            <a:off x="8142406" y="2596896"/>
            <a:ext cx="3638083"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tra chính sách 2026 không tìm thấy gì</a:t>
            </a:r>
          </a:p>
        </p:txBody>
      </p:sp>
      <p:sp>
        <p:nvSpPr>
          <p:cNvPr id="25" name="Rectangle 24"/>
          <p:cNvSpPr/>
          <p:nvPr/>
        </p:nvSpPr>
        <p:spPr>
          <a:xfrm>
            <a:off x="411480" y="296265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Trang Báo giá</a:t>
            </a:r>
          </a:p>
        </p:txBody>
      </p:sp>
      <p:sp>
        <p:nvSpPr>
          <p:cNvPr id="26" name="Rectangle 25"/>
          <p:cNvSpPr/>
          <p:nvPr/>
        </p:nvSpPr>
        <p:spPr>
          <a:xfrm>
            <a:off x="2912662" y="2962656"/>
            <a:ext cx="522974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Có trong trình đơn nhưng không có nội dung</a:t>
            </a:r>
          </a:p>
        </p:txBody>
      </p:sp>
      <p:sp>
        <p:nvSpPr>
          <p:cNvPr id="27" name="Rectangle 26"/>
          <p:cNvSpPr/>
          <p:nvPr/>
        </p:nvSpPr>
        <p:spPr>
          <a:xfrm>
            <a:off x="8142406" y="2962656"/>
            <a:ext cx="3638083"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Mất đầu mối đúng lúc khách sẵn sàng nhất</a:t>
            </a:r>
          </a:p>
        </p:txBody>
      </p:sp>
      <p:sp>
        <p:nvSpPr>
          <p:cNvPr id="28" name="Rectangle 27"/>
          <p:cNvSpPr/>
          <p:nvPr/>
        </p:nvSpPr>
        <p:spPr>
          <a:xfrm>
            <a:off x="411480" y="3328415"/>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Nội dung mẫu còn sót</a:t>
            </a:r>
          </a:p>
        </p:txBody>
      </p:sp>
      <p:sp>
        <p:nvSpPr>
          <p:cNvPr id="29" name="Rectangle 28"/>
          <p:cNvSpPr/>
          <p:nvPr/>
        </p:nvSpPr>
        <p:spPr>
          <a:xfrm>
            <a:off x="2912662" y="3328415"/>
            <a:ext cx="522974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Dịch vụ số 06 vẫn ghi TÊN DỊCH VỤ CỦA QUÝ KHÁCH</a:t>
            </a:r>
          </a:p>
        </p:txBody>
      </p:sp>
      <p:sp>
        <p:nvSpPr>
          <p:cNvPr id="30" name="Rectangle 29"/>
          <p:cNvSpPr/>
          <p:nvPr/>
        </p:nvSpPr>
        <p:spPr>
          <a:xfrm>
            <a:off x="8142406" y="3328415"/>
            <a:ext cx="3638083"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nghi ngờ năng lực của công ty</a:t>
            </a:r>
          </a:p>
        </p:txBody>
      </p:sp>
      <p:sp>
        <p:nvSpPr>
          <p:cNvPr id="31" name="Rectangle 30"/>
          <p:cNvSpPr/>
          <p:nvPr/>
        </p:nvSpPr>
        <p:spPr>
          <a:xfrm>
            <a:off x="411480" y="369417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Lỗi thương hiệu</a:t>
            </a:r>
          </a:p>
        </p:txBody>
      </p:sp>
      <p:sp>
        <p:nvSpPr>
          <p:cNvPr id="32" name="Rectangle 31"/>
          <p:cNvSpPr/>
          <p:nvPr/>
        </p:nvSpPr>
        <p:spPr>
          <a:xfrm>
            <a:off x="2912662" y="3694176"/>
            <a:ext cx="522974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Chân trang mọi trang ghi Bản quyền thuộc về ALT và Desgin by</a:t>
            </a:r>
          </a:p>
        </p:txBody>
      </p:sp>
      <p:sp>
        <p:nvSpPr>
          <p:cNvPr id="33" name="Rectangle 32"/>
          <p:cNvSpPr/>
          <p:nvPr/>
        </p:nvSpPr>
        <p:spPr>
          <a:xfrm>
            <a:off x="8142406" y="3694176"/>
            <a:ext cx="3638083"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Lỗi niềm tin với công ty bán sự chính xác</a:t>
            </a:r>
          </a:p>
        </p:txBody>
      </p:sp>
      <p:sp>
        <p:nvSpPr>
          <p:cNvPr id="34" name="Rectangle 33"/>
          <p:cNvSpPr/>
          <p:nvPr/>
        </p:nvSpPr>
        <p:spPr>
          <a:xfrm>
            <a:off x="411480" y="4059936"/>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Dấu vết mẫu sai ngành</a:t>
            </a:r>
          </a:p>
        </p:txBody>
      </p:sp>
      <p:sp>
        <p:nvSpPr>
          <p:cNvPr id="35" name="Rectangle 34"/>
          <p:cNvSpPr/>
          <p:nvPr/>
        </p:nvSpPr>
        <p:spPr>
          <a:xfrm>
            <a:off x="2912662" y="4059936"/>
            <a:ext cx="522974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Còn nguyên hộp Đặt lịch với ô Ngày khám, Giờ khám, và Giỏ hàng</a:t>
            </a:r>
          </a:p>
        </p:txBody>
      </p:sp>
      <p:sp>
        <p:nvSpPr>
          <p:cNvPr id="36" name="Rectangle 35"/>
          <p:cNvSpPr/>
          <p:nvPr/>
        </p:nvSpPr>
        <p:spPr>
          <a:xfrm>
            <a:off x="8142406" y="4059936"/>
            <a:ext cx="3638083"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Website chưa từng được dựng riêng cho ATL</a:t>
            </a:r>
          </a:p>
        </p:txBody>
      </p:sp>
      <p:sp>
        <p:nvSpPr>
          <p:cNvPr id="37" name="Rectangle 36"/>
          <p:cNvSpPr/>
          <p:nvPr/>
        </p:nvSpPr>
        <p:spPr>
          <a:xfrm>
            <a:off x="411480" y="442569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Ảnh hỏng</a:t>
            </a:r>
          </a:p>
        </p:txBody>
      </p:sp>
      <p:sp>
        <p:nvSpPr>
          <p:cNvPr id="38" name="Rectangle 37"/>
          <p:cNvSpPr/>
          <p:nvPr/>
        </p:nvSpPr>
        <p:spPr>
          <a:xfrm>
            <a:off x="2912662" y="4425696"/>
            <a:ext cx="522974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Ảnh hoạt động trỏ về máy chủ demo của đơn vị thiết kế, trả về lỗi 404</a:t>
            </a:r>
          </a:p>
        </p:txBody>
      </p:sp>
      <p:sp>
        <p:nvSpPr>
          <p:cNvPr id="39" name="Rectangle 38"/>
          <p:cNvSpPr/>
          <p:nvPr/>
        </p:nvSpPr>
        <p:spPr>
          <a:xfrm>
            <a:off x="8142406" y="4425696"/>
            <a:ext cx="3638083"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Trang Hoạt động và Sơ đồ tổ chức bị trống</a:t>
            </a:r>
          </a:p>
        </p:txBody>
      </p:sp>
      <p:sp>
        <p:nvSpPr>
          <p:cNvPr id="40" name="Rectangle 39"/>
          <p:cNvSpPr/>
          <p:nvPr/>
        </p:nvSpPr>
        <p:spPr>
          <a:xfrm>
            <a:off x="411480" y="4791456"/>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Hiệu năng</a:t>
            </a:r>
          </a:p>
        </p:txBody>
      </p:sp>
      <p:sp>
        <p:nvSpPr>
          <p:cNvPr id="41" name="Rectangle 40"/>
          <p:cNvSpPr/>
          <p:nvPr/>
        </p:nvSpPr>
        <p:spPr>
          <a:xfrm>
            <a:off x="2912662" y="4791456"/>
            <a:ext cx="522974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21 tệp JavaScript và 19 tệp CSS riêng lẻ, Bootstrap bản năm 2021</a:t>
            </a:r>
          </a:p>
        </p:txBody>
      </p:sp>
      <p:sp>
        <p:nvSpPr>
          <p:cNvPr id="42" name="Rectangle 41"/>
          <p:cNvSpPr/>
          <p:nvPr/>
        </p:nvSpPr>
        <p:spPr>
          <a:xfrm>
            <a:off x="8142406" y="4791456"/>
            <a:ext cx="3638083"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Chậm trên mạng di động, nơi phần lớn khách vào</a:t>
            </a:r>
          </a:p>
        </p:txBody>
      </p:sp>
      <p:sp>
        <p:nvSpPr>
          <p:cNvPr id="43" name="Rectangle 42"/>
          <p:cNvSpPr/>
          <p:nvPr/>
        </p:nvSpPr>
        <p:spPr>
          <a:xfrm>
            <a:off x="411480" y="515721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Vùng phục vụ</a:t>
            </a:r>
          </a:p>
        </p:txBody>
      </p:sp>
      <p:sp>
        <p:nvSpPr>
          <p:cNvPr id="44" name="Rectangle 43"/>
          <p:cNvSpPr/>
          <p:nvPr/>
        </p:nvSpPr>
        <p:spPr>
          <a:xfrm>
            <a:off x="2912662" y="5157216"/>
            <a:ext cx="522974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Một máy chủ tại TP. HCM, không dùng mạng phân phối nội dung</a:t>
            </a:r>
          </a:p>
        </p:txBody>
      </p:sp>
      <p:sp>
        <p:nvSpPr>
          <p:cNvPr id="45" name="Rectangle 44"/>
          <p:cNvSpPr/>
          <p:nvPr/>
        </p:nvSpPr>
        <p:spPr>
          <a:xfrm>
            <a:off x="8142406" y="5157216"/>
            <a:ext cx="3638083"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quốc tế 200 tới 360 ms, trong khi ATL nói hoạt động 20 quốc gia</a:t>
            </a:r>
          </a:p>
        </p:txBody>
      </p:sp>
      <p:sp>
        <p:nvSpPr>
          <p:cNvPr id="46" name="Rectangle 45"/>
          <p:cNvSpPr/>
          <p:nvPr/>
        </p:nvSpPr>
        <p:spPr>
          <a:xfrm>
            <a:off x="411480" y="5669280"/>
            <a:ext cx="11369009" cy="384048"/>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0B3A8F"/>
                </a:solidFill>
                <a:latin typeface="Roboto"/>
              </a:rPr>
              <a:t>Phần lớn là lỗi nền tảng, không phải lỗi nội dung. Sửa từng lỗi trên nền cũ tốn công hơn là dựng lại trên nền mới, và nền mới đi kèm luôn cổng khách hàng cùng hệ thống vận hành.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Kinh tế học của một chứng từ</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Đây là con số gốc của toàn bộ đề xuất. Mọi phép tính tiết kiệm phía sau đều quy về đây.</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7</a:t>
            </a:r>
          </a:p>
        </p:txBody>
      </p:sp>
      <p:sp>
        <p:nvSpPr>
          <p:cNvPr id="13" name="Rectangle 12"/>
          <p:cNvSpPr/>
          <p:nvPr/>
        </p:nvSpPr>
        <p:spPr>
          <a:xfrm>
            <a:off x="411480" y="1627632"/>
            <a:ext cx="5547344" cy="1920240"/>
          </a:xfrm>
          <a:prstGeom prst="rect">
            <a:avLst/>
          </a:prstGeom>
          <a:solidFill>
            <a:srgbClr val="FDEBEC"/>
          </a:solidFill>
          <a:ln w="9525">
            <a:solidFill>
              <a:srgbClr val="D81F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9224" y="1783080"/>
            <a:ext cx="3657600" cy="237744"/>
          </a:xfrm>
          <a:prstGeom prst="rect">
            <a:avLst/>
          </a:prstGeom>
          <a:noFill/>
        </p:spPr>
        <p:txBody>
          <a:bodyPr wrap="square" lIns="0" rIns="0" tIns="0" bIns="0" anchor="t">
            <a:spAutoFit/>
          </a:bodyPr>
          <a:lstStyle/>
          <a:p>
            <a:pPr algn="l">
              <a:lnSpc>
                <a:spcPct val="100000"/>
              </a:lnSpc>
              <a:spcAft>
                <a:spcPts val="400"/>
              </a:spcAft>
            </a:pPr>
            <a:r>
              <a:rPr sz="950" b="1">
                <a:solidFill>
                  <a:srgbClr val="D81F26"/>
                </a:solidFill>
                <a:latin typeface="Roboto"/>
              </a:rPr>
              <a:t>CÁCH LÀM HIỆN NAY</a:t>
            </a:r>
          </a:p>
        </p:txBody>
      </p:sp>
      <p:sp>
        <p:nvSpPr>
          <p:cNvPr id="15" name="TextBox 14"/>
          <p:cNvSpPr txBox="1"/>
          <p:nvPr/>
        </p:nvSpPr>
        <p:spPr>
          <a:xfrm>
            <a:off x="649224" y="2029968"/>
            <a:ext cx="5120640" cy="640080"/>
          </a:xfrm>
          <a:prstGeom prst="rect">
            <a:avLst/>
          </a:prstGeom>
          <a:noFill/>
        </p:spPr>
        <p:txBody>
          <a:bodyPr wrap="square" lIns="0" rIns="0" tIns="0" bIns="0" anchor="t">
            <a:spAutoFit/>
          </a:bodyPr>
          <a:lstStyle/>
          <a:p>
            <a:pPr algn="l">
              <a:lnSpc>
                <a:spcPct val="100000"/>
              </a:lnSpc>
              <a:spcAft>
                <a:spcPts val="400"/>
              </a:spcAft>
            </a:pPr>
            <a:r>
              <a:rPr sz="3600" b="1">
                <a:solidFill>
                  <a:srgbClr val="D81F26"/>
                </a:solidFill>
                <a:latin typeface="Roboto"/>
              </a:rPr>
              <a:t>3.182 đồng</a:t>
            </a:r>
          </a:p>
        </p:txBody>
      </p:sp>
      <p:sp>
        <p:nvSpPr>
          <p:cNvPr id="16" name="TextBox 15"/>
          <p:cNvSpPr txBox="1"/>
          <p:nvPr/>
        </p:nvSpPr>
        <p:spPr>
          <a:xfrm>
            <a:off x="649224" y="2724912"/>
            <a:ext cx="5120640" cy="731520"/>
          </a:xfrm>
          <a:prstGeom prst="rect">
            <a:avLst/>
          </a:prstGeom>
          <a:noFill/>
        </p:spPr>
        <p:txBody>
          <a:bodyPr wrap="square" lIns="0" rIns="0" tIns="0" bIns="0" anchor="t">
            <a:spAutoFit/>
          </a:bodyPr>
          <a:lstStyle/>
          <a:p>
            <a:pPr algn="l">
              <a:lnSpc>
                <a:spcPct val="120000"/>
              </a:lnSpc>
              <a:spcAft>
                <a:spcPts val="400"/>
              </a:spcAft>
            </a:pPr>
            <a:r>
              <a:rPr sz="1050" b="0">
                <a:solidFill>
                  <a:srgbClr val="475569"/>
                </a:solidFill>
                <a:latin typeface="Roboto"/>
              </a:rPr>
              <a:t>mỗi chứng từ. Năng suất 25 chứng từ một giờ, chi phí sử dụng lao động 14 triệu đồng một tháng.</a:t>
            </a:r>
          </a:p>
          <a:p>
            <a:pPr algn="l">
              <a:lnSpc>
                <a:spcPct val="120000"/>
              </a:lnSpc>
              <a:spcAft>
                <a:spcPts val="400"/>
              </a:spcAft>
            </a:pPr>
            <a:r>
              <a:rPr sz="1050" b="1">
                <a:solidFill>
                  <a:srgbClr val="111827"/>
                </a:solidFill>
                <a:latin typeface="Roboto"/>
              </a:rPr>
              <a:t>35.000 chứng từ mỗi tháng tương đương 111,4 triệu đồng, khoảng 8,0 nhân sự toàn thời gian.</a:t>
            </a:r>
          </a:p>
        </p:txBody>
      </p:sp>
      <p:sp>
        <p:nvSpPr>
          <p:cNvPr id="17" name="Rectangle 16"/>
          <p:cNvSpPr/>
          <p:nvPr/>
        </p:nvSpPr>
        <p:spPr>
          <a:xfrm>
            <a:off x="6233144" y="1627632"/>
            <a:ext cx="5547344" cy="1920240"/>
          </a:xfrm>
          <a:prstGeom prst="rect">
            <a:avLst/>
          </a:prstGeom>
          <a:solidFill>
            <a:srgbClr val="E8F5EE"/>
          </a:solidFill>
          <a:ln w="9525">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70888" y="1783080"/>
            <a:ext cx="3657600" cy="237744"/>
          </a:xfrm>
          <a:prstGeom prst="rect">
            <a:avLst/>
          </a:prstGeom>
          <a:noFill/>
        </p:spPr>
        <p:txBody>
          <a:bodyPr wrap="square" lIns="0" rIns="0" tIns="0" bIns="0" anchor="t">
            <a:spAutoFit/>
          </a:bodyPr>
          <a:lstStyle/>
          <a:p>
            <a:pPr algn="l">
              <a:lnSpc>
                <a:spcPct val="100000"/>
              </a:lnSpc>
              <a:spcAft>
                <a:spcPts val="400"/>
              </a:spcAft>
            </a:pPr>
            <a:r>
              <a:rPr sz="950" b="1">
                <a:solidFill>
                  <a:srgbClr val="1E7F4F"/>
                </a:solidFill>
                <a:latin typeface="Roboto"/>
              </a:rPr>
              <a:t>QUA HỆ THỐNG LAZINET</a:t>
            </a:r>
          </a:p>
        </p:txBody>
      </p:sp>
      <p:sp>
        <p:nvSpPr>
          <p:cNvPr id="19" name="TextBox 18"/>
          <p:cNvSpPr txBox="1"/>
          <p:nvPr/>
        </p:nvSpPr>
        <p:spPr>
          <a:xfrm>
            <a:off x="6470888" y="2029968"/>
            <a:ext cx="5120640" cy="640080"/>
          </a:xfrm>
          <a:prstGeom prst="rect">
            <a:avLst/>
          </a:prstGeom>
          <a:noFill/>
        </p:spPr>
        <p:txBody>
          <a:bodyPr wrap="square" lIns="0" rIns="0" tIns="0" bIns="0" anchor="t">
            <a:spAutoFit/>
          </a:bodyPr>
          <a:lstStyle/>
          <a:p>
            <a:pPr algn="l">
              <a:lnSpc>
                <a:spcPct val="100000"/>
              </a:lnSpc>
              <a:spcAft>
                <a:spcPts val="400"/>
              </a:spcAft>
            </a:pPr>
            <a:r>
              <a:rPr sz="3600" b="1">
                <a:solidFill>
                  <a:srgbClr val="1E7F4F"/>
                </a:solidFill>
                <a:latin typeface="Roboto"/>
              </a:rPr>
              <a:t>146 đồng</a:t>
            </a:r>
          </a:p>
        </p:txBody>
      </p:sp>
      <p:sp>
        <p:nvSpPr>
          <p:cNvPr id="20" name="TextBox 19"/>
          <p:cNvSpPr txBox="1"/>
          <p:nvPr/>
        </p:nvSpPr>
        <p:spPr>
          <a:xfrm>
            <a:off x="6470888" y="2724912"/>
            <a:ext cx="5120640" cy="731520"/>
          </a:xfrm>
          <a:prstGeom prst="rect">
            <a:avLst/>
          </a:prstGeom>
          <a:noFill/>
        </p:spPr>
        <p:txBody>
          <a:bodyPr wrap="square" lIns="0" rIns="0" tIns="0" bIns="0" anchor="t">
            <a:spAutoFit/>
          </a:bodyPr>
          <a:lstStyle/>
          <a:p>
            <a:pPr algn="l">
              <a:lnSpc>
                <a:spcPct val="120000"/>
              </a:lnSpc>
              <a:spcAft>
                <a:spcPts val="400"/>
              </a:spcAft>
            </a:pPr>
            <a:r>
              <a:rPr sz="1050" b="0">
                <a:solidFill>
                  <a:srgbClr val="475569"/>
                </a:solidFill>
                <a:latin typeface="Roboto"/>
              </a:rPr>
              <a:t>66 đồng chi phí mô hình AI cộng 80 đồng chi phí soát. Người chỉ soát khoảng 20% số chứng từ.</a:t>
            </a:r>
          </a:p>
          <a:p>
            <a:pPr algn="l">
              <a:lnSpc>
                <a:spcPct val="120000"/>
              </a:lnSpc>
              <a:spcAft>
                <a:spcPts val="400"/>
              </a:spcAft>
            </a:pPr>
            <a:r>
              <a:rPr sz="1050" b="1">
                <a:solidFill>
                  <a:srgbClr val="111827"/>
                </a:solidFill>
                <a:latin typeface="Roboto"/>
              </a:rPr>
              <a:t>35.000 chứng từ mỗi tháng tương đương 5,1 triệu đồng, khoảng 0,2 nhân sự.</a:t>
            </a:r>
          </a:p>
        </p:txBody>
      </p:sp>
      <p:sp>
        <p:nvSpPr>
          <p:cNvPr id="21" name="Rectangle 20"/>
          <p:cNvSpPr/>
          <p:nvPr/>
        </p:nvSpPr>
        <p:spPr>
          <a:xfrm>
            <a:off x="411480" y="3730752"/>
            <a:ext cx="11369009" cy="475488"/>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200" b="1">
                <a:solidFill>
                  <a:srgbClr val="0B3A8F"/>
                </a:solidFill>
                <a:latin typeface="Roboto"/>
              </a:rPr>
              <a:t>Giảm 95,4% chi phí trên mỗi chứng từ. Riêng khâu nhập liệu đã giải phóng khoảng 7,8 nhân sự toàn thời gian, tương đương 106,3 triệu đồng mỗi tháng.</a:t>
            </a:r>
          </a:p>
        </p:txBody>
      </p:sp>
      <p:sp>
        <p:nvSpPr>
          <p:cNvPr id="22" name="TextBox 21"/>
          <p:cNvSpPr txBox="1"/>
          <p:nvPr/>
        </p:nvSpPr>
        <p:spPr>
          <a:xfrm>
            <a:off x="411480" y="4407408"/>
            <a:ext cx="11369009" cy="237744"/>
          </a:xfrm>
          <a:prstGeom prst="rect">
            <a:avLst/>
          </a:prstGeom>
          <a:noFill/>
        </p:spPr>
        <p:txBody>
          <a:bodyPr wrap="square" lIns="0" rIns="0" tIns="0" bIns="0" anchor="t">
            <a:spAutoFit/>
          </a:bodyPr>
          <a:lstStyle/>
          <a:p>
            <a:pPr algn="l">
              <a:lnSpc>
                <a:spcPct val="100000"/>
              </a:lnSpc>
              <a:spcAft>
                <a:spcPts val="400"/>
              </a:spcAft>
            </a:pPr>
            <a:r>
              <a:rPr sz="1150" b="1">
                <a:solidFill>
                  <a:srgbClr val="0B3A8F"/>
                </a:solidFill>
                <a:latin typeface="Roboto"/>
              </a:rPr>
              <a:t>Phần còn lại của mục tiêu mười nhân sự đến từ ba chỗ</a:t>
            </a:r>
          </a:p>
        </p:txBody>
      </p:sp>
      <p:sp>
        <p:nvSpPr>
          <p:cNvPr id="23" name="Rectangle 22"/>
          <p:cNvSpPr/>
          <p:nvPr/>
        </p:nvSpPr>
        <p:spPr>
          <a:xfrm>
            <a:off x="411480" y="4700016"/>
            <a:ext cx="3637269" cy="141732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11480" y="4700016"/>
            <a:ext cx="50292" cy="141732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94360" y="4828031"/>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Cắt tin nhắn hỏi trạng thái</a:t>
            </a:r>
          </a:p>
        </p:txBody>
      </p:sp>
      <p:sp>
        <p:nvSpPr>
          <p:cNvPr id="26" name="TextBox 25"/>
          <p:cNvSpPr txBox="1"/>
          <p:nvPr/>
        </p:nvSpPr>
        <p:spPr>
          <a:xfrm>
            <a:off x="594360" y="5102351"/>
            <a:ext cx="3308085" cy="905256"/>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Khách tự xem tiến độ hồ sơ trên cổng khách hàng và nhận nhắc tự động qua Zalo.</a:t>
            </a:r>
          </a:p>
          <a:p>
            <a:pPr algn="l">
              <a:lnSpc>
                <a:spcPct val="112000"/>
              </a:lnSpc>
              <a:spcAft>
                <a:spcPts val="300"/>
              </a:spcAft>
            </a:pPr>
            <a:r>
              <a:rPr sz="950" b="0">
                <a:solidFill>
                  <a:srgbClr val="475569"/>
                </a:solidFill>
                <a:latin typeface="Roboto"/>
              </a:rPr>
              <a:t>Hiện mất 20 tới 40 giờ mỗi tháng cho việc trả lời lặp lại.</a:t>
            </a:r>
          </a:p>
        </p:txBody>
      </p:sp>
      <p:sp>
        <p:nvSpPr>
          <p:cNvPr id="27" name="Rectangle 26"/>
          <p:cNvSpPr/>
          <p:nvPr/>
        </p:nvSpPr>
        <p:spPr>
          <a:xfrm>
            <a:off x="4277349" y="4700016"/>
            <a:ext cx="3637269" cy="141732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277349" y="4700016"/>
            <a:ext cx="50292" cy="141732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460229" y="4828031"/>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Cắt soát xét thủ công</a:t>
            </a:r>
          </a:p>
        </p:txBody>
      </p:sp>
      <p:sp>
        <p:nvSpPr>
          <p:cNvPr id="30" name="TextBox 29"/>
          <p:cNvSpPr txBox="1"/>
          <p:nvPr/>
        </p:nvSpPr>
        <p:spPr>
          <a:xfrm>
            <a:off x="4460229" y="5102351"/>
            <a:ext cx="3308085" cy="905256"/>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Tác tử rà soát bất hợp lý chạy trước, kế toán trưởng chỉ xem phần có cảnh báo.</a:t>
            </a:r>
          </a:p>
          <a:p>
            <a:pPr algn="l">
              <a:lnSpc>
                <a:spcPct val="112000"/>
              </a:lnSpc>
              <a:spcAft>
                <a:spcPts val="300"/>
              </a:spcAft>
            </a:pPr>
            <a:r>
              <a:rPr sz="950" b="0">
                <a:solidFill>
                  <a:srgbClr val="475569"/>
                </a:solidFill>
                <a:latin typeface="Roboto"/>
              </a:rPr>
              <a:t>Gỡ nút cổ chai đang chiếm 30 tới 50% thời gian của giám đốc.</a:t>
            </a:r>
          </a:p>
        </p:txBody>
      </p:sp>
      <p:sp>
        <p:nvSpPr>
          <p:cNvPr id="31" name="Rectangle 30"/>
          <p:cNvSpPr/>
          <p:nvPr/>
        </p:nvSpPr>
        <p:spPr>
          <a:xfrm>
            <a:off x="8143219" y="4700016"/>
            <a:ext cx="3637269" cy="1417320"/>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143219" y="4700016"/>
            <a:ext cx="50292" cy="141732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326099" y="4828031"/>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Cắt tổng hợp báo cáo</a:t>
            </a:r>
          </a:p>
        </p:txBody>
      </p:sp>
      <p:sp>
        <p:nvSpPr>
          <p:cNvPr id="34" name="TextBox 33"/>
          <p:cNvSpPr txBox="1"/>
          <p:nvPr/>
        </p:nvSpPr>
        <p:spPr>
          <a:xfrm>
            <a:off x="8326099" y="5102351"/>
            <a:ext cx="3308085" cy="905256"/>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Tờ khai và bộ hồ sơ sinh hàng loạt theo mẫu thay vì làm từng khách một.</a:t>
            </a:r>
          </a:p>
          <a:p>
            <a:pPr algn="l">
              <a:lnSpc>
                <a:spcPct val="112000"/>
              </a:lnSpc>
              <a:spcAft>
                <a:spcPts val="300"/>
              </a:spcAft>
            </a:pPr>
            <a:r>
              <a:rPr sz="950" b="0">
                <a:solidFill>
                  <a:srgbClr val="475569"/>
                </a:solidFill>
                <a:latin typeface="Roboto"/>
              </a:rPr>
              <a:t>Số liệu điều hành có sẵn, không ai phải ngồi tổng hợp.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Kiến trúc tổng thể</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Bốn ứng dụng, một cửa ghi dữ liệu duy nhất, toàn bộ chạy trên nền tảng điện toán biên Cloudflare. Không có máy chủ nào cần ATL quản trị.</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8</a:t>
            </a:r>
          </a:p>
        </p:txBody>
      </p:sp>
      <p:sp>
        <p:nvSpPr>
          <p:cNvPr id="13" name="TextBox 12"/>
          <p:cNvSpPr txBox="1"/>
          <p:nvPr/>
        </p:nvSpPr>
        <p:spPr>
          <a:xfrm>
            <a:off x="411480" y="1572768"/>
            <a:ext cx="11369009" cy="201168"/>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LỚP NGƯỜI DÙNG</a:t>
            </a:r>
          </a:p>
        </p:txBody>
      </p:sp>
      <p:sp>
        <p:nvSpPr>
          <p:cNvPr id="14" name="Rectangle 13"/>
          <p:cNvSpPr/>
          <p:nvPr/>
        </p:nvSpPr>
        <p:spPr>
          <a:xfrm>
            <a:off x="411480" y="1810512"/>
            <a:ext cx="2739382" cy="960120"/>
          </a:xfrm>
          <a:prstGeom prst="rect">
            <a:avLst/>
          </a:prstGeom>
          <a:solidFill>
            <a:srgbClr val="FFFFFF"/>
          </a:solidFill>
          <a:ln w="12700">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57784" y="1929384"/>
            <a:ext cx="2446774" cy="274320"/>
          </a:xfrm>
          <a:prstGeom prst="rect">
            <a:avLst/>
          </a:prstGeom>
          <a:noFill/>
        </p:spPr>
        <p:txBody>
          <a:bodyPr wrap="square" lIns="0" rIns="0" tIns="0" bIns="0" anchor="t">
            <a:spAutoFit/>
          </a:bodyPr>
          <a:lstStyle/>
          <a:p>
            <a:pPr algn="l">
              <a:lnSpc>
                <a:spcPct val="105000"/>
              </a:lnSpc>
              <a:spcAft>
                <a:spcPts val="400"/>
              </a:spcAft>
            </a:pPr>
            <a:r>
              <a:rPr sz="1150" b="1">
                <a:solidFill>
                  <a:srgbClr val="0B3A8F"/>
                </a:solidFill>
                <a:latin typeface="Roboto"/>
              </a:rPr>
              <a:t>Website công khai</a:t>
            </a:r>
          </a:p>
        </p:txBody>
      </p:sp>
      <p:sp>
        <p:nvSpPr>
          <p:cNvPr id="16" name="TextBox 15"/>
          <p:cNvSpPr txBox="1"/>
          <p:nvPr/>
        </p:nvSpPr>
        <p:spPr>
          <a:xfrm>
            <a:off x="557784" y="2249424"/>
            <a:ext cx="2446774" cy="457200"/>
          </a:xfrm>
          <a:prstGeom prst="rect">
            <a:avLst/>
          </a:prstGeom>
          <a:noFill/>
        </p:spPr>
        <p:txBody>
          <a:bodyPr wrap="square" lIns="0" rIns="0" tIns="0" bIns="0" anchor="t">
            <a:spAutoFit/>
          </a:bodyPr>
          <a:lstStyle/>
          <a:p>
            <a:pPr algn="l">
              <a:lnSpc>
                <a:spcPct val="112000"/>
              </a:lnSpc>
              <a:spcAft>
                <a:spcPts val="400"/>
              </a:spcAft>
            </a:pPr>
            <a:r>
              <a:rPr sz="900" b="0">
                <a:solidFill>
                  <a:srgbClr val="475569"/>
                </a:solidFill>
                <a:latin typeface="Roboto"/>
              </a:rPr>
              <a:t>Giới thiệu, nội dung pháp lý, ước tính phí, thu đầu mối. Cửa trước của hệ thống.</a:t>
            </a:r>
          </a:p>
        </p:txBody>
      </p:sp>
      <p:sp>
        <p:nvSpPr>
          <p:cNvPr id="17" name="Rectangle 16"/>
          <p:cNvSpPr/>
          <p:nvPr/>
        </p:nvSpPr>
        <p:spPr>
          <a:xfrm>
            <a:off x="3288022" y="1810512"/>
            <a:ext cx="2739382" cy="960120"/>
          </a:xfrm>
          <a:prstGeom prst="rect">
            <a:avLst/>
          </a:prstGeom>
          <a:solidFill>
            <a:srgbClr val="FFFFFF"/>
          </a:solidFill>
          <a:ln w="12700">
            <a:solidFill>
              <a:srgbClr val="1F6F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34326" y="1929384"/>
            <a:ext cx="2446774" cy="274320"/>
          </a:xfrm>
          <a:prstGeom prst="rect">
            <a:avLst/>
          </a:prstGeom>
          <a:noFill/>
        </p:spPr>
        <p:txBody>
          <a:bodyPr wrap="square" lIns="0" rIns="0" tIns="0" bIns="0" anchor="t">
            <a:spAutoFit/>
          </a:bodyPr>
          <a:lstStyle/>
          <a:p>
            <a:pPr algn="l">
              <a:lnSpc>
                <a:spcPct val="105000"/>
              </a:lnSpc>
              <a:spcAft>
                <a:spcPts val="400"/>
              </a:spcAft>
            </a:pPr>
            <a:r>
              <a:rPr sz="1150" b="1">
                <a:solidFill>
                  <a:srgbClr val="1F6FD0"/>
                </a:solidFill>
                <a:latin typeface="Roboto"/>
              </a:rPr>
              <a:t>Cổng khách hàng</a:t>
            </a:r>
          </a:p>
        </p:txBody>
      </p:sp>
      <p:sp>
        <p:nvSpPr>
          <p:cNvPr id="19" name="TextBox 18"/>
          <p:cNvSpPr txBox="1"/>
          <p:nvPr/>
        </p:nvSpPr>
        <p:spPr>
          <a:xfrm>
            <a:off x="3434326" y="2249424"/>
            <a:ext cx="2446774" cy="457200"/>
          </a:xfrm>
          <a:prstGeom prst="rect">
            <a:avLst/>
          </a:prstGeom>
          <a:noFill/>
        </p:spPr>
        <p:txBody>
          <a:bodyPr wrap="square" lIns="0" rIns="0" tIns="0" bIns="0" anchor="t">
            <a:spAutoFit/>
          </a:bodyPr>
          <a:lstStyle/>
          <a:p>
            <a:pPr algn="l">
              <a:lnSpc>
                <a:spcPct val="112000"/>
              </a:lnSpc>
              <a:spcAft>
                <a:spcPts val="400"/>
              </a:spcAft>
            </a:pPr>
            <a:r>
              <a:rPr sz="900" b="0">
                <a:solidFill>
                  <a:srgbClr val="475569"/>
                </a:solidFill>
                <a:latin typeface="Roboto"/>
              </a:rPr>
              <a:t>Khách nộp chứng từ bằng điện thoại, xem tiến độ, tải hồ sơ, xác nhận số liệu.</a:t>
            </a:r>
          </a:p>
        </p:txBody>
      </p:sp>
      <p:sp>
        <p:nvSpPr>
          <p:cNvPr id="20" name="Rectangle 19"/>
          <p:cNvSpPr/>
          <p:nvPr/>
        </p:nvSpPr>
        <p:spPr>
          <a:xfrm>
            <a:off x="6164564" y="1810512"/>
            <a:ext cx="2739382" cy="960120"/>
          </a:xfrm>
          <a:prstGeom prst="rect">
            <a:avLst/>
          </a:prstGeom>
          <a:solidFill>
            <a:srgbClr val="FFFFFF"/>
          </a:solidFill>
          <a:ln w="12700">
            <a:solidFill>
              <a:srgbClr val="1F6F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310868" y="1929384"/>
            <a:ext cx="2446774" cy="274320"/>
          </a:xfrm>
          <a:prstGeom prst="rect">
            <a:avLst/>
          </a:prstGeom>
          <a:noFill/>
        </p:spPr>
        <p:txBody>
          <a:bodyPr wrap="square" lIns="0" rIns="0" tIns="0" bIns="0" anchor="t">
            <a:spAutoFit/>
          </a:bodyPr>
          <a:lstStyle/>
          <a:p>
            <a:pPr algn="l">
              <a:lnSpc>
                <a:spcPct val="105000"/>
              </a:lnSpc>
              <a:spcAft>
                <a:spcPts val="400"/>
              </a:spcAft>
            </a:pPr>
            <a:r>
              <a:rPr sz="1150" b="1">
                <a:solidFill>
                  <a:srgbClr val="1F6FD0"/>
                </a:solidFill>
                <a:latin typeface="Roboto"/>
              </a:rPr>
              <a:t>Hệ thống vận hành nội bộ</a:t>
            </a:r>
          </a:p>
        </p:txBody>
      </p:sp>
      <p:sp>
        <p:nvSpPr>
          <p:cNvPr id="22" name="TextBox 21"/>
          <p:cNvSpPr txBox="1"/>
          <p:nvPr/>
        </p:nvSpPr>
        <p:spPr>
          <a:xfrm>
            <a:off x="6310868" y="2249424"/>
            <a:ext cx="2446774" cy="457200"/>
          </a:xfrm>
          <a:prstGeom prst="rect">
            <a:avLst/>
          </a:prstGeom>
          <a:noFill/>
        </p:spPr>
        <p:txBody>
          <a:bodyPr wrap="square" lIns="0" rIns="0" tIns="0" bIns="0" anchor="t">
            <a:spAutoFit/>
          </a:bodyPr>
          <a:lstStyle/>
          <a:p>
            <a:pPr algn="l">
              <a:lnSpc>
                <a:spcPct val="112000"/>
              </a:lnSpc>
              <a:spcAft>
                <a:spcPts val="400"/>
              </a:spcAft>
            </a:pPr>
            <a:r>
              <a:rPr sz="900" b="0">
                <a:solidFill>
                  <a:srgbClr val="475569"/>
                </a:solidFill>
                <a:latin typeface="Roboto"/>
              </a:rPr>
              <a:t>Toàn bộ nghiệp vụ của ATL trên một màn hình làm việc duy nhất.</a:t>
            </a:r>
          </a:p>
        </p:txBody>
      </p:sp>
      <p:sp>
        <p:nvSpPr>
          <p:cNvPr id="23" name="Rectangle 22"/>
          <p:cNvSpPr/>
          <p:nvPr/>
        </p:nvSpPr>
        <p:spPr>
          <a:xfrm>
            <a:off x="9041107" y="1810512"/>
            <a:ext cx="2739382" cy="960120"/>
          </a:xfrm>
          <a:prstGeom prst="rect">
            <a:avLst/>
          </a:prstGeom>
          <a:solidFill>
            <a:srgbClr val="FFFFFF"/>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187411" y="1929384"/>
            <a:ext cx="2446774" cy="274320"/>
          </a:xfrm>
          <a:prstGeom prst="rect">
            <a:avLst/>
          </a:prstGeom>
          <a:noFill/>
        </p:spPr>
        <p:txBody>
          <a:bodyPr wrap="square" lIns="0" rIns="0" tIns="0" bIns="0" anchor="t">
            <a:spAutoFit/>
          </a:bodyPr>
          <a:lstStyle/>
          <a:p>
            <a:pPr algn="l">
              <a:lnSpc>
                <a:spcPct val="105000"/>
              </a:lnSpc>
              <a:spcAft>
                <a:spcPts val="400"/>
              </a:spcAft>
            </a:pPr>
            <a:r>
              <a:rPr sz="1150" b="1">
                <a:solidFill>
                  <a:srgbClr val="475569"/>
                </a:solidFill>
                <a:latin typeface="Roboto"/>
              </a:rPr>
              <a:t>Dịch vụ API</a:t>
            </a:r>
          </a:p>
        </p:txBody>
      </p:sp>
      <p:sp>
        <p:nvSpPr>
          <p:cNvPr id="25" name="TextBox 24"/>
          <p:cNvSpPr txBox="1"/>
          <p:nvPr/>
        </p:nvSpPr>
        <p:spPr>
          <a:xfrm>
            <a:off x="9187411" y="2249424"/>
            <a:ext cx="2446774" cy="457200"/>
          </a:xfrm>
          <a:prstGeom prst="rect">
            <a:avLst/>
          </a:prstGeom>
          <a:noFill/>
        </p:spPr>
        <p:txBody>
          <a:bodyPr wrap="square" lIns="0" rIns="0" tIns="0" bIns="0" anchor="t">
            <a:spAutoFit/>
          </a:bodyPr>
          <a:lstStyle/>
          <a:p>
            <a:pPr algn="l">
              <a:lnSpc>
                <a:spcPct val="112000"/>
              </a:lnSpc>
              <a:spcAft>
                <a:spcPts val="400"/>
              </a:spcAft>
            </a:pPr>
            <a:r>
              <a:rPr sz="900" b="0">
                <a:solidFill>
                  <a:srgbClr val="475569"/>
                </a:solidFill>
                <a:latin typeface="Roboto"/>
              </a:rPr>
              <a:t>Mở năng lực xử lý cho cộng tác viên và đối tác. Hướng doanh thu mới.</a:t>
            </a:r>
          </a:p>
        </p:txBody>
      </p:sp>
      <p:sp>
        <p:nvSpPr>
          <p:cNvPr id="26" name="Rectangle 25"/>
          <p:cNvSpPr/>
          <p:nvPr/>
        </p:nvSpPr>
        <p:spPr>
          <a:xfrm>
            <a:off x="411480" y="2907791"/>
            <a:ext cx="11369009" cy="420624"/>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0000"/>
              </a:lnSpc>
              <a:spcAft>
                <a:spcPts val="400"/>
              </a:spcAft>
            </a:pPr>
            <a:r>
              <a:rPr sz="1100" b="1">
                <a:solidFill>
                  <a:srgbClr val="FFFFFF"/>
                </a:solidFill>
                <a:latin typeface="Roboto"/>
              </a:rPr>
              <a:t>DỊCH VỤ TRUNG TÂM   nơi duy nhất được ghi dữ liệu, giữ toàn bộ quy tắc nghiệp vụ, kiểm tra quyền và ghi nhật ký</a:t>
            </a:r>
          </a:p>
        </p:txBody>
      </p:sp>
      <p:sp>
        <p:nvSpPr>
          <p:cNvPr id="27" name="Rectangle 26"/>
          <p:cNvSpPr/>
          <p:nvPr/>
        </p:nvSpPr>
        <p:spPr>
          <a:xfrm>
            <a:off x="411480" y="3456432"/>
            <a:ext cx="3698229" cy="1298448"/>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57784" y="3566160"/>
            <a:ext cx="3405621" cy="201168"/>
          </a:xfrm>
          <a:prstGeom prst="rect">
            <a:avLst/>
          </a:prstGeom>
          <a:noFill/>
        </p:spPr>
        <p:txBody>
          <a:bodyPr wrap="square" lIns="0" rIns="0" tIns="0" bIns="0" anchor="t">
            <a:spAutoFit/>
          </a:bodyPr>
          <a:lstStyle/>
          <a:p>
            <a:pPr algn="l">
              <a:lnSpc>
                <a:spcPct val="100000"/>
              </a:lnSpc>
              <a:spcAft>
                <a:spcPts val="400"/>
              </a:spcAft>
            </a:pPr>
            <a:r>
              <a:rPr sz="850" b="1">
                <a:solidFill>
                  <a:srgbClr val="1F6FD0"/>
                </a:solidFill>
                <a:latin typeface="Roboto"/>
              </a:rPr>
              <a:t>XỬ LÝ NỀN</a:t>
            </a:r>
          </a:p>
        </p:txBody>
      </p:sp>
      <p:sp>
        <p:nvSpPr>
          <p:cNvPr id="29" name="TextBox 28"/>
          <p:cNvSpPr txBox="1"/>
          <p:nvPr/>
        </p:nvSpPr>
        <p:spPr>
          <a:xfrm>
            <a:off x="557784" y="3803904"/>
            <a:ext cx="3405621" cy="868680"/>
          </a:xfrm>
          <a:prstGeom prst="rect">
            <a:avLst/>
          </a:prstGeom>
          <a:noFill/>
        </p:spPr>
        <p:txBody>
          <a:bodyPr wrap="square" lIns="0" rIns="0" tIns="0" bIns="0" anchor="t">
            <a:spAutoFit/>
          </a:bodyPr>
          <a:lstStyle/>
          <a:p>
            <a:pPr algn="l">
              <a:lnSpc>
                <a:spcPct val="110000"/>
              </a:lnSpc>
              <a:spcAft>
                <a:spcPts val="400"/>
              </a:spcAft>
            </a:pPr>
            <a:r>
              <a:rPr sz="880" b="0">
                <a:solidFill>
                  <a:srgbClr val="475569"/>
                </a:solidFill>
                <a:latin typeface="Roboto"/>
              </a:rPr>
              <a:t>Hàng đợi tác vụ: nạp hàng nghìn chứng từ, xử lý dần, tự thử lại khi lỗi</a:t>
            </a:r>
          </a:p>
          <a:p>
            <a:pPr algn="l">
              <a:lnSpc>
                <a:spcPct val="110000"/>
              </a:lnSpc>
              <a:spcAft>
                <a:spcPts val="400"/>
              </a:spcAft>
            </a:pPr>
            <a:r>
              <a:rPr sz="880" b="0">
                <a:solidFill>
                  <a:srgbClr val="475569"/>
                </a:solidFill>
                <a:latin typeface="Roboto"/>
              </a:rPr>
              <a:t>Quy trình dài: đóng sổ tháng, quyết toán năm, dừng được giữa chừng</a:t>
            </a:r>
          </a:p>
          <a:p>
            <a:pPr algn="l">
              <a:lnSpc>
                <a:spcPct val="110000"/>
              </a:lnSpc>
              <a:spcAft>
                <a:spcPts val="400"/>
              </a:spcAft>
            </a:pPr>
            <a:r>
              <a:rPr sz="880" b="0">
                <a:solidFill>
                  <a:srgbClr val="475569"/>
                </a:solidFill>
                <a:latin typeface="Roboto"/>
              </a:rPr>
              <a:t>Tác vụ định kỳ: nhắc hạn, quét hóa đơn mới, bản tin điều hành buổi sáng</a:t>
            </a:r>
          </a:p>
        </p:txBody>
      </p:sp>
      <p:sp>
        <p:nvSpPr>
          <p:cNvPr id="30" name="Rectangle 29"/>
          <p:cNvSpPr/>
          <p:nvPr/>
        </p:nvSpPr>
        <p:spPr>
          <a:xfrm>
            <a:off x="4246869" y="3456432"/>
            <a:ext cx="3698229" cy="1298448"/>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393173" y="3566160"/>
            <a:ext cx="3405621" cy="201168"/>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DỮ LIỆU</a:t>
            </a:r>
          </a:p>
        </p:txBody>
      </p:sp>
      <p:sp>
        <p:nvSpPr>
          <p:cNvPr id="32" name="TextBox 31"/>
          <p:cNvSpPr txBox="1"/>
          <p:nvPr/>
        </p:nvSpPr>
        <p:spPr>
          <a:xfrm>
            <a:off x="4393173" y="3803904"/>
            <a:ext cx="3405621" cy="868680"/>
          </a:xfrm>
          <a:prstGeom prst="rect">
            <a:avLst/>
          </a:prstGeom>
          <a:noFill/>
        </p:spPr>
        <p:txBody>
          <a:bodyPr wrap="square" lIns="0" rIns="0" tIns="0" bIns="0" anchor="t">
            <a:spAutoFit/>
          </a:bodyPr>
          <a:lstStyle/>
          <a:p>
            <a:pPr algn="l">
              <a:lnSpc>
                <a:spcPct val="110000"/>
              </a:lnSpc>
              <a:spcAft>
                <a:spcPts val="400"/>
              </a:spcAft>
            </a:pPr>
            <a:r>
              <a:rPr sz="880" b="0">
                <a:solidFill>
                  <a:srgbClr val="475569"/>
                </a:solidFill>
                <a:latin typeface="Roboto"/>
              </a:rPr>
              <a:t>Cơ sở dữ liệu nghiệp vụ và kho tệp gốc bất biến có phiên bản</a:t>
            </a:r>
          </a:p>
          <a:p>
            <a:pPr algn="l">
              <a:lnSpc>
                <a:spcPct val="110000"/>
              </a:lnSpc>
              <a:spcAft>
                <a:spcPts val="400"/>
              </a:spcAft>
            </a:pPr>
            <a:r>
              <a:rPr sz="880" b="0">
                <a:solidFill>
                  <a:srgbClr val="475569"/>
                </a:solidFill>
                <a:latin typeface="Roboto"/>
              </a:rPr>
              <a:t>Chỉ mục ngữ nghĩa cho văn bản pháp luật và tiền lệ xử lý của ATL</a:t>
            </a:r>
          </a:p>
          <a:p>
            <a:pPr algn="l">
              <a:lnSpc>
                <a:spcPct val="110000"/>
              </a:lnSpc>
              <a:spcAft>
                <a:spcPts val="400"/>
              </a:spcAft>
            </a:pPr>
            <a:r>
              <a:rPr sz="880" b="0">
                <a:solidFill>
                  <a:srgbClr val="475569"/>
                </a:solidFill>
                <a:latin typeface="Roboto"/>
              </a:rPr>
              <a:t>Nhật ký đo lường, nguồn số liệu để chốt hiệu suất hàng tháng</a:t>
            </a:r>
          </a:p>
        </p:txBody>
      </p:sp>
      <p:sp>
        <p:nvSpPr>
          <p:cNvPr id="33" name="Rectangle 32"/>
          <p:cNvSpPr/>
          <p:nvPr/>
        </p:nvSpPr>
        <p:spPr>
          <a:xfrm>
            <a:off x="8082259" y="3456432"/>
            <a:ext cx="3698229" cy="1298448"/>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28563" y="3566160"/>
            <a:ext cx="3405621" cy="201168"/>
          </a:xfrm>
          <a:prstGeom prst="rect">
            <a:avLst/>
          </a:prstGeom>
          <a:noFill/>
        </p:spPr>
        <p:txBody>
          <a:bodyPr wrap="square" lIns="0" rIns="0" tIns="0" bIns="0" anchor="t">
            <a:spAutoFit/>
          </a:bodyPr>
          <a:lstStyle/>
          <a:p>
            <a:pPr algn="l">
              <a:lnSpc>
                <a:spcPct val="100000"/>
              </a:lnSpc>
              <a:spcAft>
                <a:spcPts val="400"/>
              </a:spcAft>
            </a:pPr>
            <a:r>
              <a:rPr sz="850" b="1">
                <a:solidFill>
                  <a:srgbClr val="FF6302"/>
                </a:solidFill>
                <a:latin typeface="Roboto"/>
              </a:rPr>
              <a:t>AI</a:t>
            </a:r>
          </a:p>
        </p:txBody>
      </p:sp>
      <p:sp>
        <p:nvSpPr>
          <p:cNvPr id="35" name="TextBox 34"/>
          <p:cNvSpPr txBox="1"/>
          <p:nvPr/>
        </p:nvSpPr>
        <p:spPr>
          <a:xfrm>
            <a:off x="8228563" y="3803904"/>
            <a:ext cx="3405621" cy="868680"/>
          </a:xfrm>
          <a:prstGeom prst="rect">
            <a:avLst/>
          </a:prstGeom>
          <a:noFill/>
        </p:spPr>
        <p:txBody>
          <a:bodyPr wrap="square" lIns="0" rIns="0" tIns="0" bIns="0" anchor="t">
            <a:spAutoFit/>
          </a:bodyPr>
          <a:lstStyle/>
          <a:p>
            <a:pPr algn="l">
              <a:lnSpc>
                <a:spcPct val="110000"/>
              </a:lnSpc>
              <a:spcAft>
                <a:spcPts val="400"/>
              </a:spcAft>
            </a:pPr>
            <a:r>
              <a:rPr sz="880" b="0">
                <a:solidFill>
                  <a:srgbClr val="475569"/>
                </a:solidFill>
                <a:latin typeface="Roboto"/>
              </a:rPr>
              <a:t>Cổng mô hình: mọi lệnh gọi đi qua một cửa, có nhật ký và hạn mức chi phí</a:t>
            </a:r>
          </a:p>
          <a:p>
            <a:pPr algn="l">
              <a:lnSpc>
                <a:spcPct val="110000"/>
              </a:lnSpc>
              <a:spcAft>
                <a:spcPts val="400"/>
              </a:spcAft>
            </a:pPr>
            <a:r>
              <a:rPr sz="880" b="0">
                <a:solidFill>
                  <a:srgbClr val="475569"/>
                </a:solidFill>
                <a:latin typeface="Roboto"/>
              </a:rPr>
              <a:t>Mô hình nhẹ chạy tại biên cho việc nhiều và lặp lại</a:t>
            </a:r>
          </a:p>
          <a:p>
            <a:pPr algn="l">
              <a:lnSpc>
                <a:spcPct val="110000"/>
              </a:lnSpc>
              <a:spcAft>
                <a:spcPts val="400"/>
              </a:spcAft>
            </a:pPr>
            <a:r>
              <a:rPr sz="880" b="0">
                <a:solidFill>
                  <a:srgbClr val="475569"/>
                </a:solidFill>
                <a:latin typeface="Roboto"/>
              </a:rPr>
              <a:t>Mô hình mạnh cho trích xuất, rà soát bất hợp lý và hỏi đáp pháp luật</a:t>
            </a:r>
          </a:p>
        </p:txBody>
      </p:sp>
      <p:sp>
        <p:nvSpPr>
          <p:cNvPr id="36" name="Rectangle 35"/>
          <p:cNvSpPr/>
          <p:nvPr/>
        </p:nvSpPr>
        <p:spPr>
          <a:xfrm>
            <a:off x="411480" y="4882896"/>
            <a:ext cx="11369009" cy="475488"/>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0B3A8F"/>
                </a:solidFill>
                <a:latin typeface="Roboto"/>
              </a:rPr>
              <a:t>Vì sao chọn nền tảng này: không có máy chủ để quản trị, không có chi phí cố định lớn, tính tiền theo mức dùng thực tế, và tốc độ như nhau ở mọi thị trường. Phù hợp với một công ty 30 người không có bộ phận công nghệ thông tin.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Mười lăm phân hệ, 87 chức năng</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Bản chất là một hệ thống web hợp nhất quản trị nguồn lực, quan hệ khách hàng và tài chính, dựng riêng cho nghiệp vụ đại lý thuế.</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9</a:t>
            </a:r>
          </a:p>
        </p:txBody>
      </p:sp>
      <p:sp>
        <p:nvSpPr>
          <p:cNvPr id="13" name="Rectangle 12"/>
          <p:cNvSpPr/>
          <p:nvPr/>
        </p:nvSpPr>
        <p:spPr>
          <a:xfrm>
            <a:off x="411480" y="162763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627632"/>
            <a:ext cx="2164073" cy="41148"/>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9496" y="175564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0B3A8F"/>
                </a:solidFill>
                <a:latin typeface="Roboto"/>
              </a:rPr>
              <a:t>WEB</a:t>
            </a:r>
          </a:p>
        </p:txBody>
      </p:sp>
      <p:sp>
        <p:nvSpPr>
          <p:cNvPr id="16" name="TextBox 15"/>
          <p:cNvSpPr txBox="1"/>
          <p:nvPr/>
        </p:nvSpPr>
        <p:spPr>
          <a:xfrm>
            <a:off x="539496" y="198424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Website công khai</a:t>
            </a:r>
          </a:p>
        </p:txBody>
      </p:sp>
      <p:sp>
        <p:nvSpPr>
          <p:cNvPr id="17" name="TextBox 16"/>
          <p:cNvSpPr txBox="1"/>
          <p:nvPr/>
        </p:nvSpPr>
        <p:spPr>
          <a:xfrm>
            <a:off x="539496" y="219456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7 chức năng</a:t>
            </a:r>
          </a:p>
        </p:txBody>
      </p:sp>
      <p:sp>
        <p:nvSpPr>
          <p:cNvPr id="18" name="Rectangle 17"/>
          <p:cNvSpPr/>
          <p:nvPr/>
        </p:nvSpPr>
        <p:spPr>
          <a:xfrm>
            <a:off x="2712713" y="162763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712713" y="1627632"/>
            <a:ext cx="2164073" cy="41148"/>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840729" y="175564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0B3A8F"/>
                </a:solidFill>
                <a:latin typeface="Roboto"/>
              </a:rPr>
              <a:t>POR</a:t>
            </a:r>
          </a:p>
        </p:txBody>
      </p:sp>
      <p:sp>
        <p:nvSpPr>
          <p:cNvPr id="21" name="TextBox 20"/>
          <p:cNvSpPr txBox="1"/>
          <p:nvPr/>
        </p:nvSpPr>
        <p:spPr>
          <a:xfrm>
            <a:off x="2840729" y="198424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Cổng khách hàng</a:t>
            </a:r>
          </a:p>
        </p:txBody>
      </p:sp>
      <p:sp>
        <p:nvSpPr>
          <p:cNvPr id="22" name="TextBox 21"/>
          <p:cNvSpPr txBox="1"/>
          <p:nvPr/>
        </p:nvSpPr>
        <p:spPr>
          <a:xfrm>
            <a:off x="2840729" y="219456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8 chức năng</a:t>
            </a:r>
          </a:p>
        </p:txBody>
      </p:sp>
      <p:sp>
        <p:nvSpPr>
          <p:cNvPr id="23" name="Rectangle 22"/>
          <p:cNvSpPr/>
          <p:nvPr/>
        </p:nvSpPr>
        <p:spPr>
          <a:xfrm>
            <a:off x="5013947" y="162763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013947" y="1627632"/>
            <a:ext cx="2164073" cy="41148"/>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141963" y="175564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1F6FD0"/>
                </a:solidFill>
                <a:latin typeface="Roboto"/>
              </a:rPr>
              <a:t>CRM</a:t>
            </a:r>
          </a:p>
        </p:txBody>
      </p:sp>
      <p:sp>
        <p:nvSpPr>
          <p:cNvPr id="26" name="TextBox 25"/>
          <p:cNvSpPr txBox="1"/>
          <p:nvPr/>
        </p:nvSpPr>
        <p:spPr>
          <a:xfrm>
            <a:off x="5141963" y="198424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Khách hàng và hợp đồng</a:t>
            </a:r>
          </a:p>
        </p:txBody>
      </p:sp>
      <p:sp>
        <p:nvSpPr>
          <p:cNvPr id="27" name="TextBox 26"/>
          <p:cNvSpPr txBox="1"/>
          <p:nvPr/>
        </p:nvSpPr>
        <p:spPr>
          <a:xfrm>
            <a:off x="5141963" y="219456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6 chức năng</a:t>
            </a:r>
          </a:p>
        </p:txBody>
      </p:sp>
      <p:sp>
        <p:nvSpPr>
          <p:cNvPr id="28" name="Rectangle 27"/>
          <p:cNvSpPr/>
          <p:nvPr/>
        </p:nvSpPr>
        <p:spPr>
          <a:xfrm>
            <a:off x="7315181" y="162763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315181" y="1627632"/>
            <a:ext cx="2164073" cy="41148"/>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443197" y="175564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D81F26"/>
                </a:solidFill>
                <a:latin typeface="Roboto"/>
              </a:rPr>
              <a:t>DMS</a:t>
            </a:r>
          </a:p>
        </p:txBody>
      </p:sp>
      <p:sp>
        <p:nvSpPr>
          <p:cNvPr id="31" name="TextBox 30"/>
          <p:cNvSpPr txBox="1"/>
          <p:nvPr/>
        </p:nvSpPr>
        <p:spPr>
          <a:xfrm>
            <a:off x="7443197" y="198424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Thu nhận và số hóa chứng từ</a:t>
            </a:r>
          </a:p>
        </p:txBody>
      </p:sp>
      <p:sp>
        <p:nvSpPr>
          <p:cNvPr id="32" name="TextBox 31"/>
          <p:cNvSpPr txBox="1"/>
          <p:nvPr/>
        </p:nvSpPr>
        <p:spPr>
          <a:xfrm>
            <a:off x="7443197" y="219456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7 chức năng</a:t>
            </a:r>
          </a:p>
        </p:txBody>
      </p:sp>
      <p:sp>
        <p:nvSpPr>
          <p:cNvPr id="33" name="Rectangle 32"/>
          <p:cNvSpPr/>
          <p:nvPr/>
        </p:nvSpPr>
        <p:spPr>
          <a:xfrm>
            <a:off x="9616415" y="162763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9616415" y="1627632"/>
            <a:ext cx="2164073" cy="41148"/>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744431" y="175564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D81F26"/>
                </a:solidFill>
                <a:latin typeface="Roboto"/>
              </a:rPr>
              <a:t>INV</a:t>
            </a:r>
          </a:p>
        </p:txBody>
      </p:sp>
      <p:sp>
        <p:nvSpPr>
          <p:cNvPr id="36" name="TextBox 35"/>
          <p:cNvSpPr txBox="1"/>
          <p:nvPr/>
        </p:nvSpPr>
        <p:spPr>
          <a:xfrm>
            <a:off x="9744431" y="198424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Sổ hóa đơn và đối soát thuế</a:t>
            </a:r>
          </a:p>
        </p:txBody>
      </p:sp>
      <p:sp>
        <p:nvSpPr>
          <p:cNvPr id="37" name="TextBox 36"/>
          <p:cNvSpPr txBox="1"/>
          <p:nvPr/>
        </p:nvSpPr>
        <p:spPr>
          <a:xfrm>
            <a:off x="9744431" y="219456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7 chức năng</a:t>
            </a:r>
          </a:p>
        </p:txBody>
      </p:sp>
      <p:sp>
        <p:nvSpPr>
          <p:cNvPr id="38" name="Rectangle 37"/>
          <p:cNvSpPr/>
          <p:nvPr/>
        </p:nvSpPr>
        <p:spPr>
          <a:xfrm>
            <a:off x="411480" y="249631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411480" y="2496312"/>
            <a:ext cx="2164073" cy="41148"/>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39496" y="262432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1F6FD0"/>
                </a:solidFill>
                <a:latin typeface="Roboto"/>
              </a:rPr>
              <a:t>BOOK</a:t>
            </a:r>
          </a:p>
        </p:txBody>
      </p:sp>
      <p:sp>
        <p:nvSpPr>
          <p:cNvPr id="41" name="TextBox 40"/>
          <p:cNvSpPr txBox="1"/>
          <p:nvPr/>
        </p:nvSpPr>
        <p:spPr>
          <a:xfrm>
            <a:off x="539496" y="285292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Ghi sổ và đồng bộ phần mềm</a:t>
            </a:r>
          </a:p>
        </p:txBody>
      </p:sp>
      <p:sp>
        <p:nvSpPr>
          <p:cNvPr id="42" name="TextBox 41"/>
          <p:cNvSpPr txBox="1"/>
          <p:nvPr/>
        </p:nvSpPr>
        <p:spPr>
          <a:xfrm>
            <a:off x="539496" y="306324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5 chức năng</a:t>
            </a:r>
          </a:p>
        </p:txBody>
      </p:sp>
      <p:sp>
        <p:nvSpPr>
          <p:cNvPr id="43" name="Rectangle 42"/>
          <p:cNvSpPr/>
          <p:nvPr/>
        </p:nvSpPr>
        <p:spPr>
          <a:xfrm>
            <a:off x="2712713" y="249631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2712713" y="2496312"/>
            <a:ext cx="2164073" cy="41148"/>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2840729" y="262432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D81F26"/>
                </a:solidFill>
                <a:latin typeface="Roboto"/>
              </a:rPr>
              <a:t>CAL</a:t>
            </a:r>
          </a:p>
        </p:txBody>
      </p:sp>
      <p:sp>
        <p:nvSpPr>
          <p:cNvPr id="46" name="TextBox 45"/>
          <p:cNvSpPr txBox="1"/>
          <p:nvPr/>
        </p:nvSpPr>
        <p:spPr>
          <a:xfrm>
            <a:off x="2840729" y="285292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Lịch tuân thủ và nhắc hạn</a:t>
            </a:r>
          </a:p>
        </p:txBody>
      </p:sp>
      <p:sp>
        <p:nvSpPr>
          <p:cNvPr id="47" name="TextBox 46"/>
          <p:cNvSpPr txBox="1"/>
          <p:nvPr/>
        </p:nvSpPr>
        <p:spPr>
          <a:xfrm>
            <a:off x="2840729" y="306324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5 chức năng</a:t>
            </a:r>
          </a:p>
        </p:txBody>
      </p:sp>
      <p:sp>
        <p:nvSpPr>
          <p:cNvPr id="48" name="Rectangle 47"/>
          <p:cNvSpPr/>
          <p:nvPr/>
        </p:nvSpPr>
        <p:spPr>
          <a:xfrm>
            <a:off x="5013947" y="249631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5013947" y="2496312"/>
            <a:ext cx="2164073" cy="41148"/>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141963" y="262432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1F6FD0"/>
                </a:solidFill>
                <a:latin typeface="Roboto"/>
              </a:rPr>
              <a:t>TASK</a:t>
            </a:r>
          </a:p>
        </p:txBody>
      </p:sp>
      <p:sp>
        <p:nvSpPr>
          <p:cNvPr id="51" name="TextBox 50"/>
          <p:cNvSpPr txBox="1"/>
          <p:nvPr/>
        </p:nvSpPr>
        <p:spPr>
          <a:xfrm>
            <a:off x="5141963" y="285292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Giao việc và phê duyệt</a:t>
            </a:r>
          </a:p>
        </p:txBody>
      </p:sp>
      <p:sp>
        <p:nvSpPr>
          <p:cNvPr id="52" name="TextBox 51"/>
          <p:cNvSpPr txBox="1"/>
          <p:nvPr/>
        </p:nvSpPr>
        <p:spPr>
          <a:xfrm>
            <a:off x="5141963" y="306324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6 chức năng</a:t>
            </a:r>
          </a:p>
        </p:txBody>
      </p:sp>
      <p:sp>
        <p:nvSpPr>
          <p:cNvPr id="53" name="Rectangle 52"/>
          <p:cNvSpPr/>
          <p:nvPr/>
        </p:nvSpPr>
        <p:spPr>
          <a:xfrm>
            <a:off x="7315181" y="249631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7315181" y="2496312"/>
            <a:ext cx="2164073" cy="41148"/>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443197" y="262432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B7791F"/>
                </a:solidFill>
                <a:latin typeface="Roboto"/>
              </a:rPr>
              <a:t>QC</a:t>
            </a:r>
          </a:p>
        </p:txBody>
      </p:sp>
      <p:sp>
        <p:nvSpPr>
          <p:cNvPr id="56" name="TextBox 55"/>
          <p:cNvSpPr txBox="1"/>
          <p:nvPr/>
        </p:nvSpPr>
        <p:spPr>
          <a:xfrm>
            <a:off x="7443197" y="285292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Soát xét và chất lượng</a:t>
            </a:r>
          </a:p>
        </p:txBody>
      </p:sp>
      <p:sp>
        <p:nvSpPr>
          <p:cNvPr id="57" name="TextBox 56"/>
          <p:cNvSpPr txBox="1"/>
          <p:nvPr/>
        </p:nvSpPr>
        <p:spPr>
          <a:xfrm>
            <a:off x="7443197" y="306324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5 chức năng</a:t>
            </a:r>
          </a:p>
        </p:txBody>
      </p:sp>
      <p:sp>
        <p:nvSpPr>
          <p:cNvPr id="58" name="Rectangle 57"/>
          <p:cNvSpPr/>
          <p:nvPr/>
        </p:nvSpPr>
        <p:spPr>
          <a:xfrm>
            <a:off x="9616415" y="2496312"/>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Rectangle 58"/>
          <p:cNvSpPr/>
          <p:nvPr/>
        </p:nvSpPr>
        <p:spPr>
          <a:xfrm>
            <a:off x="9616415" y="2496312"/>
            <a:ext cx="2164073" cy="41148"/>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9744431" y="262432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B7791F"/>
                </a:solidFill>
                <a:latin typeface="Roboto"/>
              </a:rPr>
              <a:t>RPT</a:t>
            </a:r>
          </a:p>
        </p:txBody>
      </p:sp>
      <p:sp>
        <p:nvSpPr>
          <p:cNvPr id="61" name="TextBox 60"/>
          <p:cNvSpPr txBox="1"/>
          <p:nvPr/>
        </p:nvSpPr>
        <p:spPr>
          <a:xfrm>
            <a:off x="9744431" y="2852928"/>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Báo cáo hàng loạt và điều hành</a:t>
            </a:r>
          </a:p>
        </p:txBody>
      </p:sp>
      <p:sp>
        <p:nvSpPr>
          <p:cNvPr id="62" name="TextBox 61"/>
          <p:cNvSpPr txBox="1"/>
          <p:nvPr/>
        </p:nvSpPr>
        <p:spPr>
          <a:xfrm>
            <a:off x="9744431" y="306324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5 chức năng</a:t>
            </a:r>
          </a:p>
        </p:txBody>
      </p:sp>
      <p:sp>
        <p:nvSpPr>
          <p:cNvPr id="63" name="Rectangle 62"/>
          <p:cNvSpPr/>
          <p:nvPr/>
        </p:nvSpPr>
        <p:spPr>
          <a:xfrm>
            <a:off x="411480" y="3364991"/>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411480" y="3364991"/>
            <a:ext cx="2164073" cy="41148"/>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539496" y="349300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1E7F4F"/>
                </a:solidFill>
                <a:latin typeface="Roboto"/>
              </a:rPr>
              <a:t>BIL</a:t>
            </a:r>
          </a:p>
        </p:txBody>
      </p:sp>
      <p:sp>
        <p:nvSpPr>
          <p:cNvPr id="66" name="TextBox 65"/>
          <p:cNvSpPr txBox="1"/>
          <p:nvPr/>
        </p:nvSpPr>
        <p:spPr>
          <a:xfrm>
            <a:off x="539496" y="3721607"/>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Định giá, hóa đơn và công nợ</a:t>
            </a:r>
          </a:p>
        </p:txBody>
      </p:sp>
      <p:sp>
        <p:nvSpPr>
          <p:cNvPr id="67" name="TextBox 66"/>
          <p:cNvSpPr txBox="1"/>
          <p:nvPr/>
        </p:nvSpPr>
        <p:spPr>
          <a:xfrm>
            <a:off x="539496" y="393192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4 chức năng</a:t>
            </a:r>
          </a:p>
        </p:txBody>
      </p:sp>
      <p:sp>
        <p:nvSpPr>
          <p:cNvPr id="68" name="Rectangle 67"/>
          <p:cNvSpPr/>
          <p:nvPr/>
        </p:nvSpPr>
        <p:spPr>
          <a:xfrm>
            <a:off x="2712713" y="3364991"/>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Rectangle 68"/>
          <p:cNvSpPr/>
          <p:nvPr/>
        </p:nvSpPr>
        <p:spPr>
          <a:xfrm>
            <a:off x="2712713" y="3364991"/>
            <a:ext cx="2164073" cy="41148"/>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2840729" y="349300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1E7F4F"/>
                </a:solidFill>
                <a:latin typeface="Roboto"/>
              </a:rPr>
              <a:t>HRM</a:t>
            </a:r>
          </a:p>
        </p:txBody>
      </p:sp>
      <p:sp>
        <p:nvSpPr>
          <p:cNvPr id="71" name="TextBox 70"/>
          <p:cNvSpPr txBox="1"/>
          <p:nvPr/>
        </p:nvSpPr>
        <p:spPr>
          <a:xfrm>
            <a:off x="2840729" y="3721607"/>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Nhân sự và năng suất</a:t>
            </a:r>
          </a:p>
        </p:txBody>
      </p:sp>
      <p:sp>
        <p:nvSpPr>
          <p:cNvPr id="72" name="TextBox 71"/>
          <p:cNvSpPr txBox="1"/>
          <p:nvPr/>
        </p:nvSpPr>
        <p:spPr>
          <a:xfrm>
            <a:off x="2840729" y="393192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4 chức năng</a:t>
            </a:r>
          </a:p>
        </p:txBody>
      </p:sp>
      <p:sp>
        <p:nvSpPr>
          <p:cNvPr id="73" name="Rectangle 72"/>
          <p:cNvSpPr/>
          <p:nvPr/>
        </p:nvSpPr>
        <p:spPr>
          <a:xfrm>
            <a:off x="5013947" y="3364991"/>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Rectangle 73"/>
          <p:cNvSpPr/>
          <p:nvPr/>
        </p:nvSpPr>
        <p:spPr>
          <a:xfrm>
            <a:off x="5013947" y="3364991"/>
            <a:ext cx="2164073" cy="41148"/>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5141963" y="349300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FF6302"/>
                </a:solidFill>
                <a:latin typeface="Roboto"/>
              </a:rPr>
              <a:t>AIA</a:t>
            </a:r>
          </a:p>
        </p:txBody>
      </p:sp>
      <p:sp>
        <p:nvSpPr>
          <p:cNvPr id="76" name="TextBox 75"/>
          <p:cNvSpPr txBox="1"/>
          <p:nvPr/>
        </p:nvSpPr>
        <p:spPr>
          <a:xfrm>
            <a:off x="5141963" y="3721607"/>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Trợ lý AI và tác tử nghiệp vụ</a:t>
            </a:r>
          </a:p>
        </p:txBody>
      </p:sp>
      <p:sp>
        <p:nvSpPr>
          <p:cNvPr id="77" name="TextBox 76"/>
          <p:cNvSpPr txBox="1"/>
          <p:nvPr/>
        </p:nvSpPr>
        <p:spPr>
          <a:xfrm>
            <a:off x="5141963" y="393192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8 chức năng</a:t>
            </a:r>
          </a:p>
        </p:txBody>
      </p:sp>
      <p:sp>
        <p:nvSpPr>
          <p:cNvPr id="78" name="Rectangle 77"/>
          <p:cNvSpPr/>
          <p:nvPr/>
        </p:nvSpPr>
        <p:spPr>
          <a:xfrm>
            <a:off x="7315181" y="3364991"/>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Rectangle 78"/>
          <p:cNvSpPr/>
          <p:nvPr/>
        </p:nvSpPr>
        <p:spPr>
          <a:xfrm>
            <a:off x="7315181" y="3364991"/>
            <a:ext cx="2164073" cy="41148"/>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0" name="TextBox 79"/>
          <p:cNvSpPr txBox="1"/>
          <p:nvPr/>
        </p:nvSpPr>
        <p:spPr>
          <a:xfrm>
            <a:off x="7443197" y="349300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0B3A8F"/>
                </a:solidFill>
                <a:latin typeface="Roboto"/>
              </a:rPr>
              <a:t>SEC</a:t>
            </a:r>
          </a:p>
        </p:txBody>
      </p:sp>
      <p:sp>
        <p:nvSpPr>
          <p:cNvPr id="81" name="TextBox 80"/>
          <p:cNvSpPr txBox="1"/>
          <p:nvPr/>
        </p:nvSpPr>
        <p:spPr>
          <a:xfrm>
            <a:off x="7443197" y="3721607"/>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Phân quyền và bảo vệ dữ liệu</a:t>
            </a:r>
          </a:p>
        </p:txBody>
      </p:sp>
      <p:sp>
        <p:nvSpPr>
          <p:cNvPr id="82" name="TextBox 81"/>
          <p:cNvSpPr txBox="1"/>
          <p:nvPr/>
        </p:nvSpPr>
        <p:spPr>
          <a:xfrm>
            <a:off x="7443197" y="393192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6 chức năng</a:t>
            </a:r>
          </a:p>
        </p:txBody>
      </p:sp>
      <p:sp>
        <p:nvSpPr>
          <p:cNvPr id="83" name="Rectangle 82"/>
          <p:cNvSpPr/>
          <p:nvPr/>
        </p:nvSpPr>
        <p:spPr>
          <a:xfrm>
            <a:off x="9616415" y="3364991"/>
            <a:ext cx="2164073" cy="74980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Rectangle 83"/>
          <p:cNvSpPr/>
          <p:nvPr/>
        </p:nvSpPr>
        <p:spPr>
          <a:xfrm>
            <a:off x="9616415" y="3364991"/>
            <a:ext cx="2164073" cy="4114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9744431" y="3493008"/>
            <a:ext cx="1908041" cy="201168"/>
          </a:xfrm>
          <a:prstGeom prst="rect">
            <a:avLst/>
          </a:prstGeom>
          <a:noFill/>
        </p:spPr>
        <p:txBody>
          <a:bodyPr wrap="square" lIns="0" rIns="0" tIns="0" bIns="0" anchor="t">
            <a:spAutoFit/>
          </a:bodyPr>
          <a:lstStyle/>
          <a:p>
            <a:pPr algn="l">
              <a:lnSpc>
                <a:spcPct val="100000"/>
              </a:lnSpc>
              <a:spcAft>
                <a:spcPts val="400"/>
              </a:spcAft>
            </a:pPr>
            <a:r>
              <a:rPr sz="1100" b="1">
                <a:solidFill>
                  <a:srgbClr val="475569"/>
                </a:solidFill>
                <a:latin typeface="Roboto"/>
              </a:rPr>
              <a:t>API</a:t>
            </a:r>
          </a:p>
        </p:txBody>
      </p:sp>
      <p:sp>
        <p:nvSpPr>
          <p:cNvPr id="86" name="TextBox 85"/>
          <p:cNvSpPr txBox="1"/>
          <p:nvPr/>
        </p:nvSpPr>
        <p:spPr>
          <a:xfrm>
            <a:off x="9744431" y="3721607"/>
            <a:ext cx="1908041" cy="310896"/>
          </a:xfrm>
          <a:prstGeom prst="rect">
            <a:avLst/>
          </a:prstGeom>
          <a:noFill/>
        </p:spPr>
        <p:txBody>
          <a:bodyPr wrap="square" lIns="0" rIns="0" tIns="0" bIns="0" anchor="t">
            <a:spAutoFit/>
          </a:bodyPr>
          <a:lstStyle/>
          <a:p>
            <a:pPr algn="l">
              <a:lnSpc>
                <a:spcPct val="110000"/>
              </a:lnSpc>
              <a:spcAft>
                <a:spcPts val="400"/>
              </a:spcAft>
            </a:pPr>
            <a:r>
              <a:rPr sz="880" b="0">
                <a:solidFill>
                  <a:srgbClr val="111827"/>
                </a:solidFill>
                <a:latin typeface="Roboto"/>
              </a:rPr>
              <a:t>Dịch vụ cho đối tác</a:t>
            </a:r>
          </a:p>
        </p:txBody>
      </p:sp>
      <p:sp>
        <p:nvSpPr>
          <p:cNvPr id="87" name="TextBox 86"/>
          <p:cNvSpPr txBox="1"/>
          <p:nvPr/>
        </p:nvSpPr>
        <p:spPr>
          <a:xfrm>
            <a:off x="9744431" y="3931920"/>
            <a:ext cx="1908041" cy="164592"/>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4 chức năng</a:t>
            </a:r>
          </a:p>
        </p:txBody>
      </p:sp>
      <p:sp>
        <p:nvSpPr>
          <p:cNvPr id="88" name="Rectangle 87"/>
          <p:cNvSpPr/>
          <p:nvPr/>
        </p:nvSpPr>
        <p:spPr>
          <a:xfrm>
            <a:off x="411480" y="4306824"/>
            <a:ext cx="11369009" cy="36576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00" b="1">
                <a:solidFill>
                  <a:srgbClr val="475569"/>
                </a:solidFill>
                <a:latin typeface="Roboto"/>
              </a:rPr>
              <a:t>Màu đỏ là bốn phân hệ giải quyết trực tiếp các điểm nghẽn nặng nhất và nằm trọn trong giai đoạn 1. Màu cam là lớp tác tử AI, triển khai dần qua cả ba giai đoạn.</a:t>
            </a:r>
          </a:p>
        </p:txBody>
      </p:sp>
      <p:sp>
        <p:nvSpPr>
          <p:cNvPr id="89" name="Rectangle 88"/>
          <p:cNvSpPr/>
          <p:nvPr/>
        </p:nvSpPr>
        <p:spPr>
          <a:xfrm>
            <a:off x="411480" y="4782312"/>
            <a:ext cx="159166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Giai đoạn</a:t>
            </a:r>
          </a:p>
        </p:txBody>
      </p:sp>
      <p:sp>
        <p:nvSpPr>
          <p:cNvPr id="90" name="Rectangle 89"/>
          <p:cNvSpPr/>
          <p:nvPr/>
        </p:nvSpPr>
        <p:spPr>
          <a:xfrm>
            <a:off x="2003141" y="4782312"/>
            <a:ext cx="6594025"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Phạm vi chính</a:t>
            </a:r>
          </a:p>
        </p:txBody>
      </p:sp>
      <p:sp>
        <p:nvSpPr>
          <p:cNvPr id="91" name="Rectangle 90"/>
          <p:cNvSpPr/>
          <p:nvPr/>
        </p:nvSpPr>
        <p:spPr>
          <a:xfrm>
            <a:off x="8597166" y="4782312"/>
            <a:ext cx="159166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Người-ngày</a:t>
            </a:r>
          </a:p>
        </p:txBody>
      </p:sp>
      <p:sp>
        <p:nvSpPr>
          <p:cNvPr id="92" name="Rectangle 91"/>
          <p:cNvSpPr/>
          <p:nvPr/>
        </p:nvSpPr>
        <p:spPr>
          <a:xfrm>
            <a:off x="10188828" y="4782312"/>
            <a:ext cx="159166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Thời gian</a:t>
            </a:r>
          </a:p>
        </p:txBody>
      </p:sp>
      <p:sp>
        <p:nvSpPr>
          <p:cNvPr id="93" name="Rectangle 92"/>
          <p:cNvSpPr/>
          <p:nvPr/>
        </p:nvSpPr>
        <p:spPr>
          <a:xfrm>
            <a:off x="411480" y="5074920"/>
            <a:ext cx="159166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Giai đoạn 1</a:t>
            </a:r>
          </a:p>
        </p:txBody>
      </p:sp>
      <p:sp>
        <p:nvSpPr>
          <p:cNvPr id="94" name="Rectangle 93"/>
          <p:cNvSpPr/>
          <p:nvPr/>
        </p:nvSpPr>
        <p:spPr>
          <a:xfrm>
            <a:off x="2003141" y="5074920"/>
            <a:ext cx="6594025"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Nền tảng, website, cổng khách hàng, khách hàng và hợp đồng, số hóa chứng từ, sổ hóa đơn và đối soát, lịch tuân thủ, giao việc, phân quyền, tác tử số hóa</a:t>
            </a:r>
          </a:p>
        </p:txBody>
      </p:sp>
      <p:sp>
        <p:nvSpPr>
          <p:cNvPr id="95" name="Rectangle 94"/>
          <p:cNvSpPr/>
          <p:nvPr/>
        </p:nvSpPr>
        <p:spPr>
          <a:xfrm>
            <a:off x="8597166" y="5074920"/>
            <a:ext cx="159166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284</a:t>
            </a:r>
          </a:p>
        </p:txBody>
      </p:sp>
      <p:sp>
        <p:nvSpPr>
          <p:cNvPr id="96" name="Rectangle 95"/>
          <p:cNvSpPr/>
          <p:nvPr/>
        </p:nvSpPr>
        <p:spPr>
          <a:xfrm>
            <a:off x="10188828" y="5074920"/>
            <a:ext cx="159166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Khoảng 4 tháng</a:t>
            </a:r>
          </a:p>
        </p:txBody>
      </p:sp>
      <p:sp>
        <p:nvSpPr>
          <p:cNvPr id="97" name="Rectangle 96"/>
          <p:cNvSpPr/>
          <p:nvPr/>
        </p:nvSpPr>
        <p:spPr>
          <a:xfrm>
            <a:off x="411480" y="5440680"/>
            <a:ext cx="1591661"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Giai đoạn 2</a:t>
            </a:r>
          </a:p>
        </p:txBody>
      </p:sp>
      <p:sp>
        <p:nvSpPr>
          <p:cNvPr id="98" name="Rectangle 97"/>
          <p:cNvSpPr/>
          <p:nvPr/>
        </p:nvSpPr>
        <p:spPr>
          <a:xfrm>
            <a:off x="2003141" y="5440680"/>
            <a:ext cx="6594025"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Ghi sổ và đồng bộ, soát xét chất lượng, báo cáo hàng loạt, định giá và công nợ, phê duyệt, tác tử rà soát, tác tử chăm sóc khách, bản tin điều hành</a:t>
            </a:r>
          </a:p>
        </p:txBody>
      </p:sp>
      <p:sp>
        <p:nvSpPr>
          <p:cNvPr id="99" name="Rectangle 98"/>
          <p:cNvSpPr/>
          <p:nvPr/>
        </p:nvSpPr>
        <p:spPr>
          <a:xfrm>
            <a:off x="8597166" y="5440680"/>
            <a:ext cx="1591661"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180</a:t>
            </a:r>
          </a:p>
        </p:txBody>
      </p:sp>
      <p:sp>
        <p:nvSpPr>
          <p:cNvPr id="100" name="Rectangle 99"/>
          <p:cNvSpPr/>
          <p:nvPr/>
        </p:nvSpPr>
        <p:spPr>
          <a:xfrm>
            <a:off x="10188828" y="5440680"/>
            <a:ext cx="1591661"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Khoảng 3 tháng</a:t>
            </a:r>
          </a:p>
        </p:txBody>
      </p:sp>
      <p:sp>
        <p:nvSpPr>
          <p:cNvPr id="101" name="Rectangle 100"/>
          <p:cNvSpPr/>
          <p:nvPr/>
        </p:nvSpPr>
        <p:spPr>
          <a:xfrm>
            <a:off x="411480" y="5806440"/>
            <a:ext cx="159166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Giai đoạn 3</a:t>
            </a:r>
          </a:p>
        </p:txBody>
      </p:sp>
      <p:sp>
        <p:nvSpPr>
          <p:cNvPr id="102" name="Rectangle 101"/>
          <p:cNvSpPr/>
          <p:nvPr/>
        </p:nvSpPr>
        <p:spPr>
          <a:xfrm>
            <a:off x="2003141" y="5806440"/>
            <a:ext cx="6594025"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Hỏi đáp pháp luật có trích dẫn, tra cứu bằng câu hỏi thường, soạn thảo văn bản, năng suất nhân sự, dịch vụ API</a:t>
            </a:r>
          </a:p>
        </p:txBody>
      </p:sp>
      <p:sp>
        <p:nvSpPr>
          <p:cNvPr id="103" name="Rectangle 102"/>
          <p:cNvSpPr/>
          <p:nvPr/>
        </p:nvSpPr>
        <p:spPr>
          <a:xfrm>
            <a:off x="8597166" y="5806440"/>
            <a:ext cx="159166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70</a:t>
            </a:r>
          </a:p>
        </p:txBody>
      </p:sp>
      <p:sp>
        <p:nvSpPr>
          <p:cNvPr id="104" name="Rectangle 103"/>
          <p:cNvSpPr/>
          <p:nvPr/>
        </p:nvSpPr>
        <p:spPr>
          <a:xfrm>
            <a:off x="10188828" y="5806440"/>
            <a:ext cx="159166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Khoảng 2 tháng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Chu trình chứng từ hàng tháng: trước và sau</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Luồng nghiệp vụ liên thông qua nhiều phòng ban và nhiều vai trò. Phần màu xanh là phần máy làm hoàn toàn.</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10</a:t>
            </a:r>
          </a:p>
        </p:txBody>
      </p:sp>
      <p:sp>
        <p:nvSpPr>
          <p:cNvPr id="13" name="Rectangle 12"/>
          <p:cNvSpPr/>
          <p:nvPr/>
        </p:nvSpPr>
        <p:spPr>
          <a:xfrm>
            <a:off x="411480" y="1572768"/>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572768"/>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1</a:t>
            </a:r>
          </a:p>
        </p:txBody>
      </p:sp>
      <p:sp>
        <p:nvSpPr>
          <p:cNvPr id="15" name="Rectangle 14"/>
          <p:cNvSpPr/>
          <p:nvPr/>
        </p:nvSpPr>
        <p:spPr>
          <a:xfrm>
            <a:off x="795528" y="1572768"/>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Nhắc khách nộp chứng từ theo lịch riêng của từng khách</a:t>
            </a:r>
          </a:p>
        </p:txBody>
      </p:sp>
      <p:sp>
        <p:nvSpPr>
          <p:cNvPr id="16" name="Rectangle 15"/>
          <p:cNvSpPr/>
          <p:nvPr/>
        </p:nvSpPr>
        <p:spPr>
          <a:xfrm>
            <a:off x="9677369" y="1572768"/>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17" name="Rectangle 16"/>
          <p:cNvSpPr/>
          <p:nvPr/>
        </p:nvSpPr>
        <p:spPr>
          <a:xfrm>
            <a:off x="411480" y="1944928"/>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411480" y="1944928"/>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2</a:t>
            </a:r>
          </a:p>
        </p:txBody>
      </p:sp>
      <p:sp>
        <p:nvSpPr>
          <p:cNvPr id="19" name="Rectangle 18"/>
          <p:cNvSpPr/>
          <p:nvPr/>
        </p:nvSpPr>
        <p:spPr>
          <a:xfrm>
            <a:off x="795528" y="1944928"/>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Khách chụp ảnh và nộp qua cổng khách hàng hoặc Zalo</a:t>
            </a:r>
          </a:p>
        </p:txBody>
      </p:sp>
      <p:sp>
        <p:nvSpPr>
          <p:cNvPr id="20" name="Rectangle 19"/>
          <p:cNvSpPr/>
          <p:nvPr/>
        </p:nvSpPr>
        <p:spPr>
          <a:xfrm>
            <a:off x="9677369" y="1944928"/>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Khách tự phục vụ</a:t>
            </a:r>
          </a:p>
        </p:txBody>
      </p:sp>
      <p:sp>
        <p:nvSpPr>
          <p:cNvPr id="21" name="Rectangle 20"/>
          <p:cNvSpPr/>
          <p:nvPr/>
        </p:nvSpPr>
        <p:spPr>
          <a:xfrm>
            <a:off x="411480" y="2317089"/>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411480" y="2317089"/>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3</a:t>
            </a:r>
          </a:p>
        </p:txBody>
      </p:sp>
      <p:sp>
        <p:nvSpPr>
          <p:cNvPr id="23" name="Rectangle 22"/>
          <p:cNvSpPr/>
          <p:nvPr/>
        </p:nvSpPr>
        <p:spPr>
          <a:xfrm>
            <a:off x="795528" y="2317089"/>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Kiểm tra chất lượng ảnh, trả lại ngay nếu không đọc được</a:t>
            </a:r>
          </a:p>
        </p:txBody>
      </p:sp>
      <p:sp>
        <p:nvSpPr>
          <p:cNvPr id="24" name="Rectangle 23"/>
          <p:cNvSpPr/>
          <p:nvPr/>
        </p:nvSpPr>
        <p:spPr>
          <a:xfrm>
            <a:off x="9677369" y="2317089"/>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25" name="Rectangle 24"/>
          <p:cNvSpPr/>
          <p:nvPr/>
        </p:nvSpPr>
        <p:spPr>
          <a:xfrm>
            <a:off x="411480" y="2689250"/>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411480" y="2689250"/>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4</a:t>
            </a:r>
          </a:p>
        </p:txBody>
      </p:sp>
      <p:sp>
        <p:nvSpPr>
          <p:cNvPr id="27" name="Rectangle 26"/>
          <p:cNvSpPr/>
          <p:nvPr/>
        </p:nvSpPr>
        <p:spPr>
          <a:xfrm>
            <a:off x="795528" y="2689250"/>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Phân loại chứng từ và trích xuất dữ liệu có cấu trúc</a:t>
            </a:r>
          </a:p>
        </p:txBody>
      </p:sp>
      <p:sp>
        <p:nvSpPr>
          <p:cNvPr id="28" name="Rectangle 27"/>
          <p:cNvSpPr/>
          <p:nvPr/>
        </p:nvSpPr>
        <p:spPr>
          <a:xfrm>
            <a:off x="9677369" y="2689250"/>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29" name="Rectangle 28"/>
          <p:cNvSpPr/>
          <p:nvPr/>
        </p:nvSpPr>
        <p:spPr>
          <a:xfrm>
            <a:off x="411480" y="3061411"/>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11480" y="3061411"/>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5</a:t>
            </a:r>
          </a:p>
        </p:txBody>
      </p:sp>
      <p:sp>
        <p:nvSpPr>
          <p:cNvPr id="31" name="Rectangle 30"/>
          <p:cNvSpPr/>
          <p:nvPr/>
        </p:nvSpPr>
        <p:spPr>
          <a:xfrm>
            <a:off x="795528" y="3061411"/>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Đối chiếu với bản XML trên hệ thống hóa đơn điện tử</a:t>
            </a:r>
          </a:p>
        </p:txBody>
      </p:sp>
      <p:sp>
        <p:nvSpPr>
          <p:cNvPr id="32" name="Rectangle 31"/>
          <p:cNvSpPr/>
          <p:nvPr/>
        </p:nvSpPr>
        <p:spPr>
          <a:xfrm>
            <a:off x="9677369" y="3061411"/>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33" name="Rectangle 32"/>
          <p:cNvSpPr/>
          <p:nvPr/>
        </p:nvSpPr>
        <p:spPr>
          <a:xfrm>
            <a:off x="411480" y="3433572"/>
            <a:ext cx="384048" cy="34290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1480" y="3433572"/>
            <a:ext cx="384048" cy="34290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6</a:t>
            </a:r>
          </a:p>
        </p:txBody>
      </p:sp>
      <p:sp>
        <p:nvSpPr>
          <p:cNvPr id="35" name="Rectangle 34"/>
          <p:cNvSpPr/>
          <p:nvPr/>
        </p:nvSpPr>
        <p:spPr>
          <a:xfrm>
            <a:off x="795528" y="3433572"/>
            <a:ext cx="8881841" cy="34290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Người chỉ soát các trường độ tin cậy thấp và các trường hợp lệch</a:t>
            </a:r>
          </a:p>
        </p:txBody>
      </p:sp>
      <p:sp>
        <p:nvSpPr>
          <p:cNvPr id="36" name="Rectangle 35"/>
          <p:cNvSpPr/>
          <p:nvPr/>
        </p:nvSpPr>
        <p:spPr>
          <a:xfrm>
            <a:off x="9677369" y="3433572"/>
            <a:ext cx="2103120" cy="34290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F6FD0"/>
                </a:solidFill>
                <a:latin typeface="Roboto"/>
              </a:rPr>
              <a:t>Kế toán viên</a:t>
            </a:r>
          </a:p>
        </p:txBody>
      </p:sp>
      <p:sp>
        <p:nvSpPr>
          <p:cNvPr id="37" name="Rectangle 36"/>
          <p:cNvSpPr/>
          <p:nvPr/>
        </p:nvSpPr>
        <p:spPr>
          <a:xfrm>
            <a:off x="411480" y="3805732"/>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411480" y="3805732"/>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7</a:t>
            </a:r>
          </a:p>
        </p:txBody>
      </p:sp>
      <p:sp>
        <p:nvSpPr>
          <p:cNvPr id="39" name="Rectangle 38"/>
          <p:cNvSpPr/>
          <p:nvPr/>
        </p:nvSpPr>
        <p:spPr>
          <a:xfrm>
            <a:off x="795528" y="3805732"/>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Sinh bút toán theo bộ quy tắc của khách và đưa vào sổ</a:t>
            </a:r>
          </a:p>
        </p:txBody>
      </p:sp>
      <p:sp>
        <p:nvSpPr>
          <p:cNvPr id="40" name="Rectangle 39"/>
          <p:cNvSpPr/>
          <p:nvPr/>
        </p:nvSpPr>
        <p:spPr>
          <a:xfrm>
            <a:off x="9677369" y="3805732"/>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41" name="Rectangle 40"/>
          <p:cNvSpPr/>
          <p:nvPr/>
        </p:nvSpPr>
        <p:spPr>
          <a:xfrm>
            <a:off x="411480" y="4177893"/>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411480" y="4177893"/>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8</a:t>
            </a:r>
          </a:p>
        </p:txBody>
      </p:sp>
      <p:sp>
        <p:nvSpPr>
          <p:cNvPr id="43" name="Rectangle 42"/>
          <p:cNvSpPr/>
          <p:nvPr/>
        </p:nvSpPr>
        <p:spPr>
          <a:xfrm>
            <a:off x="795528" y="4177893"/>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Tác tử rà soát điểm bất hợp lý trước khi khóa sổ</a:t>
            </a:r>
          </a:p>
        </p:txBody>
      </p:sp>
      <p:sp>
        <p:nvSpPr>
          <p:cNvPr id="44" name="Rectangle 43"/>
          <p:cNvSpPr/>
          <p:nvPr/>
        </p:nvSpPr>
        <p:spPr>
          <a:xfrm>
            <a:off x="9677369" y="4177893"/>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45" name="Rectangle 44"/>
          <p:cNvSpPr/>
          <p:nvPr/>
        </p:nvSpPr>
        <p:spPr>
          <a:xfrm>
            <a:off x="411480" y="4550054"/>
            <a:ext cx="384048" cy="34290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411480" y="4550054"/>
            <a:ext cx="384048" cy="342900"/>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9</a:t>
            </a:r>
          </a:p>
        </p:txBody>
      </p:sp>
      <p:sp>
        <p:nvSpPr>
          <p:cNvPr id="47" name="Rectangle 46"/>
          <p:cNvSpPr/>
          <p:nvPr/>
        </p:nvSpPr>
        <p:spPr>
          <a:xfrm>
            <a:off x="795528" y="4550054"/>
            <a:ext cx="8881841" cy="34290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Kế toán trưởng soát theo bộ tiêu chí và ký duyệt</a:t>
            </a:r>
          </a:p>
        </p:txBody>
      </p:sp>
      <p:sp>
        <p:nvSpPr>
          <p:cNvPr id="48" name="Rectangle 47"/>
          <p:cNvSpPr/>
          <p:nvPr/>
        </p:nvSpPr>
        <p:spPr>
          <a:xfrm>
            <a:off x="9677369" y="4550054"/>
            <a:ext cx="2103120" cy="34290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F6FD0"/>
                </a:solidFill>
                <a:latin typeface="Roboto"/>
              </a:rPr>
              <a:t>Kế toán trưởng</a:t>
            </a:r>
          </a:p>
        </p:txBody>
      </p:sp>
      <p:sp>
        <p:nvSpPr>
          <p:cNvPr id="49" name="Rectangle 48"/>
          <p:cNvSpPr/>
          <p:nvPr/>
        </p:nvSpPr>
        <p:spPr>
          <a:xfrm>
            <a:off x="411480" y="4922215"/>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411480" y="4922215"/>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10</a:t>
            </a:r>
          </a:p>
        </p:txBody>
      </p:sp>
      <p:sp>
        <p:nvSpPr>
          <p:cNvPr id="51" name="Rectangle 50"/>
          <p:cNvSpPr/>
          <p:nvPr/>
        </p:nvSpPr>
        <p:spPr>
          <a:xfrm>
            <a:off x="795528" y="4922215"/>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Sinh tờ khai, bộ hồ sơ, nộp và lưu biên nhận</a:t>
            </a:r>
          </a:p>
        </p:txBody>
      </p:sp>
      <p:sp>
        <p:nvSpPr>
          <p:cNvPr id="52" name="Rectangle 51"/>
          <p:cNvSpPr/>
          <p:nvPr/>
        </p:nvSpPr>
        <p:spPr>
          <a:xfrm>
            <a:off x="9677369" y="4922215"/>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53" name="Rectangle 52"/>
          <p:cNvSpPr/>
          <p:nvPr/>
        </p:nvSpPr>
        <p:spPr>
          <a:xfrm>
            <a:off x="411480" y="5294376"/>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411480" y="5294376"/>
            <a:ext cx="384048" cy="342900"/>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1050" b="1">
                <a:solidFill>
                  <a:srgbClr val="FFFFFF"/>
                </a:solidFill>
                <a:latin typeface="Roboto"/>
              </a:rPr>
              <a:t>11</a:t>
            </a:r>
          </a:p>
        </p:txBody>
      </p:sp>
      <p:sp>
        <p:nvSpPr>
          <p:cNvPr id="55" name="Rectangle 54"/>
          <p:cNvSpPr/>
          <p:nvPr/>
        </p:nvSpPr>
        <p:spPr>
          <a:xfrm>
            <a:off x="795528" y="5294376"/>
            <a:ext cx="8881841"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l">
              <a:lnSpc>
                <a:spcPct val="100000"/>
              </a:lnSpc>
              <a:spcAft>
                <a:spcPts val="400"/>
              </a:spcAft>
            </a:pPr>
            <a:r>
              <a:rPr sz="1000" b="0">
                <a:solidFill>
                  <a:srgbClr val="111827"/>
                </a:solidFill>
                <a:latin typeface="Roboto"/>
              </a:rPr>
              <a:t>Đẩy bộ hồ sơ sang cổng khách hàng và báo khách</a:t>
            </a:r>
          </a:p>
        </p:txBody>
      </p:sp>
      <p:sp>
        <p:nvSpPr>
          <p:cNvPr id="56" name="Rectangle 55"/>
          <p:cNvSpPr/>
          <p:nvPr/>
        </p:nvSpPr>
        <p:spPr>
          <a:xfrm>
            <a:off x="9677369" y="5294376"/>
            <a:ext cx="2103120" cy="3429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a:lstStyle/>
          <a:p>
            <a:pPr algn="r">
              <a:lnSpc>
                <a:spcPct val="100000"/>
              </a:lnSpc>
              <a:spcAft>
                <a:spcPts val="400"/>
              </a:spcAft>
            </a:pPr>
            <a:r>
              <a:rPr sz="950" b="1">
                <a:solidFill>
                  <a:srgbClr val="1E7F4F"/>
                </a:solidFill>
                <a:latin typeface="Roboto"/>
              </a:rPr>
              <a:t>Máy</a:t>
            </a:r>
          </a:p>
        </p:txBody>
      </p:sp>
      <p:sp>
        <p:nvSpPr>
          <p:cNvPr id="57" name="Rectangle 56"/>
          <p:cNvSpPr/>
          <p:nvPr/>
        </p:nvSpPr>
        <p:spPr>
          <a:xfrm>
            <a:off x="411480" y="5703112"/>
            <a:ext cx="11369009" cy="402336"/>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0B3A8F"/>
                </a:solidFill>
                <a:latin typeface="Roboto"/>
              </a:rPr>
              <a:t>Chín trên mười một bước do máy làm. Con người chỉ còn hai điểm chạm, và cả hai đều là điểm cần phán đoán chuyên môn chứ không phải thao tác lặp lại.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Tám tác tử AI làm việc thay người</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Đúng yêu cầu đã nêu: tác tử làm thay nhân viên và giảm tải cho giám đốc. Mỗi tác tử có phạm vi rõ ràng và luôn có điểm bàn giao cho người khi vượt phạm vi.</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11</a:t>
            </a:r>
          </a:p>
        </p:txBody>
      </p:sp>
      <p:sp>
        <p:nvSpPr>
          <p:cNvPr id="13" name="Rectangle 12"/>
          <p:cNvSpPr/>
          <p:nvPr/>
        </p:nvSpPr>
        <p:spPr>
          <a:xfrm>
            <a:off x="411480" y="1609344"/>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609344"/>
            <a:ext cx="45720" cy="877824"/>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76072" y="1719072"/>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Tác tử số hóa chứng từ</a:t>
            </a:r>
          </a:p>
        </p:txBody>
      </p:sp>
      <p:sp>
        <p:nvSpPr>
          <p:cNvPr id="16" name="Rectangle 15"/>
          <p:cNvSpPr/>
          <p:nvPr/>
        </p:nvSpPr>
        <p:spPr>
          <a:xfrm>
            <a:off x="5227304" y="1719072"/>
            <a:ext cx="585216" cy="201168"/>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1</a:t>
            </a:r>
          </a:p>
        </p:txBody>
      </p:sp>
      <p:sp>
        <p:nvSpPr>
          <p:cNvPr id="17" name="TextBox 16"/>
          <p:cNvSpPr txBox="1"/>
          <p:nvPr/>
        </p:nvSpPr>
        <p:spPr>
          <a:xfrm>
            <a:off x="576072" y="1993392"/>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Tự nhận việc từ hàng đợi, trích xuất, đối chiếu, chỉ đẩy phần cần người vào danh sách soát. Chạy suốt ngày đêm.</a:t>
            </a:r>
          </a:p>
        </p:txBody>
      </p:sp>
      <p:sp>
        <p:nvSpPr>
          <p:cNvPr id="18" name="Rectangle 17"/>
          <p:cNvSpPr/>
          <p:nvPr/>
        </p:nvSpPr>
        <p:spPr>
          <a:xfrm>
            <a:off x="6233144" y="1609344"/>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33144" y="1609344"/>
            <a:ext cx="45720" cy="877824"/>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397736" y="1719072"/>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Cổng mô hình dùng chung</a:t>
            </a:r>
          </a:p>
        </p:txBody>
      </p:sp>
      <p:sp>
        <p:nvSpPr>
          <p:cNvPr id="21" name="Rectangle 20"/>
          <p:cNvSpPr/>
          <p:nvPr/>
        </p:nvSpPr>
        <p:spPr>
          <a:xfrm>
            <a:off x="11048969" y="1719072"/>
            <a:ext cx="585216" cy="201168"/>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1</a:t>
            </a:r>
          </a:p>
        </p:txBody>
      </p:sp>
      <p:sp>
        <p:nvSpPr>
          <p:cNvPr id="22" name="TextBox 21"/>
          <p:cNvSpPr txBox="1"/>
          <p:nvPr/>
        </p:nvSpPr>
        <p:spPr>
          <a:xfrm>
            <a:off x="6397736" y="1993392"/>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Mọi lệnh gọi mô hình đi qua một cửa, có nhật ký, lưu đệm và hạn mức chi phí theo tháng.</a:t>
            </a:r>
          </a:p>
        </p:txBody>
      </p:sp>
      <p:sp>
        <p:nvSpPr>
          <p:cNvPr id="23" name="Rectangle 22"/>
          <p:cNvSpPr/>
          <p:nvPr/>
        </p:nvSpPr>
        <p:spPr>
          <a:xfrm>
            <a:off x="411480" y="2596896"/>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11480" y="2596896"/>
            <a:ext cx="45720" cy="877824"/>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76072" y="2706624"/>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Tác tử rà soát bất hợp lý</a:t>
            </a:r>
          </a:p>
        </p:txBody>
      </p:sp>
      <p:sp>
        <p:nvSpPr>
          <p:cNvPr id="26" name="Rectangle 25"/>
          <p:cNvSpPr/>
          <p:nvPr/>
        </p:nvSpPr>
        <p:spPr>
          <a:xfrm>
            <a:off x="5227304" y="2706624"/>
            <a:ext cx="585216" cy="201168"/>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2</a:t>
            </a:r>
          </a:p>
        </p:txBody>
      </p:sp>
      <p:sp>
        <p:nvSpPr>
          <p:cNvPr id="27" name="TextBox 26"/>
          <p:cNvSpPr txBox="1"/>
          <p:nvPr/>
        </p:nvSpPr>
        <p:spPr>
          <a:xfrm>
            <a:off x="576072" y="2980944"/>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Đọc toàn bộ sổ một khách trong kỳ, tìm điểm lệch logic, thiếu chứng từ, biến động bất thường, rủi ro thuế.</a:t>
            </a:r>
          </a:p>
        </p:txBody>
      </p:sp>
      <p:sp>
        <p:nvSpPr>
          <p:cNvPr id="28" name="Rectangle 27"/>
          <p:cNvSpPr/>
          <p:nvPr/>
        </p:nvSpPr>
        <p:spPr>
          <a:xfrm>
            <a:off x="6233144" y="2596896"/>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33144" y="2596896"/>
            <a:ext cx="45720" cy="877824"/>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97736" y="2706624"/>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Tác tử chăm sóc khách hàng</a:t>
            </a:r>
          </a:p>
        </p:txBody>
      </p:sp>
      <p:sp>
        <p:nvSpPr>
          <p:cNvPr id="31" name="Rectangle 30"/>
          <p:cNvSpPr/>
          <p:nvPr/>
        </p:nvSpPr>
        <p:spPr>
          <a:xfrm>
            <a:off x="11048969" y="2706624"/>
            <a:ext cx="585216" cy="201168"/>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2</a:t>
            </a:r>
          </a:p>
        </p:txBody>
      </p:sp>
      <p:sp>
        <p:nvSpPr>
          <p:cNvPr id="32" name="TextBox 31"/>
          <p:cNvSpPr txBox="1"/>
          <p:nvPr/>
        </p:nvSpPr>
        <p:spPr>
          <a:xfrm>
            <a:off x="6397736" y="2980944"/>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Nhắc nộp chứng từ còn thiếu, trả lời trạng thái hồ sơ, nhắc hạn nộp, nhắc gia hạn hợp đồng qua Zalo.</a:t>
            </a:r>
          </a:p>
        </p:txBody>
      </p:sp>
      <p:sp>
        <p:nvSpPr>
          <p:cNvPr id="33" name="Rectangle 32"/>
          <p:cNvSpPr/>
          <p:nvPr/>
        </p:nvSpPr>
        <p:spPr>
          <a:xfrm>
            <a:off x="411480" y="3584448"/>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411480" y="3584448"/>
            <a:ext cx="45720" cy="87782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76072" y="3694176"/>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Bản tin điều hành buổi sáng</a:t>
            </a:r>
          </a:p>
        </p:txBody>
      </p:sp>
      <p:sp>
        <p:nvSpPr>
          <p:cNvPr id="36" name="Rectangle 35"/>
          <p:cNvSpPr/>
          <p:nvPr/>
        </p:nvSpPr>
        <p:spPr>
          <a:xfrm>
            <a:off x="5227304" y="3694176"/>
            <a:ext cx="585216" cy="201168"/>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2</a:t>
            </a:r>
          </a:p>
        </p:txBody>
      </p:sp>
      <p:sp>
        <p:nvSpPr>
          <p:cNvPr id="37" name="TextBox 36"/>
          <p:cNvSpPr txBox="1"/>
          <p:nvPr/>
        </p:nvSpPr>
        <p:spPr>
          <a:xfrm>
            <a:off x="576072" y="3968496"/>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Mỗi sáng gửi giám đốc một bản ngắn: việc cần quyết hôm nay, hồ sơ sắp trễ, cảnh báo rủi ro, số liệu đáng chú ý.</a:t>
            </a:r>
          </a:p>
        </p:txBody>
      </p:sp>
      <p:sp>
        <p:nvSpPr>
          <p:cNvPr id="38" name="Rectangle 37"/>
          <p:cNvSpPr/>
          <p:nvPr/>
        </p:nvSpPr>
        <p:spPr>
          <a:xfrm>
            <a:off x="6233144" y="3584448"/>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6233144" y="3584448"/>
            <a:ext cx="45720" cy="877824"/>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397736" y="3694176"/>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Hỏi đáp pháp luật có trích dẫn</a:t>
            </a:r>
          </a:p>
        </p:txBody>
      </p:sp>
      <p:sp>
        <p:nvSpPr>
          <p:cNvPr id="41" name="Rectangle 40"/>
          <p:cNvSpPr/>
          <p:nvPr/>
        </p:nvSpPr>
        <p:spPr>
          <a:xfrm>
            <a:off x="11048969" y="3694176"/>
            <a:ext cx="585216" cy="201168"/>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3</a:t>
            </a:r>
          </a:p>
        </p:txBody>
      </p:sp>
      <p:sp>
        <p:nvSpPr>
          <p:cNvPr id="42" name="TextBox 41"/>
          <p:cNvSpPr txBox="1"/>
          <p:nvPr/>
        </p:nvSpPr>
        <p:spPr>
          <a:xfrm>
            <a:off x="6397736" y="3968496"/>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Trả lời dựa trên kho văn bản pháp luật, công văn và tiền lệ xử lý của chính ATL, luôn kèm nguồn để tự kiểm chứng.</a:t>
            </a:r>
          </a:p>
        </p:txBody>
      </p:sp>
      <p:sp>
        <p:nvSpPr>
          <p:cNvPr id="43" name="Rectangle 42"/>
          <p:cNvSpPr/>
          <p:nvPr/>
        </p:nvSpPr>
        <p:spPr>
          <a:xfrm>
            <a:off x="411480" y="4572000"/>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11480" y="4572000"/>
            <a:ext cx="45720" cy="877824"/>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76072" y="4681728"/>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Tra cứu bằng câu hỏi thường</a:t>
            </a:r>
          </a:p>
        </p:txBody>
      </p:sp>
      <p:sp>
        <p:nvSpPr>
          <p:cNvPr id="46" name="Rectangle 45"/>
          <p:cNvSpPr/>
          <p:nvPr/>
        </p:nvSpPr>
        <p:spPr>
          <a:xfrm>
            <a:off x="5227304" y="4681728"/>
            <a:ext cx="585216" cy="201168"/>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3</a:t>
            </a:r>
          </a:p>
        </p:txBody>
      </p:sp>
      <p:sp>
        <p:nvSpPr>
          <p:cNvPr id="47" name="TextBox 46"/>
          <p:cNvSpPr txBox="1"/>
          <p:nvPr/>
        </p:nvSpPr>
        <p:spPr>
          <a:xfrm>
            <a:off x="576072" y="4956048"/>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Hỏi bằng tiếng Việt thường, hệ thống dựng truy vấn và trả về bảng số liệu kèm cách tính.</a:t>
            </a:r>
          </a:p>
        </p:txBody>
      </p:sp>
      <p:sp>
        <p:nvSpPr>
          <p:cNvPr id="48" name="Rectangle 47"/>
          <p:cNvSpPr/>
          <p:nvPr/>
        </p:nvSpPr>
        <p:spPr>
          <a:xfrm>
            <a:off x="6233144" y="4572000"/>
            <a:ext cx="5547344" cy="87782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6233144" y="4572000"/>
            <a:ext cx="45720" cy="877824"/>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397736" y="4681728"/>
            <a:ext cx="4541504" cy="237744"/>
          </a:xfrm>
          <a:prstGeom prst="rect">
            <a:avLst/>
          </a:prstGeom>
          <a:noFill/>
        </p:spPr>
        <p:txBody>
          <a:bodyPr wrap="square" lIns="0" rIns="0" tIns="0" bIns="0" anchor="t">
            <a:spAutoFit/>
          </a:bodyPr>
          <a:lstStyle/>
          <a:p>
            <a:pPr algn="l">
              <a:lnSpc>
                <a:spcPct val="105000"/>
              </a:lnSpc>
              <a:spcAft>
                <a:spcPts val="400"/>
              </a:spcAft>
            </a:pPr>
            <a:r>
              <a:rPr sz="1150" b="1">
                <a:solidFill>
                  <a:srgbClr val="111827"/>
                </a:solidFill>
                <a:latin typeface="Roboto"/>
              </a:rPr>
              <a:t>Soạn thảo văn bản</a:t>
            </a:r>
          </a:p>
        </p:txBody>
      </p:sp>
      <p:sp>
        <p:nvSpPr>
          <p:cNvPr id="51" name="Rectangle 50"/>
          <p:cNvSpPr/>
          <p:nvPr/>
        </p:nvSpPr>
        <p:spPr>
          <a:xfrm>
            <a:off x="11048969" y="4681728"/>
            <a:ext cx="585216" cy="201168"/>
          </a:xfrm>
          <a:prstGeom prst="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lnSpc>
                <a:spcPct val="100000"/>
              </a:lnSpc>
              <a:spcAft>
                <a:spcPts val="400"/>
              </a:spcAft>
            </a:pPr>
            <a:r>
              <a:rPr sz="800" b="1">
                <a:solidFill>
                  <a:srgbClr val="FFFFFF"/>
                </a:solidFill>
                <a:latin typeface="Roboto"/>
              </a:rPr>
              <a:t>GĐ 3</a:t>
            </a:r>
          </a:p>
        </p:txBody>
      </p:sp>
      <p:sp>
        <p:nvSpPr>
          <p:cNvPr id="52" name="TextBox 51"/>
          <p:cNvSpPr txBox="1"/>
          <p:nvPr/>
        </p:nvSpPr>
        <p:spPr>
          <a:xfrm>
            <a:off x="6397736" y="4956048"/>
            <a:ext cx="5218160" cy="438912"/>
          </a:xfrm>
          <a:prstGeom prst="rect">
            <a:avLst/>
          </a:prstGeom>
          <a:noFill/>
        </p:spPr>
        <p:txBody>
          <a:bodyPr wrap="square" lIns="0" rIns="0" tIns="0" bIns="0" anchor="t">
            <a:spAutoFit/>
          </a:bodyPr>
          <a:lstStyle/>
          <a:p>
            <a:pPr algn="l">
              <a:lnSpc>
                <a:spcPct val="114000"/>
              </a:lnSpc>
              <a:spcAft>
                <a:spcPts val="400"/>
              </a:spcAft>
            </a:pPr>
            <a:r>
              <a:rPr sz="919" b="0">
                <a:solidFill>
                  <a:srgbClr val="475569"/>
                </a:solidFill>
                <a:latin typeface="Roboto"/>
              </a:rPr>
              <a:t>Sinh bản nháp công văn, giải trình, thư tư vấn theo mẫu đã duyệt, điền sẵn dữ liệu khách.</a:t>
            </a:r>
          </a:p>
        </p:txBody>
      </p:sp>
      <p:sp>
        <p:nvSpPr>
          <p:cNvPr id="53" name="Rectangle 52"/>
          <p:cNvSpPr/>
          <p:nvPr/>
        </p:nvSpPr>
        <p:spPr>
          <a:xfrm>
            <a:off x="411480" y="5687568"/>
            <a:ext cx="11369009" cy="420624"/>
          </a:xfrm>
          <a:prstGeom prst="rect">
            <a:avLst/>
          </a:prstGeom>
          <a:solidFill>
            <a:srgbClr val="FE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B7791F"/>
                </a:solidFill>
                <a:latin typeface="Roboto"/>
              </a:rPr>
              <a:t>Nguyên tắc: tác tử không tự ý ký, không tự ý nộp và không tự ý trả lời ngoài phạm vi. Mọi điểm có trách nhiệm pháp lý đều do người quyết định, và hệ thống ghi lại ai quyết định.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Phân quyền theo vai trò và theo phạm vi khách hàng</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Mười lăm vai trò. Một kế toán viên chỉ thấy khách của mình, không có quyền mặc định xem toàn bộ.</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12</a:t>
            </a:r>
          </a:p>
        </p:txBody>
      </p:sp>
      <p:sp>
        <p:nvSpPr>
          <p:cNvPr id="13" name="Rectangle 12"/>
          <p:cNvSpPr/>
          <p:nvPr/>
        </p:nvSpPr>
        <p:spPr>
          <a:xfrm>
            <a:off x="411480" y="1572768"/>
            <a:ext cx="272856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Vai trò</a:t>
            </a:r>
          </a:p>
        </p:txBody>
      </p:sp>
      <p:sp>
        <p:nvSpPr>
          <p:cNvPr id="14" name="Rectangle 13"/>
          <p:cNvSpPr/>
          <p:nvPr/>
        </p:nvSpPr>
        <p:spPr>
          <a:xfrm>
            <a:off x="3140042" y="1572768"/>
            <a:ext cx="295594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Phạm vi dữ liệu</a:t>
            </a:r>
          </a:p>
        </p:txBody>
      </p:sp>
      <p:sp>
        <p:nvSpPr>
          <p:cNvPr id="15" name="Rectangle 14"/>
          <p:cNvSpPr/>
          <p:nvPr/>
        </p:nvSpPr>
        <p:spPr>
          <a:xfrm>
            <a:off x="6095984" y="1572768"/>
            <a:ext cx="5684504"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Quyền chính</a:t>
            </a:r>
          </a:p>
        </p:txBody>
      </p:sp>
      <p:sp>
        <p:nvSpPr>
          <p:cNvPr id="16" name="Rectangle 15"/>
          <p:cNvSpPr/>
          <p:nvPr/>
        </p:nvSpPr>
        <p:spPr>
          <a:xfrm>
            <a:off x="411480" y="1865376"/>
            <a:ext cx="272856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Giám đốc</a:t>
            </a:r>
          </a:p>
        </p:txBody>
      </p:sp>
      <p:sp>
        <p:nvSpPr>
          <p:cNvPr id="17" name="Rectangle 16"/>
          <p:cNvSpPr/>
          <p:nvPr/>
        </p:nvSpPr>
        <p:spPr>
          <a:xfrm>
            <a:off x="3140042" y="1865376"/>
            <a:ext cx="295594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Toàn bộ</a:t>
            </a:r>
          </a:p>
        </p:txBody>
      </p:sp>
      <p:sp>
        <p:nvSpPr>
          <p:cNvPr id="18" name="Rectangle 17"/>
          <p:cNvSpPr/>
          <p:nvPr/>
        </p:nvSpPr>
        <p:spPr>
          <a:xfrm>
            <a:off x="6095984" y="1865376"/>
            <a:ext cx="568450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Xem tất cả, duyệt cấp cuối, cấu hình chính sách giá và phân quyền</a:t>
            </a:r>
          </a:p>
        </p:txBody>
      </p:sp>
      <p:sp>
        <p:nvSpPr>
          <p:cNvPr id="19" name="Rectangle 18"/>
          <p:cNvSpPr/>
          <p:nvPr/>
        </p:nvSpPr>
        <p:spPr>
          <a:xfrm>
            <a:off x="411480" y="2231136"/>
            <a:ext cx="272856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Trưởng bộ phận</a:t>
            </a:r>
          </a:p>
        </p:txBody>
      </p:sp>
      <p:sp>
        <p:nvSpPr>
          <p:cNvPr id="20" name="Rectangle 19"/>
          <p:cNvSpPr/>
          <p:nvPr/>
        </p:nvSpPr>
        <p:spPr>
          <a:xfrm>
            <a:off x="3140042" y="2231136"/>
            <a:ext cx="295594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của khối mình</a:t>
            </a:r>
          </a:p>
        </p:txBody>
      </p:sp>
      <p:sp>
        <p:nvSpPr>
          <p:cNvPr id="21" name="Rectangle 20"/>
          <p:cNvSpPr/>
          <p:nvPr/>
        </p:nvSpPr>
        <p:spPr>
          <a:xfrm>
            <a:off x="6095984" y="2231136"/>
            <a:ext cx="568450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Phân việc, duyệt cấp một, xem năng suất nhóm</a:t>
            </a:r>
          </a:p>
        </p:txBody>
      </p:sp>
      <p:sp>
        <p:nvSpPr>
          <p:cNvPr id="22" name="Rectangle 21"/>
          <p:cNvSpPr/>
          <p:nvPr/>
        </p:nvSpPr>
        <p:spPr>
          <a:xfrm>
            <a:off x="411480" y="2596896"/>
            <a:ext cx="272856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Kế toán trưởng dịch vụ</a:t>
            </a:r>
          </a:p>
        </p:txBody>
      </p:sp>
      <p:sp>
        <p:nvSpPr>
          <p:cNvPr id="23" name="Rectangle 22"/>
          <p:cNvSpPr/>
          <p:nvPr/>
        </p:nvSpPr>
        <p:spPr>
          <a:xfrm>
            <a:off x="3140042" y="2596896"/>
            <a:ext cx="295594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Nhóm khách được giao</a:t>
            </a:r>
          </a:p>
        </p:txBody>
      </p:sp>
      <p:sp>
        <p:nvSpPr>
          <p:cNvPr id="24" name="Rectangle 23"/>
          <p:cNvSpPr/>
          <p:nvPr/>
        </p:nvSpPr>
        <p:spPr>
          <a:xfrm>
            <a:off x="6095984" y="2596896"/>
            <a:ext cx="568450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Soát xét, ký duyệt hồ sơ trước khi nộp, chốt kỳ</a:t>
            </a:r>
          </a:p>
        </p:txBody>
      </p:sp>
      <p:sp>
        <p:nvSpPr>
          <p:cNvPr id="25" name="Rectangle 24"/>
          <p:cNvSpPr/>
          <p:nvPr/>
        </p:nvSpPr>
        <p:spPr>
          <a:xfrm>
            <a:off x="411480" y="2962656"/>
            <a:ext cx="272856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Kế toán viên</a:t>
            </a:r>
          </a:p>
        </p:txBody>
      </p:sp>
      <p:sp>
        <p:nvSpPr>
          <p:cNvPr id="26" name="Rectangle 25"/>
          <p:cNvSpPr/>
          <p:nvPr/>
        </p:nvSpPr>
        <p:spPr>
          <a:xfrm>
            <a:off x="3140042" y="2962656"/>
            <a:ext cx="295594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được giao</a:t>
            </a:r>
          </a:p>
        </p:txBody>
      </p:sp>
      <p:sp>
        <p:nvSpPr>
          <p:cNvPr id="27" name="Rectangle 26"/>
          <p:cNvSpPr/>
          <p:nvPr/>
        </p:nvSpPr>
        <p:spPr>
          <a:xfrm>
            <a:off x="6095984" y="2962656"/>
            <a:ext cx="568450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Xử lý chứng từ, ghi sổ, lập tờ khai, trình soát xét</a:t>
            </a:r>
          </a:p>
        </p:txBody>
      </p:sp>
      <p:sp>
        <p:nvSpPr>
          <p:cNvPr id="28" name="Rectangle 27"/>
          <p:cNvSpPr/>
          <p:nvPr/>
        </p:nvSpPr>
        <p:spPr>
          <a:xfrm>
            <a:off x="411480" y="3328415"/>
            <a:ext cx="272856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Chuyên viên soát xét</a:t>
            </a:r>
          </a:p>
        </p:txBody>
      </p:sp>
      <p:sp>
        <p:nvSpPr>
          <p:cNvPr id="29" name="Rectangle 28"/>
          <p:cNvSpPr/>
          <p:nvPr/>
        </p:nvSpPr>
        <p:spPr>
          <a:xfrm>
            <a:off x="3140042" y="3328415"/>
            <a:ext cx="295594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Theo phân công từng kỳ</a:t>
            </a:r>
          </a:p>
        </p:txBody>
      </p:sp>
      <p:sp>
        <p:nvSpPr>
          <p:cNvPr id="30" name="Rectangle 29"/>
          <p:cNvSpPr/>
          <p:nvPr/>
        </p:nvSpPr>
        <p:spPr>
          <a:xfrm>
            <a:off x="6095984" y="3328415"/>
            <a:ext cx="568450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Soát xét độc lập, ghi nhận lỗi, chặn hồ sơ không đạt</a:t>
            </a:r>
          </a:p>
        </p:txBody>
      </p:sp>
      <p:sp>
        <p:nvSpPr>
          <p:cNvPr id="31" name="Rectangle 30"/>
          <p:cNvSpPr/>
          <p:nvPr/>
        </p:nvSpPr>
        <p:spPr>
          <a:xfrm>
            <a:off x="411480" y="3694176"/>
            <a:ext cx="272856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Chuyên viên pháp lý và thủ tục</a:t>
            </a:r>
          </a:p>
        </p:txBody>
      </p:sp>
      <p:sp>
        <p:nvSpPr>
          <p:cNvPr id="32" name="Rectangle 31"/>
          <p:cNvSpPr/>
          <p:nvPr/>
        </p:nvSpPr>
        <p:spPr>
          <a:xfrm>
            <a:off x="3140042" y="3694176"/>
            <a:ext cx="295594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Hồ sơ thành lập, visa, giấy phép lao động</a:t>
            </a:r>
          </a:p>
        </p:txBody>
      </p:sp>
      <p:sp>
        <p:nvSpPr>
          <p:cNvPr id="33" name="Rectangle 32"/>
          <p:cNvSpPr/>
          <p:nvPr/>
        </p:nvSpPr>
        <p:spPr>
          <a:xfrm>
            <a:off x="6095984" y="3694176"/>
            <a:ext cx="568450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Theo dõi tiến độ, quản lý mốc nộp và nhận kết quả</a:t>
            </a:r>
          </a:p>
        </p:txBody>
      </p:sp>
      <p:sp>
        <p:nvSpPr>
          <p:cNvPr id="34" name="Rectangle 33"/>
          <p:cNvSpPr/>
          <p:nvPr/>
        </p:nvSpPr>
        <p:spPr>
          <a:xfrm>
            <a:off x="411480" y="4059936"/>
            <a:ext cx="272856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Kinh doanh và chăm sóc khách</a:t>
            </a:r>
          </a:p>
        </p:txBody>
      </p:sp>
      <p:sp>
        <p:nvSpPr>
          <p:cNvPr id="35" name="Rectangle 34"/>
          <p:cNvSpPr/>
          <p:nvPr/>
        </p:nvSpPr>
        <p:spPr>
          <a:xfrm>
            <a:off x="3140042" y="4059936"/>
            <a:ext cx="295594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Đầu mối và khách được giao</a:t>
            </a:r>
          </a:p>
        </p:txBody>
      </p:sp>
      <p:sp>
        <p:nvSpPr>
          <p:cNvPr id="36" name="Rectangle 35"/>
          <p:cNvSpPr/>
          <p:nvPr/>
        </p:nvSpPr>
        <p:spPr>
          <a:xfrm>
            <a:off x="6095984" y="4059936"/>
            <a:ext cx="568450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Quản lý đầu mối, báo giá, hợp đồng, chăm sóc, thu phí</a:t>
            </a:r>
          </a:p>
        </p:txBody>
      </p:sp>
      <p:sp>
        <p:nvSpPr>
          <p:cNvPr id="37" name="Rectangle 36"/>
          <p:cNvSpPr/>
          <p:nvPr/>
        </p:nvSpPr>
        <p:spPr>
          <a:xfrm>
            <a:off x="411480" y="4425696"/>
            <a:ext cx="272856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Quản trị hệ thống</a:t>
            </a:r>
          </a:p>
        </p:txBody>
      </p:sp>
      <p:sp>
        <p:nvSpPr>
          <p:cNvPr id="38" name="Rectangle 37"/>
          <p:cNvSpPr/>
          <p:nvPr/>
        </p:nvSpPr>
        <p:spPr>
          <a:xfrm>
            <a:off x="3140042" y="4425696"/>
            <a:ext cx="295594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Cấu hình, không xem nội dung nghiệp vụ nhạy cảm</a:t>
            </a:r>
          </a:p>
        </p:txBody>
      </p:sp>
      <p:sp>
        <p:nvSpPr>
          <p:cNvPr id="39" name="Rectangle 38"/>
          <p:cNvSpPr/>
          <p:nvPr/>
        </p:nvSpPr>
        <p:spPr>
          <a:xfrm>
            <a:off x="6095984" y="4425696"/>
            <a:ext cx="568450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Phân quyền, cấu hình tích hợp, theo dõi nhật ký kỹ thuật</a:t>
            </a:r>
          </a:p>
        </p:txBody>
      </p:sp>
      <p:sp>
        <p:nvSpPr>
          <p:cNvPr id="40" name="Rectangle 39"/>
          <p:cNvSpPr/>
          <p:nvPr/>
        </p:nvSpPr>
        <p:spPr>
          <a:xfrm>
            <a:off x="411480" y="4791456"/>
            <a:ext cx="272856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hàng</a:t>
            </a:r>
          </a:p>
        </p:txBody>
      </p:sp>
      <p:sp>
        <p:nvSpPr>
          <p:cNvPr id="41" name="Rectangle 40"/>
          <p:cNvSpPr/>
          <p:nvPr/>
        </p:nvSpPr>
        <p:spPr>
          <a:xfrm>
            <a:off x="3140042" y="4791456"/>
            <a:ext cx="295594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Chỉ dữ liệu của chính pháp nhân mình</a:t>
            </a:r>
          </a:p>
        </p:txBody>
      </p:sp>
      <p:sp>
        <p:nvSpPr>
          <p:cNvPr id="42" name="Rectangle 41"/>
          <p:cNvSpPr/>
          <p:nvPr/>
        </p:nvSpPr>
        <p:spPr>
          <a:xfrm>
            <a:off x="6095984" y="4791456"/>
            <a:ext cx="5684504"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Nộp chứng từ, xem tiến độ, tải hồ sơ, xác nhận số liệu, thanh toán</a:t>
            </a:r>
          </a:p>
        </p:txBody>
      </p:sp>
      <p:sp>
        <p:nvSpPr>
          <p:cNvPr id="43" name="Rectangle 42"/>
          <p:cNvSpPr/>
          <p:nvPr/>
        </p:nvSpPr>
        <p:spPr>
          <a:xfrm>
            <a:off x="411480" y="5157216"/>
            <a:ext cx="272856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Cộng tác viên và đối tác</a:t>
            </a:r>
          </a:p>
        </p:txBody>
      </p:sp>
      <p:sp>
        <p:nvSpPr>
          <p:cNvPr id="44" name="Rectangle 43"/>
          <p:cNvSpPr/>
          <p:nvPr/>
        </p:nvSpPr>
        <p:spPr>
          <a:xfrm>
            <a:off x="3140042" y="5157216"/>
            <a:ext cx="295594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Phạm vi được cấp theo hợp đồng</a:t>
            </a:r>
          </a:p>
        </p:txBody>
      </p:sp>
      <p:sp>
        <p:nvSpPr>
          <p:cNvPr id="45" name="Rectangle 44"/>
          <p:cNvSpPr/>
          <p:nvPr/>
        </p:nvSpPr>
        <p:spPr>
          <a:xfrm>
            <a:off x="6095984" y="5157216"/>
            <a:ext cx="5684504"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Truy cập giới hạn qua giao diện kết nối</a:t>
            </a:r>
          </a:p>
        </p:txBody>
      </p:sp>
      <p:sp>
        <p:nvSpPr>
          <p:cNvPr id="46" name="Rectangle 45"/>
          <p:cNvSpPr/>
          <p:nvPr/>
        </p:nvSpPr>
        <p:spPr>
          <a:xfrm>
            <a:off x="411480" y="5596128"/>
            <a:ext cx="11369009" cy="566928"/>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0B3A8F"/>
                </a:solidFill>
                <a:latin typeface="Roboto"/>
              </a:rPr>
              <a:t>Mỗi thao tác để lại dấu vết không sửa được: ai xem gì, sửa gì, tải gì, lúc nào. Đây vừa là nghĩa vụ theo Luật Bảo vệ dữ liệu cá nhân có hiệu lực từ 01/01/2026, vừa là lá chắn pháp lý cho ATL khi có tranh chấp với khách hàng hoặc khi cơ quan thuế kiểm tra.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Tích hợp với hệ sinh thái ATL đang dùng</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Nguyên tắc: không bắt ATL bỏ công cụ đang quen. Hệ thống đứng ở giữa và nối các công cụ lại với nhau.</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13</a:t>
            </a:r>
          </a:p>
        </p:txBody>
      </p:sp>
      <p:sp>
        <p:nvSpPr>
          <p:cNvPr id="13" name="Rectangle 12"/>
          <p:cNvSpPr/>
          <p:nvPr/>
        </p:nvSpPr>
        <p:spPr>
          <a:xfrm>
            <a:off x="411480" y="1572768"/>
            <a:ext cx="1935150"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Nhóm</a:t>
            </a:r>
          </a:p>
        </p:txBody>
      </p:sp>
      <p:sp>
        <p:nvSpPr>
          <p:cNvPr id="14" name="Rectangle 13"/>
          <p:cNvSpPr/>
          <p:nvPr/>
        </p:nvSpPr>
        <p:spPr>
          <a:xfrm>
            <a:off x="2346630" y="1572768"/>
            <a:ext cx="3386513"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Hệ thống kết nối</a:t>
            </a:r>
          </a:p>
        </p:txBody>
      </p:sp>
      <p:sp>
        <p:nvSpPr>
          <p:cNvPr id="15" name="Rectangle 14"/>
          <p:cNvSpPr/>
          <p:nvPr/>
        </p:nvSpPr>
        <p:spPr>
          <a:xfrm>
            <a:off x="5733144" y="1572768"/>
            <a:ext cx="5079770"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Mục đích</a:t>
            </a:r>
          </a:p>
        </p:txBody>
      </p:sp>
      <p:sp>
        <p:nvSpPr>
          <p:cNvPr id="16" name="Rectangle 15"/>
          <p:cNvSpPr/>
          <p:nvPr/>
        </p:nvSpPr>
        <p:spPr>
          <a:xfrm>
            <a:off x="10812914" y="1572768"/>
            <a:ext cx="967575"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GĐ</a:t>
            </a:r>
          </a:p>
        </p:txBody>
      </p:sp>
      <p:sp>
        <p:nvSpPr>
          <p:cNvPr id="17" name="Rectangle 16"/>
          <p:cNvSpPr/>
          <p:nvPr/>
        </p:nvSpPr>
        <p:spPr>
          <a:xfrm>
            <a:off x="411480" y="1865376"/>
            <a:ext cx="193515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Hóa đơn</a:t>
            </a:r>
          </a:p>
        </p:txBody>
      </p:sp>
      <p:sp>
        <p:nvSpPr>
          <p:cNvPr id="18" name="Rectangle 17"/>
          <p:cNvSpPr/>
          <p:nvPr/>
        </p:nvSpPr>
        <p:spPr>
          <a:xfrm>
            <a:off x="2346630" y="1865376"/>
            <a:ext cx="3386513"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Cổng hóa đơn điện tử của cơ quan thuế</a:t>
            </a:r>
          </a:p>
        </p:txBody>
      </p:sp>
      <p:sp>
        <p:nvSpPr>
          <p:cNvPr id="19" name="Rectangle 18"/>
          <p:cNvSpPr/>
          <p:nvPr/>
        </p:nvSpPr>
        <p:spPr>
          <a:xfrm>
            <a:off x="5733144" y="1865376"/>
            <a:ext cx="507977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Lấy danh sách và bản XML, đối chiếu trạng thái hủy và thay thế</a:t>
            </a:r>
          </a:p>
        </p:txBody>
      </p:sp>
      <p:sp>
        <p:nvSpPr>
          <p:cNvPr id="20" name="Rectangle 19"/>
          <p:cNvSpPr/>
          <p:nvPr/>
        </p:nvSpPr>
        <p:spPr>
          <a:xfrm>
            <a:off x="10812914" y="1865376"/>
            <a:ext cx="967575"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a:t>
            </a:r>
          </a:p>
        </p:txBody>
      </p:sp>
      <p:sp>
        <p:nvSpPr>
          <p:cNvPr id="21" name="Rectangle 20"/>
          <p:cNvSpPr/>
          <p:nvPr/>
        </p:nvSpPr>
        <p:spPr>
          <a:xfrm>
            <a:off x="411480" y="2212848"/>
            <a:ext cx="193515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Hóa đơn</a:t>
            </a:r>
          </a:p>
        </p:txBody>
      </p:sp>
      <p:sp>
        <p:nvSpPr>
          <p:cNvPr id="22" name="Rectangle 21"/>
          <p:cNvSpPr/>
          <p:nvPr/>
        </p:nvSpPr>
        <p:spPr>
          <a:xfrm>
            <a:off x="2346630" y="2212848"/>
            <a:ext cx="3386513"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Nhà cung cấp hóa đơn ATL đang làm đại lý</a:t>
            </a:r>
          </a:p>
        </p:txBody>
      </p:sp>
      <p:sp>
        <p:nvSpPr>
          <p:cNvPr id="23" name="Rectangle 22"/>
          <p:cNvSpPr/>
          <p:nvPr/>
        </p:nvSpPr>
        <p:spPr>
          <a:xfrm>
            <a:off x="5733144" y="2212848"/>
            <a:ext cx="507977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Phát hành hóa đơn phí dịch vụ, hỗ trợ khách phát hành</a:t>
            </a:r>
          </a:p>
        </p:txBody>
      </p:sp>
      <p:sp>
        <p:nvSpPr>
          <p:cNvPr id="24" name="Rectangle 23"/>
          <p:cNvSpPr/>
          <p:nvPr/>
        </p:nvSpPr>
        <p:spPr>
          <a:xfrm>
            <a:off x="10812914" y="2212848"/>
            <a:ext cx="967575"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25" name="Rectangle 24"/>
          <p:cNvSpPr/>
          <p:nvPr/>
        </p:nvSpPr>
        <p:spPr>
          <a:xfrm>
            <a:off x="411480" y="2560320"/>
            <a:ext cx="193515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Ngân hàng</a:t>
            </a:r>
          </a:p>
        </p:txBody>
      </p:sp>
      <p:sp>
        <p:nvSpPr>
          <p:cNvPr id="26" name="Rectangle 25"/>
          <p:cNvSpPr/>
          <p:nvPr/>
        </p:nvSpPr>
        <p:spPr>
          <a:xfrm>
            <a:off x="2346630" y="2560320"/>
            <a:ext cx="3386513"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Dịch vụ đối soát biến động số dư</a:t>
            </a:r>
          </a:p>
        </p:txBody>
      </p:sp>
      <p:sp>
        <p:nvSpPr>
          <p:cNvPr id="27" name="Rectangle 26"/>
          <p:cNvSpPr/>
          <p:nvPr/>
        </p:nvSpPr>
        <p:spPr>
          <a:xfrm>
            <a:off x="5733144" y="2560320"/>
            <a:ext cx="507977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Đối chiếu chứng từ thanh toán không dùng tiền mặt, tự ghi nhận thu phí</a:t>
            </a:r>
          </a:p>
        </p:txBody>
      </p:sp>
      <p:sp>
        <p:nvSpPr>
          <p:cNvPr id="28" name="Rectangle 27"/>
          <p:cNvSpPr/>
          <p:nvPr/>
        </p:nvSpPr>
        <p:spPr>
          <a:xfrm>
            <a:off x="10812914" y="2560320"/>
            <a:ext cx="967575"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a:t>
            </a:r>
          </a:p>
        </p:txBody>
      </p:sp>
      <p:sp>
        <p:nvSpPr>
          <p:cNvPr id="29" name="Rectangle 28"/>
          <p:cNvSpPr/>
          <p:nvPr/>
        </p:nvSpPr>
        <p:spPr>
          <a:xfrm>
            <a:off x="411480" y="2907791"/>
            <a:ext cx="193515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Liên lạc</a:t>
            </a:r>
          </a:p>
        </p:txBody>
      </p:sp>
      <p:sp>
        <p:nvSpPr>
          <p:cNvPr id="30" name="Rectangle 29"/>
          <p:cNvSpPr/>
          <p:nvPr/>
        </p:nvSpPr>
        <p:spPr>
          <a:xfrm>
            <a:off x="2346630" y="2907791"/>
            <a:ext cx="3386513"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Zalo Official Account</a:t>
            </a:r>
          </a:p>
        </p:txBody>
      </p:sp>
      <p:sp>
        <p:nvSpPr>
          <p:cNvPr id="31" name="Rectangle 30"/>
          <p:cNvSpPr/>
          <p:nvPr/>
        </p:nvSpPr>
        <p:spPr>
          <a:xfrm>
            <a:off x="5733144" y="2907791"/>
            <a:ext cx="507977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Nhận chứng từ, nhắc hạn, gửi trạng thái hồ sơ, chăm sóc khách</a:t>
            </a:r>
          </a:p>
        </p:txBody>
      </p:sp>
      <p:sp>
        <p:nvSpPr>
          <p:cNvPr id="32" name="Rectangle 31"/>
          <p:cNvSpPr/>
          <p:nvPr/>
        </p:nvSpPr>
        <p:spPr>
          <a:xfrm>
            <a:off x="10812914" y="2907791"/>
            <a:ext cx="967575"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a:t>
            </a:r>
          </a:p>
        </p:txBody>
      </p:sp>
      <p:sp>
        <p:nvSpPr>
          <p:cNvPr id="33" name="Rectangle 32"/>
          <p:cNvSpPr/>
          <p:nvPr/>
        </p:nvSpPr>
        <p:spPr>
          <a:xfrm>
            <a:off x="411480" y="3255263"/>
            <a:ext cx="193515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Tra cứu</a:t>
            </a:r>
          </a:p>
        </p:txBody>
      </p:sp>
      <p:sp>
        <p:nvSpPr>
          <p:cNvPr id="34" name="Rectangle 33"/>
          <p:cNvSpPr/>
          <p:nvPr/>
        </p:nvSpPr>
        <p:spPr>
          <a:xfrm>
            <a:off x="2346630" y="3255263"/>
            <a:ext cx="3386513"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Nguồn tra cứu mã số thuế và tình trạng doanh nghiệp</a:t>
            </a:r>
          </a:p>
        </p:txBody>
      </p:sp>
      <p:sp>
        <p:nvSpPr>
          <p:cNvPr id="35" name="Rectangle 34"/>
          <p:cNvSpPr/>
          <p:nvPr/>
        </p:nvSpPr>
        <p:spPr>
          <a:xfrm>
            <a:off x="5733144" y="3255263"/>
            <a:ext cx="507977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Rà soát nhà cung cấp rủi ro, tự điền thông tin khách mới</a:t>
            </a:r>
          </a:p>
        </p:txBody>
      </p:sp>
      <p:sp>
        <p:nvSpPr>
          <p:cNvPr id="36" name="Rectangle 35"/>
          <p:cNvSpPr/>
          <p:nvPr/>
        </p:nvSpPr>
        <p:spPr>
          <a:xfrm>
            <a:off x="10812914" y="3255263"/>
            <a:ext cx="967575"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a:t>
            </a:r>
          </a:p>
        </p:txBody>
      </p:sp>
      <p:sp>
        <p:nvSpPr>
          <p:cNvPr id="37" name="Rectangle 36"/>
          <p:cNvSpPr/>
          <p:nvPr/>
        </p:nvSpPr>
        <p:spPr>
          <a:xfrm>
            <a:off x="411480" y="3602735"/>
            <a:ext cx="193515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Kế toán</a:t>
            </a:r>
          </a:p>
        </p:txBody>
      </p:sp>
      <p:sp>
        <p:nvSpPr>
          <p:cNvPr id="38" name="Rectangle 37"/>
          <p:cNvSpPr/>
          <p:nvPr/>
        </p:nvSpPr>
        <p:spPr>
          <a:xfrm>
            <a:off x="2346630" y="3602735"/>
            <a:ext cx="3386513"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Phần mềm kế toán ATL đang dùng</a:t>
            </a:r>
          </a:p>
        </p:txBody>
      </p:sp>
      <p:sp>
        <p:nvSpPr>
          <p:cNvPr id="39" name="Rectangle 38"/>
          <p:cNvSpPr/>
          <p:nvPr/>
        </p:nvSpPr>
        <p:spPr>
          <a:xfrm>
            <a:off x="5733144" y="3602735"/>
            <a:ext cx="507977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Đẩy bút toán sang và lấy số dư về để đối chiếu hai chiều</a:t>
            </a:r>
          </a:p>
        </p:txBody>
      </p:sp>
      <p:sp>
        <p:nvSpPr>
          <p:cNvPr id="40" name="Rectangle 39"/>
          <p:cNvSpPr/>
          <p:nvPr/>
        </p:nvSpPr>
        <p:spPr>
          <a:xfrm>
            <a:off x="10812914" y="3602735"/>
            <a:ext cx="967575"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41" name="Rectangle 40"/>
          <p:cNvSpPr/>
          <p:nvPr/>
        </p:nvSpPr>
        <p:spPr>
          <a:xfrm>
            <a:off x="411480" y="3950207"/>
            <a:ext cx="193515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Thuế</a:t>
            </a:r>
          </a:p>
        </p:txBody>
      </p:sp>
      <p:sp>
        <p:nvSpPr>
          <p:cNvPr id="42" name="Rectangle 41"/>
          <p:cNvSpPr/>
          <p:nvPr/>
        </p:nvSpPr>
        <p:spPr>
          <a:xfrm>
            <a:off x="2346630" y="3950207"/>
            <a:ext cx="3386513"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Phần mềm kê khai và cổng thuế điện tử</a:t>
            </a:r>
          </a:p>
        </p:txBody>
      </p:sp>
      <p:sp>
        <p:nvSpPr>
          <p:cNvPr id="43" name="Rectangle 42"/>
          <p:cNvSpPr/>
          <p:nvPr/>
        </p:nvSpPr>
        <p:spPr>
          <a:xfrm>
            <a:off x="5733144" y="3950207"/>
            <a:ext cx="507977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Sinh tờ khai đúng khuôn dạng, lưu biên nhận nộp</a:t>
            </a:r>
          </a:p>
        </p:txBody>
      </p:sp>
      <p:sp>
        <p:nvSpPr>
          <p:cNvPr id="44" name="Rectangle 43"/>
          <p:cNvSpPr/>
          <p:nvPr/>
        </p:nvSpPr>
        <p:spPr>
          <a:xfrm>
            <a:off x="10812914" y="3950207"/>
            <a:ext cx="967575"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45" name="Rectangle 44"/>
          <p:cNvSpPr/>
          <p:nvPr/>
        </p:nvSpPr>
        <p:spPr>
          <a:xfrm>
            <a:off x="411480" y="4297679"/>
            <a:ext cx="193515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Chữ ký số</a:t>
            </a:r>
          </a:p>
        </p:txBody>
      </p:sp>
      <p:sp>
        <p:nvSpPr>
          <p:cNvPr id="46" name="Rectangle 45"/>
          <p:cNvSpPr/>
          <p:nvPr/>
        </p:nvSpPr>
        <p:spPr>
          <a:xfrm>
            <a:off x="2346630" y="4297679"/>
            <a:ext cx="3386513"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Nhà cung cấp chữ ký số từ xa</a:t>
            </a:r>
          </a:p>
        </p:txBody>
      </p:sp>
      <p:sp>
        <p:nvSpPr>
          <p:cNvPr id="47" name="Rectangle 46"/>
          <p:cNvSpPr/>
          <p:nvPr/>
        </p:nvSpPr>
        <p:spPr>
          <a:xfrm>
            <a:off x="5733144" y="4297679"/>
            <a:ext cx="507977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Ký hợp đồng, ký duyệt hồ sơ, khách xác nhận số liệu</a:t>
            </a:r>
          </a:p>
        </p:txBody>
      </p:sp>
      <p:sp>
        <p:nvSpPr>
          <p:cNvPr id="48" name="Rectangle 47"/>
          <p:cNvSpPr/>
          <p:nvPr/>
        </p:nvSpPr>
        <p:spPr>
          <a:xfrm>
            <a:off x="10812914" y="4297679"/>
            <a:ext cx="967575"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49" name="Rectangle 48"/>
          <p:cNvSpPr/>
          <p:nvPr/>
        </p:nvSpPr>
        <p:spPr>
          <a:xfrm>
            <a:off x="411480" y="4645151"/>
            <a:ext cx="193515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Bảo hiểm</a:t>
            </a:r>
          </a:p>
        </p:txBody>
      </p:sp>
      <p:sp>
        <p:nvSpPr>
          <p:cNvPr id="50" name="Rectangle 49"/>
          <p:cNvSpPr/>
          <p:nvPr/>
        </p:nvSpPr>
        <p:spPr>
          <a:xfrm>
            <a:off x="2346630" y="4645151"/>
            <a:ext cx="3386513"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Dịch vụ kê khai bảo hiểm xã hội</a:t>
            </a:r>
          </a:p>
        </p:txBody>
      </p:sp>
      <p:sp>
        <p:nvSpPr>
          <p:cNvPr id="51" name="Rectangle 50"/>
          <p:cNvSpPr/>
          <p:nvPr/>
        </p:nvSpPr>
        <p:spPr>
          <a:xfrm>
            <a:off x="5733144" y="4645151"/>
            <a:ext cx="5079770"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Hồ sơ tăng giảm lao động, báo cáo định kỳ</a:t>
            </a:r>
          </a:p>
        </p:txBody>
      </p:sp>
      <p:sp>
        <p:nvSpPr>
          <p:cNvPr id="52" name="Rectangle 51"/>
          <p:cNvSpPr/>
          <p:nvPr/>
        </p:nvSpPr>
        <p:spPr>
          <a:xfrm>
            <a:off x="10812914" y="4645151"/>
            <a:ext cx="967575" cy="347472"/>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53" name="Rectangle 52"/>
          <p:cNvSpPr/>
          <p:nvPr/>
        </p:nvSpPr>
        <p:spPr>
          <a:xfrm>
            <a:off x="411480" y="4992623"/>
            <a:ext cx="193515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Thanh toán</a:t>
            </a:r>
          </a:p>
        </p:txBody>
      </p:sp>
      <p:sp>
        <p:nvSpPr>
          <p:cNvPr id="54" name="Rectangle 53"/>
          <p:cNvSpPr/>
          <p:nvPr/>
        </p:nvSpPr>
        <p:spPr>
          <a:xfrm>
            <a:off x="2346630" y="4992623"/>
            <a:ext cx="3386513"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VietQR</a:t>
            </a:r>
          </a:p>
        </p:txBody>
      </p:sp>
      <p:sp>
        <p:nvSpPr>
          <p:cNvPr id="55" name="Rectangle 54"/>
          <p:cNvSpPr/>
          <p:nvPr/>
        </p:nvSpPr>
        <p:spPr>
          <a:xfrm>
            <a:off x="5733144" y="4992623"/>
            <a:ext cx="5079770"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Khách quét mã trả phí dịch vụ, hệ thống tự ghi nhận</a:t>
            </a:r>
          </a:p>
        </p:txBody>
      </p:sp>
      <p:sp>
        <p:nvSpPr>
          <p:cNvPr id="56" name="Rectangle 55"/>
          <p:cNvSpPr/>
          <p:nvPr/>
        </p:nvSpPr>
        <p:spPr>
          <a:xfrm>
            <a:off x="10812914" y="4992623"/>
            <a:ext cx="967575" cy="347472"/>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57" name="Rectangle 56"/>
          <p:cNvSpPr/>
          <p:nvPr/>
        </p:nvSpPr>
        <p:spPr>
          <a:xfrm>
            <a:off x="411480" y="5394960"/>
            <a:ext cx="11369009" cy="402336"/>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475569"/>
                </a:solidFill>
                <a:latin typeface="Roboto"/>
              </a:rPr>
              <a:t>Mỗi nhà cung cấp bên ngoài được bọc trong một lớp riêng và quy về một khuôn dữ liệu chung. Đổi nhà cung cấp hóa đơn hay đổi ngân hàng không phải sửa phần còn lại của hệ thống.</a:t>
            </a:r>
          </a:p>
        </p:txBody>
      </p:sp>
      <p:sp>
        <p:nvSpPr>
          <p:cNvPr id="58" name="Rectangle 57"/>
          <p:cNvSpPr/>
          <p:nvPr/>
        </p:nvSpPr>
        <p:spPr>
          <a:xfrm>
            <a:off x="411480" y="5870448"/>
            <a:ext cx="11369009" cy="384048"/>
          </a:xfrm>
          <a:prstGeom prst="rect">
            <a:avLst/>
          </a:prstGeom>
          <a:solidFill>
            <a:srgbClr val="FE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B7791F"/>
                </a:solidFill>
                <a:latin typeface="Roboto"/>
              </a:rPr>
              <a:t>Phần nộp tờ khai vẫn do người thực hiện, không giao cho máy. Đây là ranh giới trách nhiệm pháp lý mà LAZINET chủ động giữ.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Lộ trình ba giai đoạn, khoảng chín tháng</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Mỗi giai đoạn bàn giao một hệ thống chạy được, không chờ tới cuối mới có kết quả.</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14</a:t>
            </a:r>
          </a:p>
        </p:txBody>
      </p:sp>
      <p:sp>
        <p:nvSpPr>
          <p:cNvPr id="13" name="Rectangle 12"/>
          <p:cNvSpPr/>
          <p:nvPr/>
        </p:nvSpPr>
        <p:spPr>
          <a:xfrm>
            <a:off x="411480" y="1591056"/>
            <a:ext cx="3637269" cy="389534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591056"/>
            <a:ext cx="3637269" cy="512064"/>
          </a:xfrm>
          <a:prstGeom prst="rect">
            <a:avLst/>
          </a:prstGeom>
          <a:solidFill>
            <a:srgbClr val="D81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76072" y="1664208"/>
            <a:ext cx="3308085" cy="201168"/>
          </a:xfrm>
          <a:prstGeom prst="rect">
            <a:avLst/>
          </a:prstGeom>
          <a:noFill/>
        </p:spPr>
        <p:txBody>
          <a:bodyPr wrap="square" lIns="0" rIns="0" tIns="0" bIns="0" anchor="t">
            <a:spAutoFit/>
          </a:bodyPr>
          <a:lstStyle/>
          <a:p>
            <a:pPr algn="l">
              <a:lnSpc>
                <a:spcPct val="100000"/>
              </a:lnSpc>
              <a:spcAft>
                <a:spcPts val="400"/>
              </a:spcAft>
            </a:pPr>
            <a:r>
              <a:rPr sz="1100" b="1">
                <a:solidFill>
                  <a:srgbClr val="FFFFFF"/>
                </a:solidFill>
                <a:latin typeface="Roboto"/>
              </a:rPr>
              <a:t>GIAI ĐOẠN 1</a:t>
            </a:r>
          </a:p>
        </p:txBody>
      </p:sp>
      <p:sp>
        <p:nvSpPr>
          <p:cNvPr id="16" name="TextBox 15"/>
          <p:cNvSpPr txBox="1"/>
          <p:nvPr/>
        </p:nvSpPr>
        <p:spPr>
          <a:xfrm>
            <a:off x="576072" y="1874519"/>
            <a:ext cx="3308085" cy="182880"/>
          </a:xfrm>
          <a:prstGeom prst="rect">
            <a:avLst/>
          </a:prstGeom>
          <a:noFill/>
        </p:spPr>
        <p:txBody>
          <a:bodyPr wrap="square" lIns="0" rIns="0" tIns="0" bIns="0" anchor="t">
            <a:spAutoFit/>
          </a:bodyPr>
          <a:lstStyle/>
          <a:p>
            <a:pPr algn="l">
              <a:lnSpc>
                <a:spcPct val="100000"/>
              </a:lnSpc>
              <a:spcAft>
                <a:spcPts val="400"/>
              </a:spcAft>
            </a:pPr>
            <a:r>
              <a:rPr sz="850" b="0">
                <a:solidFill>
                  <a:srgbClr val="FFFFFF"/>
                </a:solidFill>
                <a:latin typeface="Roboto"/>
              </a:rPr>
              <a:t>Khoảng 4 tháng  |  284 người-ngày</a:t>
            </a:r>
          </a:p>
        </p:txBody>
      </p:sp>
      <p:sp>
        <p:nvSpPr>
          <p:cNvPr id="17" name="TextBox 16"/>
          <p:cNvSpPr txBox="1"/>
          <p:nvPr/>
        </p:nvSpPr>
        <p:spPr>
          <a:xfrm>
            <a:off x="576072" y="2231136"/>
            <a:ext cx="3308085" cy="2377440"/>
          </a:xfrm>
          <a:prstGeom prst="rect">
            <a:avLst/>
          </a:prstGeom>
          <a:noFill/>
        </p:spPr>
        <p:txBody>
          <a:bodyPr wrap="square" lIns="0" rIns="0" tIns="0" bIns="0" anchor="t">
            <a:spAutoFit/>
          </a:bodyPr>
          <a:lstStyle/>
          <a:p>
            <a:pPr algn="l">
              <a:lnSpc>
                <a:spcPct val="110000"/>
              </a:lnSpc>
              <a:spcAft>
                <a:spcPts val="500"/>
              </a:spcAft>
            </a:pPr>
            <a:r>
              <a:rPr sz="919" b="0">
                <a:solidFill>
                  <a:srgbClr val="111827"/>
                </a:solidFill>
                <a:latin typeface="Roboto"/>
              </a:rPr>
              <a:t>-  Nền tảng, phân quyền, nhật ký, bảo vệ dữ liệu cá nhân</a:t>
            </a:r>
          </a:p>
          <a:p>
            <a:pPr algn="l">
              <a:lnSpc>
                <a:spcPct val="110000"/>
              </a:lnSpc>
              <a:spcAft>
                <a:spcPts val="500"/>
              </a:spcAft>
            </a:pPr>
            <a:r>
              <a:rPr sz="919" b="0">
                <a:solidFill>
                  <a:srgbClr val="111827"/>
                </a:solidFill>
                <a:latin typeface="Roboto"/>
              </a:rPr>
              <a:t>-  Website mới thay thế website hiện tại, kèm công cụ ước tính phí</a:t>
            </a:r>
          </a:p>
          <a:p>
            <a:pPr algn="l">
              <a:lnSpc>
                <a:spcPct val="110000"/>
              </a:lnSpc>
              <a:spcAft>
                <a:spcPts val="500"/>
              </a:spcAft>
            </a:pPr>
            <a:r>
              <a:rPr sz="919" b="0">
                <a:solidFill>
                  <a:srgbClr val="111827"/>
                </a:solidFill>
                <a:latin typeface="Roboto"/>
              </a:rPr>
              <a:t>-  Cổng khách hàng: nộp chứng từ bằng điện thoại, xem tiến độ</a:t>
            </a:r>
          </a:p>
          <a:p>
            <a:pPr algn="l">
              <a:lnSpc>
                <a:spcPct val="110000"/>
              </a:lnSpc>
              <a:spcAft>
                <a:spcPts val="500"/>
              </a:spcAft>
            </a:pPr>
            <a:r>
              <a:rPr sz="919" b="0">
                <a:solidFill>
                  <a:srgbClr val="111827"/>
                </a:solidFill>
                <a:latin typeface="Roboto"/>
              </a:rPr>
              <a:t>-  Thu nhận và số hóa chứng từ tự động, tác tử chạy ngày đêm</a:t>
            </a:r>
          </a:p>
          <a:p>
            <a:pPr algn="l">
              <a:lnSpc>
                <a:spcPct val="110000"/>
              </a:lnSpc>
              <a:spcAft>
                <a:spcPts val="500"/>
              </a:spcAft>
            </a:pPr>
            <a:r>
              <a:rPr sz="919" b="0">
                <a:solidFill>
                  <a:srgbClr val="111827"/>
                </a:solidFill>
                <a:latin typeface="Roboto"/>
              </a:rPr>
              <a:t>-  Sổ hóa đơn, đồng bộ XML, đối soát thanh toán không tiền mặt</a:t>
            </a:r>
          </a:p>
          <a:p>
            <a:pPr algn="l">
              <a:lnSpc>
                <a:spcPct val="110000"/>
              </a:lnSpc>
              <a:spcAft>
                <a:spcPts val="500"/>
              </a:spcAft>
            </a:pPr>
            <a:r>
              <a:rPr sz="919" b="0">
                <a:solidFill>
                  <a:srgbClr val="111827"/>
                </a:solidFill>
                <a:latin typeface="Roboto"/>
              </a:rPr>
              <a:t>-  Lịch tuân thủ và nhắc hạn nhiều mức</a:t>
            </a:r>
          </a:p>
          <a:p>
            <a:pPr algn="l">
              <a:lnSpc>
                <a:spcPct val="110000"/>
              </a:lnSpc>
              <a:spcAft>
                <a:spcPts val="500"/>
              </a:spcAft>
            </a:pPr>
            <a:r>
              <a:rPr sz="919" b="0">
                <a:solidFill>
                  <a:srgbClr val="111827"/>
                </a:solidFill>
                <a:latin typeface="Roboto"/>
              </a:rPr>
              <a:t>-  Giao việc và bảng việc cá nhân</a:t>
            </a:r>
          </a:p>
        </p:txBody>
      </p:sp>
      <p:sp>
        <p:nvSpPr>
          <p:cNvPr id="18" name="Rectangle 17"/>
          <p:cNvSpPr/>
          <p:nvPr/>
        </p:nvSpPr>
        <p:spPr>
          <a:xfrm>
            <a:off x="539496" y="4846320"/>
            <a:ext cx="3381237" cy="53035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9224" y="4937760"/>
            <a:ext cx="3161781" cy="365760"/>
          </a:xfrm>
          <a:prstGeom prst="rect">
            <a:avLst/>
          </a:prstGeom>
          <a:noFill/>
        </p:spPr>
        <p:txBody>
          <a:bodyPr wrap="square" lIns="0" rIns="0" tIns="0" bIns="0" anchor="t">
            <a:spAutoFit/>
          </a:bodyPr>
          <a:lstStyle/>
          <a:p>
            <a:pPr algn="l">
              <a:lnSpc>
                <a:spcPct val="112000"/>
              </a:lnSpc>
              <a:spcAft>
                <a:spcPts val="400"/>
              </a:spcAft>
            </a:pPr>
            <a:r>
              <a:rPr sz="880" b="1">
                <a:solidFill>
                  <a:srgbClr val="D81F26"/>
                </a:solidFill>
                <a:latin typeface="Roboto"/>
              </a:rPr>
              <a:t>Kết quả: cắt phần lớn công việc nhập liệu và chấm dứt rủi ro quên hạn nộp.</a:t>
            </a:r>
          </a:p>
        </p:txBody>
      </p:sp>
      <p:sp>
        <p:nvSpPr>
          <p:cNvPr id="20" name="Rectangle 19"/>
          <p:cNvSpPr/>
          <p:nvPr/>
        </p:nvSpPr>
        <p:spPr>
          <a:xfrm>
            <a:off x="4277349" y="1591056"/>
            <a:ext cx="3637269" cy="389534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277349" y="1591056"/>
            <a:ext cx="3637269" cy="512064"/>
          </a:xfrm>
          <a:prstGeom prst="rect">
            <a:avLst/>
          </a:prstGeom>
          <a:solidFill>
            <a:srgbClr val="1F6F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441941" y="1664208"/>
            <a:ext cx="3308085" cy="201168"/>
          </a:xfrm>
          <a:prstGeom prst="rect">
            <a:avLst/>
          </a:prstGeom>
          <a:noFill/>
        </p:spPr>
        <p:txBody>
          <a:bodyPr wrap="square" lIns="0" rIns="0" tIns="0" bIns="0" anchor="t">
            <a:spAutoFit/>
          </a:bodyPr>
          <a:lstStyle/>
          <a:p>
            <a:pPr algn="l">
              <a:lnSpc>
                <a:spcPct val="100000"/>
              </a:lnSpc>
              <a:spcAft>
                <a:spcPts val="400"/>
              </a:spcAft>
            </a:pPr>
            <a:r>
              <a:rPr sz="1100" b="1">
                <a:solidFill>
                  <a:srgbClr val="FFFFFF"/>
                </a:solidFill>
                <a:latin typeface="Roboto"/>
              </a:rPr>
              <a:t>GIAI ĐOẠN 2</a:t>
            </a:r>
          </a:p>
        </p:txBody>
      </p:sp>
      <p:sp>
        <p:nvSpPr>
          <p:cNvPr id="23" name="TextBox 22"/>
          <p:cNvSpPr txBox="1"/>
          <p:nvPr/>
        </p:nvSpPr>
        <p:spPr>
          <a:xfrm>
            <a:off x="4441941" y="1874519"/>
            <a:ext cx="3308085" cy="182880"/>
          </a:xfrm>
          <a:prstGeom prst="rect">
            <a:avLst/>
          </a:prstGeom>
          <a:noFill/>
        </p:spPr>
        <p:txBody>
          <a:bodyPr wrap="square" lIns="0" rIns="0" tIns="0" bIns="0" anchor="t">
            <a:spAutoFit/>
          </a:bodyPr>
          <a:lstStyle/>
          <a:p>
            <a:pPr algn="l">
              <a:lnSpc>
                <a:spcPct val="100000"/>
              </a:lnSpc>
              <a:spcAft>
                <a:spcPts val="400"/>
              </a:spcAft>
            </a:pPr>
            <a:r>
              <a:rPr sz="850" b="0">
                <a:solidFill>
                  <a:srgbClr val="FFFFFF"/>
                </a:solidFill>
                <a:latin typeface="Roboto"/>
              </a:rPr>
              <a:t>Khoảng 3 tháng  |  180 người-ngày</a:t>
            </a:r>
          </a:p>
        </p:txBody>
      </p:sp>
      <p:sp>
        <p:nvSpPr>
          <p:cNvPr id="24" name="TextBox 23"/>
          <p:cNvSpPr txBox="1"/>
          <p:nvPr/>
        </p:nvSpPr>
        <p:spPr>
          <a:xfrm>
            <a:off x="4441941" y="2231136"/>
            <a:ext cx="3308085" cy="2377440"/>
          </a:xfrm>
          <a:prstGeom prst="rect">
            <a:avLst/>
          </a:prstGeom>
          <a:noFill/>
        </p:spPr>
        <p:txBody>
          <a:bodyPr wrap="square" lIns="0" rIns="0" tIns="0" bIns="0" anchor="t">
            <a:spAutoFit/>
          </a:bodyPr>
          <a:lstStyle/>
          <a:p>
            <a:pPr algn="l">
              <a:lnSpc>
                <a:spcPct val="110000"/>
              </a:lnSpc>
              <a:spcAft>
                <a:spcPts val="500"/>
              </a:spcAft>
            </a:pPr>
            <a:r>
              <a:rPr sz="919" b="0">
                <a:solidFill>
                  <a:srgbClr val="111827"/>
                </a:solidFill>
                <a:latin typeface="Roboto"/>
              </a:rPr>
              <a:t>-  Ghi sổ theo bộ quy tắc và đồng bộ phần mềm kế toán</a:t>
            </a:r>
          </a:p>
          <a:p>
            <a:pPr algn="l">
              <a:lnSpc>
                <a:spcPct val="110000"/>
              </a:lnSpc>
              <a:spcAft>
                <a:spcPts val="500"/>
              </a:spcAft>
            </a:pPr>
            <a:r>
              <a:rPr sz="919" b="0">
                <a:solidFill>
                  <a:srgbClr val="111827"/>
                </a:solidFill>
                <a:latin typeface="Roboto"/>
              </a:rPr>
              <a:t>-  Soát xét theo bộ tiêu chí chuẩn, ghi vết hai cấp</a:t>
            </a:r>
          </a:p>
          <a:p>
            <a:pPr algn="l">
              <a:lnSpc>
                <a:spcPct val="110000"/>
              </a:lnSpc>
              <a:spcAft>
                <a:spcPts val="500"/>
              </a:spcAft>
            </a:pPr>
            <a:r>
              <a:rPr sz="919" b="0">
                <a:solidFill>
                  <a:srgbClr val="111827"/>
                </a:solidFill>
                <a:latin typeface="Roboto"/>
              </a:rPr>
              <a:t>-  Tác tử rà soát bất hợp lý trước khi đóng sổ</a:t>
            </a:r>
          </a:p>
          <a:p>
            <a:pPr algn="l">
              <a:lnSpc>
                <a:spcPct val="110000"/>
              </a:lnSpc>
              <a:spcAft>
                <a:spcPts val="500"/>
              </a:spcAft>
            </a:pPr>
            <a:r>
              <a:rPr sz="919" b="0">
                <a:solidFill>
                  <a:srgbClr val="111827"/>
                </a:solidFill>
                <a:latin typeface="Roboto"/>
              </a:rPr>
              <a:t>-  Sinh tờ khai và bộ hồ sơ hàng loạt</a:t>
            </a:r>
          </a:p>
          <a:p>
            <a:pPr algn="l">
              <a:lnSpc>
                <a:spcPct val="110000"/>
              </a:lnSpc>
              <a:spcAft>
                <a:spcPts val="500"/>
              </a:spcAft>
            </a:pPr>
            <a:r>
              <a:rPr sz="919" b="0">
                <a:solidFill>
                  <a:srgbClr val="111827"/>
                </a:solidFill>
                <a:latin typeface="Roboto"/>
              </a:rPr>
              <a:t>-  Bảng điều khiển điều hành và lãi lỗ theo khách</a:t>
            </a:r>
          </a:p>
          <a:p>
            <a:pPr algn="l">
              <a:lnSpc>
                <a:spcPct val="110000"/>
              </a:lnSpc>
              <a:spcAft>
                <a:spcPts val="500"/>
              </a:spcAft>
            </a:pPr>
            <a:r>
              <a:rPr sz="919" b="0">
                <a:solidFill>
                  <a:srgbClr val="111827"/>
                </a:solidFill>
                <a:latin typeface="Roboto"/>
              </a:rPr>
              <a:t>-  Định giá theo khối lượng thực, hóa đơn và công nợ tự động</a:t>
            </a:r>
          </a:p>
          <a:p>
            <a:pPr algn="l">
              <a:lnSpc>
                <a:spcPct val="110000"/>
              </a:lnSpc>
              <a:spcAft>
                <a:spcPts val="500"/>
              </a:spcAft>
            </a:pPr>
            <a:r>
              <a:rPr sz="919" b="0">
                <a:solidFill>
                  <a:srgbClr val="111827"/>
                </a:solidFill>
                <a:latin typeface="Roboto"/>
              </a:rPr>
              <a:t>-  Phê duyệt nội bộ nhiều cấp, bản tin điều hành buổi sáng</a:t>
            </a:r>
          </a:p>
        </p:txBody>
      </p:sp>
      <p:sp>
        <p:nvSpPr>
          <p:cNvPr id="25" name="Rectangle 24"/>
          <p:cNvSpPr/>
          <p:nvPr/>
        </p:nvSpPr>
        <p:spPr>
          <a:xfrm>
            <a:off x="4405365" y="4846320"/>
            <a:ext cx="3381237" cy="53035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15093" y="4937760"/>
            <a:ext cx="3161781" cy="365760"/>
          </a:xfrm>
          <a:prstGeom prst="rect">
            <a:avLst/>
          </a:prstGeom>
          <a:noFill/>
        </p:spPr>
        <p:txBody>
          <a:bodyPr wrap="square" lIns="0" rIns="0" tIns="0" bIns="0" anchor="t">
            <a:spAutoFit/>
          </a:bodyPr>
          <a:lstStyle/>
          <a:p>
            <a:pPr algn="l">
              <a:lnSpc>
                <a:spcPct val="112000"/>
              </a:lnSpc>
              <a:spcAft>
                <a:spcPts val="400"/>
              </a:spcAft>
            </a:pPr>
            <a:r>
              <a:rPr sz="880" b="1">
                <a:solidFill>
                  <a:srgbClr val="1F6FD0"/>
                </a:solidFill>
                <a:latin typeface="Roboto"/>
              </a:rPr>
              <a:t>Kết quả: khép kín chu trình từ chứng từ tới tờ khai và tới tiền về.</a:t>
            </a:r>
          </a:p>
        </p:txBody>
      </p:sp>
      <p:sp>
        <p:nvSpPr>
          <p:cNvPr id="27" name="Rectangle 26"/>
          <p:cNvSpPr/>
          <p:nvPr/>
        </p:nvSpPr>
        <p:spPr>
          <a:xfrm>
            <a:off x="8143219" y="1591056"/>
            <a:ext cx="3637269" cy="3895344"/>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143219" y="1591056"/>
            <a:ext cx="3637269" cy="512064"/>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307811" y="1664208"/>
            <a:ext cx="3308085" cy="201168"/>
          </a:xfrm>
          <a:prstGeom prst="rect">
            <a:avLst/>
          </a:prstGeom>
          <a:noFill/>
        </p:spPr>
        <p:txBody>
          <a:bodyPr wrap="square" lIns="0" rIns="0" tIns="0" bIns="0" anchor="t">
            <a:spAutoFit/>
          </a:bodyPr>
          <a:lstStyle/>
          <a:p>
            <a:pPr algn="l">
              <a:lnSpc>
                <a:spcPct val="100000"/>
              </a:lnSpc>
              <a:spcAft>
                <a:spcPts val="400"/>
              </a:spcAft>
            </a:pPr>
            <a:r>
              <a:rPr sz="1100" b="1">
                <a:solidFill>
                  <a:srgbClr val="FFFFFF"/>
                </a:solidFill>
                <a:latin typeface="Roboto"/>
              </a:rPr>
              <a:t>GIAI ĐOẠN 3</a:t>
            </a:r>
          </a:p>
        </p:txBody>
      </p:sp>
      <p:sp>
        <p:nvSpPr>
          <p:cNvPr id="30" name="TextBox 29"/>
          <p:cNvSpPr txBox="1"/>
          <p:nvPr/>
        </p:nvSpPr>
        <p:spPr>
          <a:xfrm>
            <a:off x="8307811" y="1874519"/>
            <a:ext cx="3308085" cy="182880"/>
          </a:xfrm>
          <a:prstGeom prst="rect">
            <a:avLst/>
          </a:prstGeom>
          <a:noFill/>
        </p:spPr>
        <p:txBody>
          <a:bodyPr wrap="square" lIns="0" rIns="0" tIns="0" bIns="0" anchor="t">
            <a:spAutoFit/>
          </a:bodyPr>
          <a:lstStyle/>
          <a:p>
            <a:pPr algn="l">
              <a:lnSpc>
                <a:spcPct val="100000"/>
              </a:lnSpc>
              <a:spcAft>
                <a:spcPts val="400"/>
              </a:spcAft>
            </a:pPr>
            <a:r>
              <a:rPr sz="850" b="0">
                <a:solidFill>
                  <a:srgbClr val="FFFFFF"/>
                </a:solidFill>
                <a:latin typeface="Roboto"/>
              </a:rPr>
              <a:t>Khoảng 2 tháng  |  70 người-ngày</a:t>
            </a:r>
          </a:p>
        </p:txBody>
      </p:sp>
      <p:sp>
        <p:nvSpPr>
          <p:cNvPr id="31" name="TextBox 30"/>
          <p:cNvSpPr txBox="1"/>
          <p:nvPr/>
        </p:nvSpPr>
        <p:spPr>
          <a:xfrm>
            <a:off x="8307811" y="2231136"/>
            <a:ext cx="3308085" cy="2377440"/>
          </a:xfrm>
          <a:prstGeom prst="rect">
            <a:avLst/>
          </a:prstGeom>
          <a:noFill/>
        </p:spPr>
        <p:txBody>
          <a:bodyPr wrap="square" lIns="0" rIns="0" tIns="0" bIns="0" anchor="t">
            <a:spAutoFit/>
          </a:bodyPr>
          <a:lstStyle/>
          <a:p>
            <a:pPr algn="l">
              <a:lnSpc>
                <a:spcPct val="110000"/>
              </a:lnSpc>
              <a:spcAft>
                <a:spcPts val="500"/>
              </a:spcAft>
            </a:pPr>
            <a:r>
              <a:rPr sz="919" b="0">
                <a:solidFill>
                  <a:srgbClr val="111827"/>
                </a:solidFill>
                <a:latin typeface="Roboto"/>
              </a:rPr>
              <a:t>-  Trợ lý hỏi đáp pháp luật có trích dẫn điều khoản</a:t>
            </a:r>
          </a:p>
          <a:p>
            <a:pPr algn="l">
              <a:lnSpc>
                <a:spcPct val="110000"/>
              </a:lnSpc>
              <a:spcAft>
                <a:spcPts val="500"/>
              </a:spcAft>
            </a:pPr>
            <a:r>
              <a:rPr sz="919" b="0">
                <a:solidFill>
                  <a:srgbClr val="111827"/>
                </a:solidFill>
                <a:latin typeface="Roboto"/>
              </a:rPr>
              <a:t>-  Tra cứu dữ liệu nội bộ bằng câu hỏi tiếng Việt thường</a:t>
            </a:r>
          </a:p>
          <a:p>
            <a:pPr algn="l">
              <a:lnSpc>
                <a:spcPct val="110000"/>
              </a:lnSpc>
              <a:spcAft>
                <a:spcPts val="500"/>
              </a:spcAft>
            </a:pPr>
            <a:r>
              <a:rPr sz="919" b="0">
                <a:solidFill>
                  <a:srgbClr val="111827"/>
                </a:solidFill>
                <a:latin typeface="Roboto"/>
              </a:rPr>
              <a:t>-  Soạn thảo công văn, giải trình, thư tư vấn</a:t>
            </a:r>
          </a:p>
          <a:p>
            <a:pPr algn="l">
              <a:lnSpc>
                <a:spcPct val="110000"/>
              </a:lnSpc>
              <a:spcAft>
                <a:spcPts val="500"/>
              </a:spcAft>
            </a:pPr>
            <a:r>
              <a:rPr sz="919" b="0">
                <a:solidFill>
                  <a:srgbClr val="111827"/>
                </a:solidFill>
                <a:latin typeface="Roboto"/>
              </a:rPr>
              <a:t>-  Năng suất theo người, theo khách, theo giờ</a:t>
            </a:r>
          </a:p>
          <a:p>
            <a:pPr algn="l">
              <a:lnSpc>
                <a:spcPct val="110000"/>
              </a:lnSpc>
              <a:spcAft>
                <a:spcPts val="500"/>
              </a:spcAft>
            </a:pPr>
            <a:r>
              <a:rPr sz="919" b="0">
                <a:solidFill>
                  <a:srgbClr val="111827"/>
                </a:solidFill>
                <a:latin typeface="Roboto"/>
              </a:rPr>
              <a:t>-  Dịch vụ API cho cộng tác viên và đối tác</a:t>
            </a:r>
          </a:p>
          <a:p>
            <a:pPr algn="l">
              <a:lnSpc>
                <a:spcPct val="110000"/>
              </a:lnSpc>
              <a:spcAft>
                <a:spcPts val="500"/>
              </a:spcAft>
            </a:pPr>
            <a:r>
              <a:rPr sz="919" b="0">
                <a:solidFill>
                  <a:srgbClr val="111827"/>
                </a:solidFill>
                <a:latin typeface="Roboto"/>
              </a:rPr>
              <a:t>-  Hỏi đáp cho khách trong phạm vi dữ liệu của chính họ</a:t>
            </a:r>
          </a:p>
        </p:txBody>
      </p:sp>
      <p:sp>
        <p:nvSpPr>
          <p:cNvPr id="32" name="Rectangle 31"/>
          <p:cNvSpPr/>
          <p:nvPr/>
        </p:nvSpPr>
        <p:spPr>
          <a:xfrm>
            <a:off x="8271235" y="4846320"/>
            <a:ext cx="3381237" cy="530352"/>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380963" y="4937760"/>
            <a:ext cx="3161781" cy="365760"/>
          </a:xfrm>
          <a:prstGeom prst="rect">
            <a:avLst/>
          </a:prstGeom>
          <a:noFill/>
        </p:spPr>
        <p:txBody>
          <a:bodyPr wrap="square" lIns="0" rIns="0" tIns="0" bIns="0" anchor="t">
            <a:spAutoFit/>
          </a:bodyPr>
          <a:lstStyle/>
          <a:p>
            <a:pPr algn="l">
              <a:lnSpc>
                <a:spcPct val="112000"/>
              </a:lnSpc>
              <a:spcAft>
                <a:spcPts val="400"/>
              </a:spcAft>
            </a:pPr>
            <a:r>
              <a:rPr sz="880" b="1">
                <a:solidFill>
                  <a:srgbClr val="1E7F4F"/>
                </a:solidFill>
                <a:latin typeface="Roboto"/>
              </a:rPr>
              <a:t>Kết quả: giữ lại tri thức của người giỏi và mở hướng doanh thu mới.</a:t>
            </a:r>
          </a:p>
        </p:txBody>
      </p:sp>
      <p:sp>
        <p:nvSpPr>
          <p:cNvPr id="34" name="Rectangle 33"/>
          <p:cNvSpPr/>
          <p:nvPr/>
        </p:nvSpPr>
        <p:spPr>
          <a:xfrm>
            <a:off x="411480" y="5614416"/>
            <a:ext cx="11369009" cy="457200"/>
          </a:xfrm>
          <a:prstGeom prst="rect">
            <a:avLst/>
          </a:prstGeom>
          <a:solidFill>
            <a:srgbClr val="E8F5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1E7F4F"/>
                </a:solidFill>
                <a:latin typeface="Roboto"/>
              </a:rPr>
              <a:t>Trước khi ký: LAZINET dựng miễn phí một bản chạy thử phần số hóa chứng từ trên dữ liệu thật của một khách hàng ATL, trong hai tuần, để ATL tự kiểm chứng độ chính xác.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Mô hình 1: Trọn gói triển khai</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Trả trọn gói một lần cho cả ba giai đoạn, dùng trọn năm thứ nhất. Từ năm thứ hai trả phí duy trì theo tháng. Không giới hạn số tài khoản người dùng.</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15</a:t>
            </a:r>
          </a:p>
        </p:txBody>
      </p:sp>
      <p:sp>
        <p:nvSpPr>
          <p:cNvPr id="13" name="Rectangle 12"/>
          <p:cNvSpPr/>
          <p:nvPr/>
        </p:nvSpPr>
        <p:spPr>
          <a:xfrm>
            <a:off x="411480" y="1591056"/>
            <a:ext cx="2739382" cy="1298448"/>
          </a:xfrm>
          <a:prstGeom prst="rect">
            <a:avLst/>
          </a:prstGeom>
          <a:solidFill>
            <a:srgbClr val="EAF2FC"/>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1700784"/>
            <a:ext cx="2410198" cy="201168"/>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TRỌN GÓI TRIỂN KHAI</a:t>
            </a:r>
          </a:p>
        </p:txBody>
      </p:sp>
      <p:sp>
        <p:nvSpPr>
          <p:cNvPr id="15" name="TextBox 14"/>
          <p:cNvSpPr txBox="1"/>
          <p:nvPr/>
        </p:nvSpPr>
        <p:spPr>
          <a:xfrm>
            <a:off x="576072" y="1920240"/>
            <a:ext cx="2410198" cy="402336"/>
          </a:xfrm>
          <a:prstGeom prst="rect">
            <a:avLst/>
          </a:prstGeom>
          <a:noFill/>
        </p:spPr>
        <p:txBody>
          <a:bodyPr wrap="square" lIns="0" rIns="0" tIns="0" bIns="0" anchor="t">
            <a:spAutoFit/>
          </a:bodyPr>
          <a:lstStyle/>
          <a:p>
            <a:pPr algn="l">
              <a:lnSpc>
                <a:spcPct val="100000"/>
              </a:lnSpc>
              <a:spcAft>
                <a:spcPts val="400"/>
              </a:spcAft>
            </a:pPr>
            <a:r>
              <a:rPr sz="3000" b="1">
                <a:solidFill>
                  <a:srgbClr val="0B3A8F"/>
                </a:solidFill>
                <a:latin typeface="Roboto"/>
              </a:rPr>
              <a:t>160</a:t>
            </a:r>
          </a:p>
        </p:txBody>
      </p:sp>
      <p:sp>
        <p:nvSpPr>
          <p:cNvPr id="16" name="TextBox 15"/>
          <p:cNvSpPr txBox="1"/>
          <p:nvPr/>
        </p:nvSpPr>
        <p:spPr>
          <a:xfrm>
            <a:off x="576072" y="2359152"/>
            <a:ext cx="2410198" cy="457200"/>
          </a:xfrm>
          <a:prstGeom prst="rect">
            <a:avLst/>
          </a:prstGeom>
          <a:noFill/>
        </p:spPr>
        <p:txBody>
          <a:bodyPr wrap="square" lIns="0" rIns="0" tIns="0" bIns="0" anchor="t">
            <a:spAutoFit/>
          </a:bodyPr>
          <a:lstStyle/>
          <a:p>
            <a:pPr algn="l">
              <a:lnSpc>
                <a:spcPct val="112000"/>
              </a:lnSpc>
              <a:spcAft>
                <a:spcPts val="400"/>
              </a:spcAft>
            </a:pPr>
            <a:r>
              <a:rPr sz="880" b="0">
                <a:solidFill>
                  <a:srgbClr val="475569"/>
                </a:solidFill>
                <a:latin typeface="Roboto"/>
              </a:rPr>
              <a:t>triệu đồng, trả bốn đợt theo mốc nghiệm thu. Đã gồm trọn năm thứ nhất.</a:t>
            </a:r>
          </a:p>
        </p:txBody>
      </p:sp>
      <p:sp>
        <p:nvSpPr>
          <p:cNvPr id="17" name="Rectangle 16"/>
          <p:cNvSpPr/>
          <p:nvPr/>
        </p:nvSpPr>
        <p:spPr>
          <a:xfrm>
            <a:off x="3288022" y="1591056"/>
            <a:ext cx="2739382" cy="1298448"/>
          </a:xfrm>
          <a:prstGeom prst="rect">
            <a:avLst/>
          </a:prstGeom>
          <a:solidFill>
            <a:srgbClr val="FFFFFF"/>
          </a:solidFill>
          <a:ln w="9525">
            <a:solidFill>
              <a:srgbClr val="1F6FD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452614" y="1700784"/>
            <a:ext cx="2410198" cy="201168"/>
          </a:xfrm>
          <a:prstGeom prst="rect">
            <a:avLst/>
          </a:prstGeom>
          <a:noFill/>
        </p:spPr>
        <p:txBody>
          <a:bodyPr wrap="square" lIns="0" rIns="0" tIns="0" bIns="0" anchor="t">
            <a:spAutoFit/>
          </a:bodyPr>
          <a:lstStyle/>
          <a:p>
            <a:pPr algn="l">
              <a:lnSpc>
                <a:spcPct val="100000"/>
              </a:lnSpc>
              <a:spcAft>
                <a:spcPts val="400"/>
              </a:spcAft>
            </a:pPr>
            <a:r>
              <a:rPr sz="850" b="1">
                <a:solidFill>
                  <a:srgbClr val="1F6FD0"/>
                </a:solidFill>
                <a:latin typeface="Roboto"/>
              </a:rPr>
              <a:t>DUY TRÌ TỪ NĂM 2</a:t>
            </a:r>
          </a:p>
        </p:txBody>
      </p:sp>
      <p:sp>
        <p:nvSpPr>
          <p:cNvPr id="19" name="TextBox 18"/>
          <p:cNvSpPr txBox="1"/>
          <p:nvPr/>
        </p:nvSpPr>
        <p:spPr>
          <a:xfrm>
            <a:off x="3452614" y="1920240"/>
            <a:ext cx="2410198" cy="402336"/>
          </a:xfrm>
          <a:prstGeom prst="rect">
            <a:avLst/>
          </a:prstGeom>
          <a:noFill/>
        </p:spPr>
        <p:txBody>
          <a:bodyPr wrap="square" lIns="0" rIns="0" tIns="0" bIns="0" anchor="t">
            <a:spAutoFit/>
          </a:bodyPr>
          <a:lstStyle/>
          <a:p>
            <a:pPr algn="l">
              <a:lnSpc>
                <a:spcPct val="100000"/>
              </a:lnSpc>
              <a:spcAft>
                <a:spcPts val="400"/>
              </a:spcAft>
            </a:pPr>
            <a:r>
              <a:rPr sz="3000" b="1">
                <a:solidFill>
                  <a:srgbClr val="1F6FD0"/>
                </a:solidFill>
                <a:latin typeface="Roboto"/>
              </a:rPr>
              <a:t>3</a:t>
            </a:r>
          </a:p>
        </p:txBody>
      </p:sp>
      <p:sp>
        <p:nvSpPr>
          <p:cNvPr id="20" name="TextBox 19"/>
          <p:cNvSpPr txBox="1"/>
          <p:nvPr/>
        </p:nvSpPr>
        <p:spPr>
          <a:xfrm>
            <a:off x="3452614" y="2359152"/>
            <a:ext cx="2410198" cy="457200"/>
          </a:xfrm>
          <a:prstGeom prst="rect">
            <a:avLst/>
          </a:prstGeom>
          <a:noFill/>
        </p:spPr>
        <p:txBody>
          <a:bodyPr wrap="square" lIns="0" rIns="0" tIns="0" bIns="0" anchor="t">
            <a:spAutoFit/>
          </a:bodyPr>
          <a:lstStyle/>
          <a:p>
            <a:pPr algn="l">
              <a:lnSpc>
                <a:spcPct val="112000"/>
              </a:lnSpc>
              <a:spcAft>
                <a:spcPts val="400"/>
              </a:spcAft>
            </a:pPr>
            <a:r>
              <a:rPr sz="880" b="0">
                <a:solidFill>
                  <a:srgbClr val="475569"/>
                </a:solidFill>
                <a:latin typeface="Roboto"/>
              </a:rPr>
              <a:t>triệu đồng mỗi tháng. Hỗ trợ kỹ thuật, vá lỗi, cập nhật theo chính sách thuế.</a:t>
            </a:r>
          </a:p>
        </p:txBody>
      </p:sp>
      <p:sp>
        <p:nvSpPr>
          <p:cNvPr id="21" name="Rectangle 20"/>
          <p:cNvSpPr/>
          <p:nvPr/>
        </p:nvSpPr>
        <p:spPr>
          <a:xfrm>
            <a:off x="6164564" y="1591056"/>
            <a:ext cx="2739382" cy="1298448"/>
          </a:xfrm>
          <a:prstGeom prst="rect">
            <a:avLst/>
          </a:prstGeom>
          <a:solidFill>
            <a:srgbClr val="FFFFFF"/>
          </a:solidFill>
          <a:ln w="9525">
            <a:solidFill>
              <a:srgbClr val="FF630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29156" y="1700784"/>
            <a:ext cx="2410198" cy="201168"/>
          </a:xfrm>
          <a:prstGeom prst="rect">
            <a:avLst/>
          </a:prstGeom>
          <a:noFill/>
        </p:spPr>
        <p:txBody>
          <a:bodyPr wrap="square" lIns="0" rIns="0" tIns="0" bIns="0" anchor="t">
            <a:spAutoFit/>
          </a:bodyPr>
          <a:lstStyle/>
          <a:p>
            <a:pPr algn="l">
              <a:lnSpc>
                <a:spcPct val="100000"/>
              </a:lnSpc>
              <a:spcAft>
                <a:spcPts val="400"/>
              </a:spcAft>
            </a:pPr>
            <a:r>
              <a:rPr sz="850" b="1">
                <a:solidFill>
                  <a:srgbClr val="FF6302"/>
                </a:solidFill>
                <a:latin typeface="Roboto"/>
              </a:rPr>
              <a:t>LICENSE AI</a:t>
            </a:r>
          </a:p>
        </p:txBody>
      </p:sp>
      <p:sp>
        <p:nvSpPr>
          <p:cNvPr id="23" name="TextBox 22"/>
          <p:cNvSpPr txBox="1"/>
          <p:nvPr/>
        </p:nvSpPr>
        <p:spPr>
          <a:xfrm>
            <a:off x="6329156" y="1920240"/>
            <a:ext cx="2410198" cy="402336"/>
          </a:xfrm>
          <a:prstGeom prst="rect">
            <a:avLst/>
          </a:prstGeom>
          <a:noFill/>
        </p:spPr>
        <p:txBody>
          <a:bodyPr wrap="square" lIns="0" rIns="0" tIns="0" bIns="0" anchor="t">
            <a:spAutoFit/>
          </a:bodyPr>
          <a:lstStyle/>
          <a:p>
            <a:pPr algn="l">
              <a:lnSpc>
                <a:spcPct val="100000"/>
              </a:lnSpc>
              <a:spcAft>
                <a:spcPts val="400"/>
              </a:spcAft>
            </a:pPr>
            <a:r>
              <a:rPr sz="3000" b="1">
                <a:solidFill>
                  <a:srgbClr val="FF6302"/>
                </a:solidFill>
                <a:latin typeface="Roboto"/>
              </a:rPr>
              <a:t>2</a:t>
            </a:r>
          </a:p>
        </p:txBody>
      </p:sp>
      <p:sp>
        <p:nvSpPr>
          <p:cNvPr id="24" name="TextBox 23"/>
          <p:cNvSpPr txBox="1"/>
          <p:nvPr/>
        </p:nvSpPr>
        <p:spPr>
          <a:xfrm>
            <a:off x="6329156" y="2359152"/>
            <a:ext cx="2410198" cy="457200"/>
          </a:xfrm>
          <a:prstGeom prst="rect">
            <a:avLst/>
          </a:prstGeom>
          <a:noFill/>
        </p:spPr>
        <p:txBody>
          <a:bodyPr wrap="square" lIns="0" rIns="0" tIns="0" bIns="0" anchor="t">
            <a:spAutoFit/>
          </a:bodyPr>
          <a:lstStyle/>
          <a:p>
            <a:pPr algn="l">
              <a:lnSpc>
                <a:spcPct val="112000"/>
              </a:lnSpc>
              <a:spcAft>
                <a:spcPts val="400"/>
              </a:spcAft>
            </a:pPr>
            <a:r>
              <a:rPr sz="880" b="0">
                <a:solidFill>
                  <a:srgbClr val="475569"/>
                </a:solidFill>
                <a:latin typeface="Roboto"/>
              </a:rPr>
              <a:t>triệu đồng mỗi tháng, theo mức dùng thật. Ước cho 35.000 chứng từ.</a:t>
            </a:r>
          </a:p>
        </p:txBody>
      </p:sp>
      <p:sp>
        <p:nvSpPr>
          <p:cNvPr id="25" name="Rectangle 24"/>
          <p:cNvSpPr/>
          <p:nvPr/>
        </p:nvSpPr>
        <p:spPr>
          <a:xfrm>
            <a:off x="9041107" y="1591056"/>
            <a:ext cx="2739382" cy="1298448"/>
          </a:xfrm>
          <a:prstGeom prst="rect">
            <a:avLst/>
          </a:prstGeom>
          <a:solidFill>
            <a:srgbClr val="FFFFFF"/>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205699" y="1700784"/>
            <a:ext cx="2410198" cy="201168"/>
          </a:xfrm>
          <a:prstGeom prst="rect">
            <a:avLst/>
          </a:prstGeom>
          <a:noFill/>
        </p:spPr>
        <p:txBody>
          <a:bodyPr wrap="square" lIns="0" rIns="0" tIns="0" bIns="0" anchor="t">
            <a:spAutoFit/>
          </a:bodyPr>
          <a:lstStyle/>
          <a:p>
            <a:pPr algn="l">
              <a:lnSpc>
                <a:spcPct val="100000"/>
              </a:lnSpc>
              <a:spcAft>
                <a:spcPts val="400"/>
              </a:spcAft>
            </a:pPr>
            <a:r>
              <a:rPr sz="850" b="1">
                <a:solidFill>
                  <a:srgbClr val="475569"/>
                </a:solidFill>
                <a:latin typeface="Roboto"/>
              </a:rPr>
              <a:t>HẠ TẦNG</a:t>
            </a:r>
          </a:p>
        </p:txBody>
      </p:sp>
      <p:sp>
        <p:nvSpPr>
          <p:cNvPr id="27" name="TextBox 26"/>
          <p:cNvSpPr txBox="1"/>
          <p:nvPr/>
        </p:nvSpPr>
        <p:spPr>
          <a:xfrm>
            <a:off x="9205699" y="1920240"/>
            <a:ext cx="2410198" cy="402336"/>
          </a:xfrm>
          <a:prstGeom prst="rect">
            <a:avLst/>
          </a:prstGeom>
          <a:noFill/>
        </p:spPr>
        <p:txBody>
          <a:bodyPr wrap="square" lIns="0" rIns="0" tIns="0" bIns="0" anchor="t">
            <a:spAutoFit/>
          </a:bodyPr>
          <a:lstStyle/>
          <a:p>
            <a:pPr algn="l">
              <a:lnSpc>
                <a:spcPct val="100000"/>
              </a:lnSpc>
              <a:spcAft>
                <a:spcPts val="400"/>
              </a:spcAft>
            </a:pPr>
            <a:r>
              <a:rPr sz="3000" b="1">
                <a:solidFill>
                  <a:srgbClr val="475569"/>
                </a:solidFill>
                <a:latin typeface="Roboto"/>
              </a:rPr>
              <a:t>2</a:t>
            </a:r>
          </a:p>
        </p:txBody>
      </p:sp>
      <p:sp>
        <p:nvSpPr>
          <p:cNvPr id="28" name="TextBox 27"/>
          <p:cNvSpPr txBox="1"/>
          <p:nvPr/>
        </p:nvSpPr>
        <p:spPr>
          <a:xfrm>
            <a:off x="9205699" y="2359152"/>
            <a:ext cx="2410198" cy="457200"/>
          </a:xfrm>
          <a:prstGeom prst="rect">
            <a:avLst/>
          </a:prstGeom>
          <a:noFill/>
        </p:spPr>
        <p:txBody>
          <a:bodyPr wrap="square" lIns="0" rIns="0" tIns="0" bIns="0" anchor="t">
            <a:spAutoFit/>
          </a:bodyPr>
          <a:lstStyle/>
          <a:p>
            <a:pPr algn="l">
              <a:lnSpc>
                <a:spcPct val="112000"/>
              </a:lnSpc>
              <a:spcAft>
                <a:spcPts val="400"/>
              </a:spcAft>
            </a:pPr>
            <a:r>
              <a:rPr sz="880" b="0">
                <a:solidFill>
                  <a:srgbClr val="475569"/>
                </a:solidFill>
                <a:latin typeface="Roboto"/>
              </a:rPr>
              <a:t>triệu đồng mỗi tháng, theo mức dùng thật. Trả đúng hóa đơn nhà cung cấp.</a:t>
            </a:r>
          </a:p>
        </p:txBody>
      </p:sp>
      <p:sp>
        <p:nvSpPr>
          <p:cNvPr id="29" name="Rectangle 28"/>
          <p:cNvSpPr/>
          <p:nvPr/>
        </p:nvSpPr>
        <p:spPr>
          <a:xfrm>
            <a:off x="411480" y="3035808"/>
            <a:ext cx="272856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Mốc</a:t>
            </a:r>
          </a:p>
        </p:txBody>
      </p:sp>
      <p:sp>
        <p:nvSpPr>
          <p:cNvPr id="30" name="Rectangle 29"/>
          <p:cNvSpPr/>
          <p:nvPr/>
        </p:nvSpPr>
        <p:spPr>
          <a:xfrm>
            <a:off x="3140042" y="3035808"/>
            <a:ext cx="147797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Trọn gói</a:t>
            </a:r>
          </a:p>
        </p:txBody>
      </p:sp>
      <p:sp>
        <p:nvSpPr>
          <p:cNvPr id="31" name="Rectangle 30"/>
          <p:cNvSpPr/>
          <p:nvPr/>
        </p:nvSpPr>
        <p:spPr>
          <a:xfrm>
            <a:off x="4618013" y="3035808"/>
            <a:ext cx="147797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Duy trì</a:t>
            </a:r>
          </a:p>
        </p:txBody>
      </p:sp>
      <p:sp>
        <p:nvSpPr>
          <p:cNvPr id="32" name="Rectangle 31"/>
          <p:cNvSpPr/>
          <p:nvPr/>
        </p:nvSpPr>
        <p:spPr>
          <a:xfrm>
            <a:off x="6095984" y="3035808"/>
            <a:ext cx="147797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License AI</a:t>
            </a:r>
          </a:p>
        </p:txBody>
      </p:sp>
      <p:sp>
        <p:nvSpPr>
          <p:cNvPr id="33" name="Rectangle 32"/>
          <p:cNvSpPr/>
          <p:nvPr/>
        </p:nvSpPr>
        <p:spPr>
          <a:xfrm>
            <a:off x="7573955" y="3035808"/>
            <a:ext cx="147797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Hạ tầng</a:t>
            </a:r>
          </a:p>
        </p:txBody>
      </p:sp>
      <p:sp>
        <p:nvSpPr>
          <p:cNvPr id="34" name="Rectangle 33"/>
          <p:cNvSpPr/>
          <p:nvPr/>
        </p:nvSpPr>
        <p:spPr>
          <a:xfrm>
            <a:off x="9051927" y="3035808"/>
            <a:ext cx="272856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0000"/>
              </a:lnSpc>
              <a:spcAft>
                <a:spcPts val="400"/>
              </a:spcAft>
            </a:pPr>
            <a:r>
              <a:rPr sz="900" b="1">
                <a:solidFill>
                  <a:srgbClr val="FFFFFF"/>
                </a:solidFill>
                <a:latin typeface="Roboto"/>
              </a:rPr>
              <a:t>Cộng</a:t>
            </a:r>
          </a:p>
        </p:txBody>
      </p:sp>
      <p:sp>
        <p:nvSpPr>
          <p:cNvPr id="35" name="Rectangle 34"/>
          <p:cNvSpPr/>
          <p:nvPr/>
        </p:nvSpPr>
        <p:spPr>
          <a:xfrm>
            <a:off x="411480" y="3328415"/>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Năm thứ nhất</a:t>
            </a:r>
          </a:p>
        </p:txBody>
      </p:sp>
      <p:sp>
        <p:nvSpPr>
          <p:cNvPr id="36" name="Rectangle 35"/>
          <p:cNvSpPr/>
          <p:nvPr/>
        </p:nvSpPr>
        <p:spPr>
          <a:xfrm>
            <a:off x="3140042" y="3328415"/>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160</a:t>
            </a:r>
          </a:p>
        </p:txBody>
      </p:sp>
      <p:sp>
        <p:nvSpPr>
          <p:cNvPr id="37" name="Rectangle 36"/>
          <p:cNvSpPr/>
          <p:nvPr/>
        </p:nvSpPr>
        <p:spPr>
          <a:xfrm>
            <a:off x="4618013" y="3328415"/>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0</a:t>
            </a:r>
          </a:p>
        </p:txBody>
      </p:sp>
      <p:sp>
        <p:nvSpPr>
          <p:cNvPr id="38" name="Rectangle 37"/>
          <p:cNvSpPr/>
          <p:nvPr/>
        </p:nvSpPr>
        <p:spPr>
          <a:xfrm>
            <a:off x="6095984" y="3328415"/>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24</a:t>
            </a:r>
          </a:p>
        </p:txBody>
      </p:sp>
      <p:sp>
        <p:nvSpPr>
          <p:cNvPr id="39" name="Rectangle 38"/>
          <p:cNvSpPr/>
          <p:nvPr/>
        </p:nvSpPr>
        <p:spPr>
          <a:xfrm>
            <a:off x="7573955" y="3328415"/>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24</a:t>
            </a:r>
          </a:p>
        </p:txBody>
      </p:sp>
      <p:sp>
        <p:nvSpPr>
          <p:cNvPr id="40" name="Rectangle 39"/>
          <p:cNvSpPr/>
          <p:nvPr/>
        </p:nvSpPr>
        <p:spPr>
          <a:xfrm>
            <a:off x="9051927" y="3328415"/>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208 triệu đồng</a:t>
            </a:r>
          </a:p>
        </p:txBody>
      </p:sp>
      <p:sp>
        <p:nvSpPr>
          <p:cNvPr id="41" name="Rectangle 40"/>
          <p:cNvSpPr/>
          <p:nvPr/>
        </p:nvSpPr>
        <p:spPr>
          <a:xfrm>
            <a:off x="411480" y="3639311"/>
            <a:ext cx="2728562"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Năm thứ hai trở đi</a:t>
            </a:r>
          </a:p>
        </p:txBody>
      </p:sp>
      <p:sp>
        <p:nvSpPr>
          <p:cNvPr id="42" name="Rectangle 41"/>
          <p:cNvSpPr/>
          <p:nvPr/>
        </p:nvSpPr>
        <p:spPr>
          <a:xfrm>
            <a:off x="3140042" y="3639311"/>
            <a:ext cx="1477971"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0</a:t>
            </a:r>
          </a:p>
        </p:txBody>
      </p:sp>
      <p:sp>
        <p:nvSpPr>
          <p:cNvPr id="43" name="Rectangle 42"/>
          <p:cNvSpPr/>
          <p:nvPr/>
        </p:nvSpPr>
        <p:spPr>
          <a:xfrm>
            <a:off x="4618013" y="3639311"/>
            <a:ext cx="1477971"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36</a:t>
            </a:r>
          </a:p>
        </p:txBody>
      </p:sp>
      <p:sp>
        <p:nvSpPr>
          <p:cNvPr id="44" name="Rectangle 43"/>
          <p:cNvSpPr/>
          <p:nvPr/>
        </p:nvSpPr>
        <p:spPr>
          <a:xfrm>
            <a:off x="6095984" y="3639311"/>
            <a:ext cx="1477971"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24</a:t>
            </a:r>
          </a:p>
        </p:txBody>
      </p:sp>
      <p:sp>
        <p:nvSpPr>
          <p:cNvPr id="45" name="Rectangle 44"/>
          <p:cNvSpPr/>
          <p:nvPr/>
        </p:nvSpPr>
        <p:spPr>
          <a:xfrm>
            <a:off x="7573955" y="3639311"/>
            <a:ext cx="1477971"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24</a:t>
            </a:r>
          </a:p>
        </p:txBody>
      </p:sp>
      <p:sp>
        <p:nvSpPr>
          <p:cNvPr id="46" name="Rectangle 45"/>
          <p:cNvSpPr/>
          <p:nvPr/>
        </p:nvSpPr>
        <p:spPr>
          <a:xfrm>
            <a:off x="9051927" y="3639311"/>
            <a:ext cx="2728562"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84 triệu đồng mỗi năm</a:t>
            </a:r>
          </a:p>
        </p:txBody>
      </p:sp>
      <p:sp>
        <p:nvSpPr>
          <p:cNvPr id="47" name="Rectangle 46"/>
          <p:cNvSpPr/>
          <p:nvPr/>
        </p:nvSpPr>
        <p:spPr>
          <a:xfrm>
            <a:off x="411480" y="3950207"/>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Quy ra mỗi tháng từ năm 2</a:t>
            </a:r>
          </a:p>
        </p:txBody>
      </p:sp>
      <p:sp>
        <p:nvSpPr>
          <p:cNvPr id="48" name="Rectangle 47"/>
          <p:cNvSpPr/>
          <p:nvPr/>
        </p:nvSpPr>
        <p:spPr>
          <a:xfrm>
            <a:off x="3140042" y="3950207"/>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
            </a:r>
          </a:p>
        </p:txBody>
      </p:sp>
      <p:sp>
        <p:nvSpPr>
          <p:cNvPr id="49" name="Rectangle 48"/>
          <p:cNvSpPr/>
          <p:nvPr/>
        </p:nvSpPr>
        <p:spPr>
          <a:xfrm>
            <a:off x="4618013" y="3950207"/>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3</a:t>
            </a:r>
          </a:p>
        </p:txBody>
      </p:sp>
      <p:sp>
        <p:nvSpPr>
          <p:cNvPr id="50" name="Rectangle 49"/>
          <p:cNvSpPr/>
          <p:nvPr/>
        </p:nvSpPr>
        <p:spPr>
          <a:xfrm>
            <a:off x="6095984" y="3950207"/>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51" name="Rectangle 50"/>
          <p:cNvSpPr/>
          <p:nvPr/>
        </p:nvSpPr>
        <p:spPr>
          <a:xfrm>
            <a:off x="7573955" y="3950207"/>
            <a:ext cx="147797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52" name="Rectangle 51"/>
          <p:cNvSpPr/>
          <p:nvPr/>
        </p:nvSpPr>
        <p:spPr>
          <a:xfrm>
            <a:off x="9051927" y="3950207"/>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7 triệu đồng mỗi tháng</a:t>
            </a:r>
          </a:p>
        </p:txBody>
      </p:sp>
      <p:sp>
        <p:nvSpPr>
          <p:cNvPr id="53" name="Rectangle 52"/>
          <p:cNvSpPr/>
          <p:nvPr/>
        </p:nvSpPr>
        <p:spPr>
          <a:xfrm>
            <a:off x="411480" y="4443983"/>
            <a:ext cx="11369009" cy="512064"/>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0B3A8F"/>
                </a:solidFill>
                <a:latin typeface="Roboto"/>
              </a:rPr>
              <a:t>Đặt cạnh nhau: phần mềm kế toán đóng gói bán theo tài khoản khoảng 2 triệu đồng một tài khoản một năm, với 30 người là khoảng 60 triệu mỗi năm, năm nào cũng trả, và chỉ bao phủ phần ghi sổ. Ở đây là toàn bộ website, cổng khách hàng, hệ thống vận hành nội bộ và lớp AI.</a:t>
            </a:r>
          </a:p>
        </p:txBody>
      </p:sp>
      <p:sp>
        <p:nvSpPr>
          <p:cNvPr id="54" name="Rectangle 53"/>
          <p:cNvSpPr/>
          <p:nvPr/>
        </p:nvSpPr>
        <p:spPr>
          <a:xfrm>
            <a:off x="411480" y="5084064"/>
            <a:ext cx="5570204" cy="1335024"/>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576072" y="5193792"/>
            <a:ext cx="5241020" cy="201168"/>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LỊCH THANH TOÁN KHOẢN 160 TRIỆU</a:t>
            </a:r>
          </a:p>
        </p:txBody>
      </p:sp>
      <p:sp>
        <p:nvSpPr>
          <p:cNvPr id="56" name="TextBox 55"/>
          <p:cNvSpPr txBox="1"/>
          <p:nvPr/>
        </p:nvSpPr>
        <p:spPr>
          <a:xfrm>
            <a:off x="576072" y="5431536"/>
            <a:ext cx="5241020" cy="914400"/>
          </a:xfrm>
          <a:prstGeom prst="rect">
            <a:avLst/>
          </a:prstGeom>
          <a:noFill/>
        </p:spPr>
        <p:txBody>
          <a:bodyPr wrap="square" lIns="0" rIns="0" tIns="0" bIns="0" anchor="t">
            <a:spAutoFit/>
          </a:bodyPr>
          <a:lstStyle/>
          <a:p>
            <a:pPr algn="l">
              <a:lnSpc>
                <a:spcPct val="110000"/>
              </a:lnSpc>
              <a:spcAft>
                <a:spcPts val="300"/>
              </a:spcAft>
            </a:pPr>
            <a:r>
              <a:rPr sz="980" b="0">
                <a:solidFill>
                  <a:srgbClr val="111827"/>
                </a:solidFill>
                <a:latin typeface="Roboto"/>
              </a:rPr>
              <a:t>30% khi ký hợp đồng, tức 48 triệu</a:t>
            </a:r>
          </a:p>
          <a:p>
            <a:pPr algn="l">
              <a:lnSpc>
                <a:spcPct val="110000"/>
              </a:lnSpc>
              <a:spcAft>
                <a:spcPts val="300"/>
              </a:spcAft>
            </a:pPr>
            <a:r>
              <a:rPr sz="980" b="0">
                <a:solidFill>
                  <a:srgbClr val="111827"/>
                </a:solidFill>
                <a:latin typeface="Roboto"/>
              </a:rPr>
              <a:t>30% khi nghiệm thu giai đoạn 1 và chạy thật, tức 48 triệu</a:t>
            </a:r>
          </a:p>
          <a:p>
            <a:pPr algn="l">
              <a:lnSpc>
                <a:spcPct val="110000"/>
              </a:lnSpc>
              <a:spcAft>
                <a:spcPts val="300"/>
              </a:spcAft>
            </a:pPr>
            <a:r>
              <a:rPr sz="980" b="0">
                <a:solidFill>
                  <a:srgbClr val="111827"/>
                </a:solidFill>
                <a:latin typeface="Roboto"/>
              </a:rPr>
              <a:t>25% khi nghiệm thu giai đoạn 2, tức 40 triệu</a:t>
            </a:r>
          </a:p>
          <a:p>
            <a:pPr algn="l">
              <a:lnSpc>
                <a:spcPct val="110000"/>
              </a:lnSpc>
              <a:spcAft>
                <a:spcPts val="300"/>
              </a:spcAft>
            </a:pPr>
            <a:r>
              <a:rPr sz="980" b="0">
                <a:solidFill>
                  <a:srgbClr val="111827"/>
                </a:solidFill>
                <a:latin typeface="Roboto"/>
              </a:rPr>
              <a:t>15% khi nghiệm thu giai đoạn 3, tức 24 triệu</a:t>
            </a:r>
          </a:p>
        </p:txBody>
      </p:sp>
      <p:sp>
        <p:nvSpPr>
          <p:cNvPr id="57" name="Rectangle 56"/>
          <p:cNvSpPr/>
          <p:nvPr/>
        </p:nvSpPr>
        <p:spPr>
          <a:xfrm>
            <a:off x="6210284" y="5084064"/>
            <a:ext cx="5570204" cy="1335024"/>
          </a:xfrm>
          <a:prstGeom prst="rect">
            <a:avLst/>
          </a:prstGeom>
          <a:solidFill>
            <a:srgbClr val="E8F5EE"/>
          </a:solidFill>
          <a:ln w="9525">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374876" y="5193792"/>
            <a:ext cx="5241020" cy="201168"/>
          </a:xfrm>
          <a:prstGeom prst="rect">
            <a:avLst/>
          </a:prstGeom>
          <a:noFill/>
        </p:spPr>
        <p:txBody>
          <a:bodyPr wrap="square" lIns="0" rIns="0" tIns="0" bIns="0" anchor="t">
            <a:spAutoFit/>
          </a:bodyPr>
          <a:lstStyle/>
          <a:p>
            <a:pPr algn="l">
              <a:lnSpc>
                <a:spcPct val="100000"/>
              </a:lnSpc>
              <a:spcAft>
                <a:spcPts val="400"/>
              </a:spcAft>
            </a:pPr>
            <a:r>
              <a:rPr sz="850" b="1">
                <a:solidFill>
                  <a:srgbClr val="1E7F4F"/>
                </a:solidFill>
                <a:latin typeface="Roboto"/>
              </a:rPr>
              <a:t>THỜI ĐIỂM HOÀN VỐN</a:t>
            </a:r>
          </a:p>
        </p:txBody>
      </p:sp>
      <p:sp>
        <p:nvSpPr>
          <p:cNvPr id="59" name="TextBox 58"/>
          <p:cNvSpPr txBox="1"/>
          <p:nvPr/>
        </p:nvSpPr>
        <p:spPr>
          <a:xfrm>
            <a:off x="6374876" y="5431536"/>
            <a:ext cx="5241020" cy="914400"/>
          </a:xfrm>
          <a:prstGeom prst="rect">
            <a:avLst/>
          </a:prstGeom>
          <a:noFill/>
        </p:spPr>
        <p:txBody>
          <a:bodyPr wrap="square" lIns="0" rIns="0" tIns="0" bIns="0" anchor="t">
            <a:spAutoFit/>
          </a:bodyPr>
          <a:lstStyle/>
          <a:p>
            <a:pPr algn="l">
              <a:lnSpc>
                <a:spcPct val="114000"/>
              </a:lnSpc>
              <a:spcAft>
                <a:spcPts val="400"/>
              </a:spcAft>
            </a:pPr>
            <a:r>
              <a:rPr sz="980" b="0">
                <a:solidFill>
                  <a:srgbClr val="111827"/>
                </a:solidFill>
                <a:latin typeface="Roboto"/>
              </a:rPr>
              <a:t>Theo kịch bản trung bình, tiết kiệm lũy kế vượt chi phí lũy kế vào khoảng tháng thứ 7 kể từ ngày ký.</a:t>
            </a:r>
          </a:p>
          <a:p>
            <a:pPr algn="l">
              <a:lnSpc>
                <a:spcPct val="114000"/>
              </a:lnSpc>
              <a:spcAft>
                <a:spcPts val="400"/>
              </a:spcAft>
            </a:pPr>
            <a:r>
              <a:rPr sz="980" b="0">
                <a:solidFill>
                  <a:srgbClr val="475569"/>
                </a:solidFill>
                <a:latin typeface="Roboto"/>
              </a:rPr>
              <a:t>Tức khoảng 3 tới 4 tháng kể từ khi giai đoạn 1 chạy thật. Bảng chi tiết ở sheet LAZINET-Collaboration.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Mô hình 2: Đồng hành theo hiệu suất</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ATL trả 40 triệu khởi tạo. Ba tháng đầu sau bàn giao không thu phí để đo hiệu quả. Từ tháng thứ tư trả 15% giá trị hiệu quả đo được. License AI, hạ tầng và bảo trì đã bao gồm.</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16</a:t>
            </a:r>
          </a:p>
        </p:txBody>
      </p:sp>
      <p:sp>
        <p:nvSpPr>
          <p:cNvPr id="13" name="Rectangle 12"/>
          <p:cNvSpPr/>
          <p:nvPr/>
        </p:nvSpPr>
        <p:spPr>
          <a:xfrm>
            <a:off x="411480" y="1591056"/>
            <a:ext cx="3637269" cy="1097280"/>
          </a:xfrm>
          <a:prstGeom prst="rect">
            <a:avLst/>
          </a:prstGeom>
          <a:solidFill>
            <a:srgbClr val="EAF2FC"/>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4360" y="1700784"/>
            <a:ext cx="3271509" cy="201168"/>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PHÍ KHỞI TẠO</a:t>
            </a:r>
          </a:p>
        </p:txBody>
      </p:sp>
      <p:sp>
        <p:nvSpPr>
          <p:cNvPr id="15" name="TextBox 14"/>
          <p:cNvSpPr txBox="1"/>
          <p:nvPr/>
        </p:nvSpPr>
        <p:spPr>
          <a:xfrm>
            <a:off x="594360" y="1901952"/>
            <a:ext cx="3271509" cy="347472"/>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40 triệu</a:t>
            </a:r>
          </a:p>
        </p:txBody>
      </p:sp>
      <p:sp>
        <p:nvSpPr>
          <p:cNvPr id="16" name="TextBox 15"/>
          <p:cNvSpPr txBox="1"/>
          <p:nvPr/>
        </p:nvSpPr>
        <p:spPr>
          <a:xfrm>
            <a:off x="594360" y="2267712"/>
            <a:ext cx="3271509" cy="384048"/>
          </a:xfrm>
          <a:prstGeom prst="rect">
            <a:avLst/>
          </a:prstGeom>
          <a:noFill/>
        </p:spPr>
        <p:txBody>
          <a:bodyPr wrap="square" lIns="0" rIns="0" tIns="0" bIns="0" anchor="t">
            <a:spAutoFit/>
          </a:bodyPr>
          <a:lstStyle/>
          <a:p>
            <a:pPr algn="l">
              <a:lnSpc>
                <a:spcPct val="110000"/>
              </a:lnSpc>
              <a:spcAft>
                <a:spcPts val="400"/>
              </a:spcAft>
            </a:pPr>
            <a:r>
              <a:rPr sz="880" b="0">
                <a:solidFill>
                  <a:srgbClr val="475569"/>
                </a:solidFill>
                <a:latin typeface="Roboto"/>
              </a:rPr>
              <a:t>Một lần khi ký. Không giới hạn số tài khoản. Trả hai đợt: 25 khi ký, 15 khi nghiệm thu giai đoạn 1.</a:t>
            </a:r>
          </a:p>
        </p:txBody>
      </p:sp>
      <p:sp>
        <p:nvSpPr>
          <p:cNvPr id="17" name="Rectangle 16"/>
          <p:cNvSpPr/>
          <p:nvPr/>
        </p:nvSpPr>
        <p:spPr>
          <a:xfrm>
            <a:off x="4277349" y="1591056"/>
            <a:ext cx="3637269" cy="1097280"/>
          </a:xfrm>
          <a:prstGeom prst="rect">
            <a:avLst/>
          </a:prstGeom>
          <a:solidFill>
            <a:srgbClr val="F4F6F9"/>
          </a:solidFill>
          <a:ln w="9525">
            <a:solidFill>
              <a:srgbClr val="47556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0229" y="1700784"/>
            <a:ext cx="3271509" cy="201168"/>
          </a:xfrm>
          <a:prstGeom prst="rect">
            <a:avLst/>
          </a:prstGeom>
          <a:noFill/>
        </p:spPr>
        <p:txBody>
          <a:bodyPr wrap="square" lIns="0" rIns="0" tIns="0" bIns="0" anchor="t">
            <a:spAutoFit/>
          </a:bodyPr>
          <a:lstStyle/>
          <a:p>
            <a:pPr algn="l">
              <a:lnSpc>
                <a:spcPct val="100000"/>
              </a:lnSpc>
              <a:spcAft>
                <a:spcPts val="400"/>
              </a:spcAft>
            </a:pPr>
            <a:r>
              <a:rPr sz="850" b="1">
                <a:solidFill>
                  <a:srgbClr val="475569"/>
                </a:solidFill>
                <a:latin typeface="Roboto"/>
              </a:rPr>
              <a:t>BA THÁNG ĐẦU</a:t>
            </a:r>
          </a:p>
        </p:txBody>
      </p:sp>
      <p:sp>
        <p:nvSpPr>
          <p:cNvPr id="19" name="TextBox 18"/>
          <p:cNvSpPr txBox="1"/>
          <p:nvPr/>
        </p:nvSpPr>
        <p:spPr>
          <a:xfrm>
            <a:off x="4460229" y="1901952"/>
            <a:ext cx="3271509" cy="347472"/>
          </a:xfrm>
          <a:prstGeom prst="rect">
            <a:avLst/>
          </a:prstGeom>
          <a:noFill/>
        </p:spPr>
        <p:txBody>
          <a:bodyPr wrap="square" lIns="0" rIns="0" tIns="0" bIns="0" anchor="t">
            <a:spAutoFit/>
          </a:bodyPr>
          <a:lstStyle/>
          <a:p>
            <a:pPr algn="l">
              <a:lnSpc>
                <a:spcPct val="100000"/>
              </a:lnSpc>
              <a:spcAft>
                <a:spcPts val="400"/>
              </a:spcAft>
            </a:pPr>
            <a:r>
              <a:rPr sz="2400" b="1">
                <a:solidFill>
                  <a:srgbClr val="475569"/>
                </a:solidFill>
                <a:latin typeface="Roboto"/>
              </a:rPr>
              <a:t>0 đồng</a:t>
            </a:r>
          </a:p>
        </p:txBody>
      </p:sp>
      <p:sp>
        <p:nvSpPr>
          <p:cNvPr id="20" name="TextBox 19"/>
          <p:cNvSpPr txBox="1"/>
          <p:nvPr/>
        </p:nvSpPr>
        <p:spPr>
          <a:xfrm>
            <a:off x="4460229" y="2267712"/>
            <a:ext cx="3271509" cy="384048"/>
          </a:xfrm>
          <a:prstGeom prst="rect">
            <a:avLst/>
          </a:prstGeom>
          <a:noFill/>
        </p:spPr>
        <p:txBody>
          <a:bodyPr wrap="square" lIns="0" rIns="0" tIns="0" bIns="0" anchor="t">
            <a:spAutoFit/>
          </a:bodyPr>
          <a:lstStyle/>
          <a:p>
            <a:pPr algn="l">
              <a:lnSpc>
                <a:spcPct val="110000"/>
              </a:lnSpc>
              <a:spcAft>
                <a:spcPts val="400"/>
              </a:spcAft>
            </a:pPr>
            <a:r>
              <a:rPr sz="880" b="0">
                <a:solidFill>
                  <a:srgbClr val="475569"/>
                </a:solidFill>
                <a:latin typeface="Roboto"/>
              </a:rPr>
              <a:t>Giai đoạn đo hiệu quả. Hệ thống chạy thật, hai bên cùng chốt cách tính trước khi phát sinh phí.</a:t>
            </a:r>
          </a:p>
        </p:txBody>
      </p:sp>
      <p:sp>
        <p:nvSpPr>
          <p:cNvPr id="21" name="Rectangle 20"/>
          <p:cNvSpPr/>
          <p:nvPr/>
        </p:nvSpPr>
        <p:spPr>
          <a:xfrm>
            <a:off x="8143219" y="1591056"/>
            <a:ext cx="3637269" cy="1097280"/>
          </a:xfrm>
          <a:prstGeom prst="rect">
            <a:avLst/>
          </a:prstGeom>
          <a:solidFill>
            <a:srgbClr val="E8F5EE"/>
          </a:solidFill>
          <a:ln w="9525">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26099" y="1700784"/>
            <a:ext cx="3271509" cy="201168"/>
          </a:xfrm>
          <a:prstGeom prst="rect">
            <a:avLst/>
          </a:prstGeom>
          <a:noFill/>
        </p:spPr>
        <p:txBody>
          <a:bodyPr wrap="square" lIns="0" rIns="0" tIns="0" bIns="0" anchor="t">
            <a:spAutoFit/>
          </a:bodyPr>
          <a:lstStyle/>
          <a:p>
            <a:pPr algn="l">
              <a:lnSpc>
                <a:spcPct val="100000"/>
              </a:lnSpc>
              <a:spcAft>
                <a:spcPts val="400"/>
              </a:spcAft>
            </a:pPr>
            <a:r>
              <a:rPr sz="850" b="1">
                <a:solidFill>
                  <a:srgbClr val="1E7F4F"/>
                </a:solidFill>
                <a:latin typeface="Roboto"/>
              </a:rPr>
              <a:t>TỪ THÁNG THỨ TƯ</a:t>
            </a:r>
          </a:p>
        </p:txBody>
      </p:sp>
      <p:sp>
        <p:nvSpPr>
          <p:cNvPr id="23" name="TextBox 22"/>
          <p:cNvSpPr txBox="1"/>
          <p:nvPr/>
        </p:nvSpPr>
        <p:spPr>
          <a:xfrm>
            <a:off x="8326099" y="1901952"/>
            <a:ext cx="3271509" cy="347472"/>
          </a:xfrm>
          <a:prstGeom prst="rect">
            <a:avLst/>
          </a:prstGeom>
          <a:noFill/>
        </p:spPr>
        <p:txBody>
          <a:bodyPr wrap="square" lIns="0" rIns="0" tIns="0" bIns="0" anchor="t">
            <a:spAutoFit/>
          </a:bodyPr>
          <a:lstStyle/>
          <a:p>
            <a:pPr algn="l">
              <a:lnSpc>
                <a:spcPct val="100000"/>
              </a:lnSpc>
              <a:spcAft>
                <a:spcPts val="400"/>
              </a:spcAft>
            </a:pPr>
            <a:r>
              <a:rPr sz="2400" b="1">
                <a:solidFill>
                  <a:srgbClr val="1E7F4F"/>
                </a:solidFill>
                <a:latin typeface="Roboto"/>
              </a:rPr>
              <a:t>15% hiệu quả</a:t>
            </a:r>
          </a:p>
        </p:txBody>
      </p:sp>
      <p:sp>
        <p:nvSpPr>
          <p:cNvPr id="24" name="TextBox 23"/>
          <p:cNvSpPr txBox="1"/>
          <p:nvPr/>
        </p:nvSpPr>
        <p:spPr>
          <a:xfrm>
            <a:off x="8326099" y="2267712"/>
            <a:ext cx="3271509" cy="384048"/>
          </a:xfrm>
          <a:prstGeom prst="rect">
            <a:avLst/>
          </a:prstGeom>
          <a:noFill/>
        </p:spPr>
        <p:txBody>
          <a:bodyPr wrap="square" lIns="0" rIns="0" tIns="0" bIns="0" anchor="t">
            <a:spAutoFit/>
          </a:bodyPr>
          <a:lstStyle/>
          <a:p>
            <a:pPr algn="l">
              <a:lnSpc>
                <a:spcPct val="110000"/>
              </a:lnSpc>
              <a:spcAft>
                <a:spcPts val="400"/>
              </a:spcAft>
            </a:pPr>
            <a:r>
              <a:rPr sz="880" b="0">
                <a:solidFill>
                  <a:srgbClr val="475569"/>
                </a:solidFill>
                <a:latin typeface="Roboto"/>
              </a:rPr>
              <a:t>Bằng 0 nếu không đo được hiệu quả. Trần 30 triệu đồng mỗi tháng, rà lại mỗi năm.</a:t>
            </a:r>
          </a:p>
        </p:txBody>
      </p:sp>
      <p:sp>
        <p:nvSpPr>
          <p:cNvPr id="25" name="TextBox 24"/>
          <p:cNvSpPr txBox="1"/>
          <p:nvPr/>
        </p:nvSpPr>
        <p:spPr>
          <a:xfrm>
            <a:off x="411480" y="2834640"/>
            <a:ext cx="11369009" cy="219456"/>
          </a:xfrm>
          <a:prstGeom prst="rect">
            <a:avLst/>
          </a:prstGeom>
          <a:noFill/>
        </p:spPr>
        <p:txBody>
          <a:bodyPr wrap="square" lIns="0" rIns="0" tIns="0" bIns="0" anchor="t">
            <a:spAutoFit/>
          </a:bodyPr>
          <a:lstStyle/>
          <a:p>
            <a:pPr algn="l">
              <a:lnSpc>
                <a:spcPct val="100000"/>
              </a:lnSpc>
              <a:spcAft>
                <a:spcPts val="400"/>
              </a:spcAft>
            </a:pPr>
            <a:r>
              <a:rPr sz="1100" b="1">
                <a:solidFill>
                  <a:srgbClr val="0B3A8F"/>
                </a:solidFill>
                <a:latin typeface="Roboto"/>
              </a:rPr>
              <a:t>Các kịch bản kết quả, tính theo chi phí sử dụng lao động 14 triệu đồng một người một tháng</a:t>
            </a:r>
          </a:p>
        </p:txBody>
      </p:sp>
      <p:sp>
        <p:nvSpPr>
          <p:cNvPr id="26" name="Rectangle 25"/>
          <p:cNvSpPr/>
          <p:nvPr/>
        </p:nvSpPr>
        <p:spPr>
          <a:xfrm>
            <a:off x="411480" y="3090672"/>
            <a:ext cx="250118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Kịch bản</a:t>
            </a:r>
          </a:p>
        </p:txBody>
      </p:sp>
      <p:sp>
        <p:nvSpPr>
          <p:cNvPr id="27" name="Rectangle 26"/>
          <p:cNvSpPr/>
          <p:nvPr/>
        </p:nvSpPr>
        <p:spPr>
          <a:xfrm>
            <a:off x="2912662" y="3090672"/>
            <a:ext cx="250118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Nhân sự quy đổi được giải phóng</a:t>
            </a:r>
          </a:p>
        </p:txBody>
      </p:sp>
      <p:sp>
        <p:nvSpPr>
          <p:cNvPr id="28" name="Rectangle 27"/>
          <p:cNvSpPr/>
          <p:nvPr/>
        </p:nvSpPr>
        <p:spPr>
          <a:xfrm>
            <a:off x="5413844" y="3090672"/>
            <a:ext cx="216011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Giá trị hiệu quả mỗi tháng</a:t>
            </a:r>
          </a:p>
        </p:txBody>
      </p:sp>
      <p:sp>
        <p:nvSpPr>
          <p:cNvPr id="29" name="Rectangle 28"/>
          <p:cNvSpPr/>
          <p:nvPr/>
        </p:nvSpPr>
        <p:spPr>
          <a:xfrm>
            <a:off x="7573955" y="3090672"/>
            <a:ext cx="216011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Phí LAZINET mỗi tháng</a:t>
            </a:r>
          </a:p>
        </p:txBody>
      </p:sp>
      <p:sp>
        <p:nvSpPr>
          <p:cNvPr id="30" name="Rectangle 29"/>
          <p:cNvSpPr/>
          <p:nvPr/>
        </p:nvSpPr>
        <p:spPr>
          <a:xfrm>
            <a:off x="9734067" y="3090672"/>
            <a:ext cx="204642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ATL giữ lại mỗi tháng</a:t>
            </a:r>
          </a:p>
        </p:txBody>
      </p:sp>
      <p:sp>
        <p:nvSpPr>
          <p:cNvPr id="31" name="Rectangle 30"/>
          <p:cNvSpPr/>
          <p:nvPr/>
        </p:nvSpPr>
        <p:spPr>
          <a:xfrm>
            <a:off x="411480" y="3383279"/>
            <a:ext cx="2501182"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Không có kết quả</a:t>
            </a:r>
          </a:p>
        </p:txBody>
      </p:sp>
      <p:sp>
        <p:nvSpPr>
          <p:cNvPr id="32" name="Rectangle 31"/>
          <p:cNvSpPr/>
          <p:nvPr/>
        </p:nvSpPr>
        <p:spPr>
          <a:xfrm>
            <a:off x="2912662" y="3383279"/>
            <a:ext cx="2501182"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0</a:t>
            </a:r>
          </a:p>
        </p:txBody>
      </p:sp>
      <p:sp>
        <p:nvSpPr>
          <p:cNvPr id="33" name="Rectangle 32"/>
          <p:cNvSpPr/>
          <p:nvPr/>
        </p:nvSpPr>
        <p:spPr>
          <a:xfrm>
            <a:off x="5413844" y="3383279"/>
            <a:ext cx="216011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0</a:t>
            </a:r>
          </a:p>
        </p:txBody>
      </p:sp>
      <p:sp>
        <p:nvSpPr>
          <p:cNvPr id="34" name="Rectangle 33"/>
          <p:cNvSpPr/>
          <p:nvPr/>
        </p:nvSpPr>
        <p:spPr>
          <a:xfrm>
            <a:off x="7573955" y="3383279"/>
            <a:ext cx="216011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0</a:t>
            </a:r>
          </a:p>
        </p:txBody>
      </p:sp>
      <p:sp>
        <p:nvSpPr>
          <p:cNvPr id="35" name="Rectangle 34"/>
          <p:cNvSpPr/>
          <p:nvPr/>
        </p:nvSpPr>
        <p:spPr>
          <a:xfrm>
            <a:off x="9734067" y="3383279"/>
            <a:ext cx="204642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0</a:t>
            </a:r>
          </a:p>
        </p:txBody>
      </p:sp>
      <p:sp>
        <p:nvSpPr>
          <p:cNvPr id="36" name="Rectangle 35"/>
          <p:cNvSpPr/>
          <p:nvPr/>
        </p:nvSpPr>
        <p:spPr>
          <a:xfrm>
            <a:off x="411480" y="3657599"/>
            <a:ext cx="2501182"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Thấp</a:t>
            </a:r>
          </a:p>
        </p:txBody>
      </p:sp>
      <p:sp>
        <p:nvSpPr>
          <p:cNvPr id="37" name="Rectangle 36"/>
          <p:cNvSpPr/>
          <p:nvPr/>
        </p:nvSpPr>
        <p:spPr>
          <a:xfrm>
            <a:off x="2912662" y="3657599"/>
            <a:ext cx="2501182"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3 người</a:t>
            </a:r>
          </a:p>
        </p:txBody>
      </p:sp>
      <p:sp>
        <p:nvSpPr>
          <p:cNvPr id="38" name="Rectangle 37"/>
          <p:cNvSpPr/>
          <p:nvPr/>
        </p:nvSpPr>
        <p:spPr>
          <a:xfrm>
            <a:off x="5413844" y="3657599"/>
            <a:ext cx="216011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42,0 triệu</a:t>
            </a:r>
          </a:p>
        </p:txBody>
      </p:sp>
      <p:sp>
        <p:nvSpPr>
          <p:cNvPr id="39" name="Rectangle 38"/>
          <p:cNvSpPr/>
          <p:nvPr/>
        </p:nvSpPr>
        <p:spPr>
          <a:xfrm>
            <a:off x="7573955" y="3657599"/>
            <a:ext cx="216011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6,3 triệu</a:t>
            </a:r>
          </a:p>
        </p:txBody>
      </p:sp>
      <p:sp>
        <p:nvSpPr>
          <p:cNvPr id="40" name="Rectangle 39"/>
          <p:cNvSpPr/>
          <p:nvPr/>
        </p:nvSpPr>
        <p:spPr>
          <a:xfrm>
            <a:off x="9734067" y="3657599"/>
            <a:ext cx="204642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35,7 triệu</a:t>
            </a:r>
          </a:p>
        </p:txBody>
      </p:sp>
      <p:sp>
        <p:nvSpPr>
          <p:cNvPr id="41" name="Rectangle 40"/>
          <p:cNvSpPr/>
          <p:nvPr/>
        </p:nvSpPr>
        <p:spPr>
          <a:xfrm>
            <a:off x="411480" y="3931920"/>
            <a:ext cx="2501182"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Trung bình</a:t>
            </a:r>
          </a:p>
        </p:txBody>
      </p:sp>
      <p:sp>
        <p:nvSpPr>
          <p:cNvPr id="42" name="Rectangle 41"/>
          <p:cNvSpPr/>
          <p:nvPr/>
        </p:nvSpPr>
        <p:spPr>
          <a:xfrm>
            <a:off x="2912662" y="3931920"/>
            <a:ext cx="2501182"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8 người</a:t>
            </a:r>
          </a:p>
        </p:txBody>
      </p:sp>
      <p:sp>
        <p:nvSpPr>
          <p:cNvPr id="43" name="Rectangle 42"/>
          <p:cNvSpPr/>
          <p:nvPr/>
        </p:nvSpPr>
        <p:spPr>
          <a:xfrm>
            <a:off x="5413844" y="3931920"/>
            <a:ext cx="216011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112,0 triệu</a:t>
            </a:r>
          </a:p>
        </p:txBody>
      </p:sp>
      <p:sp>
        <p:nvSpPr>
          <p:cNvPr id="44" name="Rectangle 43"/>
          <p:cNvSpPr/>
          <p:nvPr/>
        </p:nvSpPr>
        <p:spPr>
          <a:xfrm>
            <a:off x="7573955" y="3931920"/>
            <a:ext cx="216011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16,8 triệu</a:t>
            </a:r>
          </a:p>
        </p:txBody>
      </p:sp>
      <p:sp>
        <p:nvSpPr>
          <p:cNvPr id="45" name="Rectangle 44"/>
          <p:cNvSpPr/>
          <p:nvPr/>
        </p:nvSpPr>
        <p:spPr>
          <a:xfrm>
            <a:off x="9734067" y="3931920"/>
            <a:ext cx="204642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95,2 triệu</a:t>
            </a:r>
          </a:p>
        </p:txBody>
      </p:sp>
      <p:sp>
        <p:nvSpPr>
          <p:cNvPr id="46" name="Rectangle 45"/>
          <p:cNvSpPr/>
          <p:nvPr/>
        </p:nvSpPr>
        <p:spPr>
          <a:xfrm>
            <a:off x="411480" y="4206240"/>
            <a:ext cx="2501182" cy="274320"/>
          </a:xfrm>
          <a:prstGeom prst="rect">
            <a:avLst/>
          </a:prstGeom>
          <a:solidFill>
            <a:srgbClr val="EAF2FC"/>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0B3A8F"/>
                </a:solidFill>
                <a:latin typeface="Roboto"/>
              </a:rPr>
              <a:t>Mục tiêu cam kết</a:t>
            </a:r>
          </a:p>
        </p:txBody>
      </p:sp>
      <p:sp>
        <p:nvSpPr>
          <p:cNvPr id="47" name="Rectangle 46"/>
          <p:cNvSpPr/>
          <p:nvPr/>
        </p:nvSpPr>
        <p:spPr>
          <a:xfrm>
            <a:off x="2912662" y="4206240"/>
            <a:ext cx="2501182"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10 người</a:t>
            </a:r>
          </a:p>
        </p:txBody>
      </p:sp>
      <p:sp>
        <p:nvSpPr>
          <p:cNvPr id="48" name="Rectangle 47"/>
          <p:cNvSpPr/>
          <p:nvPr/>
        </p:nvSpPr>
        <p:spPr>
          <a:xfrm>
            <a:off x="5413844" y="4206240"/>
            <a:ext cx="216011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140,0 triệu</a:t>
            </a:r>
          </a:p>
        </p:txBody>
      </p:sp>
      <p:sp>
        <p:nvSpPr>
          <p:cNvPr id="49" name="Rectangle 48"/>
          <p:cNvSpPr/>
          <p:nvPr/>
        </p:nvSpPr>
        <p:spPr>
          <a:xfrm>
            <a:off x="7573955" y="4206240"/>
            <a:ext cx="216011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21,0 triệu</a:t>
            </a:r>
          </a:p>
        </p:txBody>
      </p:sp>
      <p:sp>
        <p:nvSpPr>
          <p:cNvPr id="50" name="Rectangle 49"/>
          <p:cNvSpPr/>
          <p:nvPr/>
        </p:nvSpPr>
        <p:spPr>
          <a:xfrm>
            <a:off x="9734067" y="4206240"/>
            <a:ext cx="204642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119,0 triệu</a:t>
            </a:r>
          </a:p>
        </p:txBody>
      </p:sp>
      <p:sp>
        <p:nvSpPr>
          <p:cNvPr id="51" name="Rectangle 50"/>
          <p:cNvSpPr/>
          <p:nvPr/>
        </p:nvSpPr>
        <p:spPr>
          <a:xfrm>
            <a:off x="411480" y="4480559"/>
            <a:ext cx="2501182"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Tốt</a:t>
            </a:r>
          </a:p>
        </p:txBody>
      </p:sp>
      <p:sp>
        <p:nvSpPr>
          <p:cNvPr id="52" name="Rectangle 51"/>
          <p:cNvSpPr/>
          <p:nvPr/>
        </p:nvSpPr>
        <p:spPr>
          <a:xfrm>
            <a:off x="2912662" y="4480559"/>
            <a:ext cx="2501182"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12 người</a:t>
            </a:r>
          </a:p>
        </p:txBody>
      </p:sp>
      <p:sp>
        <p:nvSpPr>
          <p:cNvPr id="53" name="Rectangle 52"/>
          <p:cNvSpPr/>
          <p:nvPr/>
        </p:nvSpPr>
        <p:spPr>
          <a:xfrm>
            <a:off x="5413844" y="4480559"/>
            <a:ext cx="216011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168,0 triệu</a:t>
            </a:r>
          </a:p>
        </p:txBody>
      </p:sp>
      <p:sp>
        <p:nvSpPr>
          <p:cNvPr id="54" name="Rectangle 53"/>
          <p:cNvSpPr/>
          <p:nvPr/>
        </p:nvSpPr>
        <p:spPr>
          <a:xfrm>
            <a:off x="7573955" y="4480559"/>
            <a:ext cx="216011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25,2 triệu</a:t>
            </a:r>
          </a:p>
        </p:txBody>
      </p:sp>
      <p:sp>
        <p:nvSpPr>
          <p:cNvPr id="55" name="Rectangle 54"/>
          <p:cNvSpPr/>
          <p:nvPr/>
        </p:nvSpPr>
        <p:spPr>
          <a:xfrm>
            <a:off x="9734067" y="4480559"/>
            <a:ext cx="2046421" cy="27432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142,8 triệu</a:t>
            </a:r>
          </a:p>
        </p:txBody>
      </p:sp>
      <p:sp>
        <p:nvSpPr>
          <p:cNvPr id="56" name="Rectangle 55"/>
          <p:cNvSpPr/>
          <p:nvPr/>
        </p:nvSpPr>
        <p:spPr>
          <a:xfrm>
            <a:off x="411480" y="4754879"/>
            <a:ext cx="2501182"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Vượt trần</a:t>
            </a:r>
          </a:p>
        </p:txBody>
      </p:sp>
      <p:sp>
        <p:nvSpPr>
          <p:cNvPr id="57" name="Rectangle 56"/>
          <p:cNvSpPr/>
          <p:nvPr/>
        </p:nvSpPr>
        <p:spPr>
          <a:xfrm>
            <a:off x="2912662" y="4754879"/>
            <a:ext cx="2501182"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Từ 15 người</a:t>
            </a:r>
          </a:p>
        </p:txBody>
      </p:sp>
      <p:sp>
        <p:nvSpPr>
          <p:cNvPr id="58" name="Rectangle 57"/>
          <p:cNvSpPr/>
          <p:nvPr/>
        </p:nvSpPr>
        <p:spPr>
          <a:xfrm>
            <a:off x="5413844" y="4754879"/>
            <a:ext cx="216011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Từ 210,0 triệu</a:t>
            </a:r>
          </a:p>
        </p:txBody>
      </p:sp>
      <p:sp>
        <p:nvSpPr>
          <p:cNvPr id="59" name="Rectangle 58"/>
          <p:cNvSpPr/>
          <p:nvPr/>
        </p:nvSpPr>
        <p:spPr>
          <a:xfrm>
            <a:off x="7573955" y="4754879"/>
            <a:ext cx="216011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30,0 triệu</a:t>
            </a:r>
          </a:p>
        </p:txBody>
      </p:sp>
      <p:sp>
        <p:nvSpPr>
          <p:cNvPr id="60" name="Rectangle 59"/>
          <p:cNvSpPr/>
          <p:nvPr/>
        </p:nvSpPr>
        <p:spPr>
          <a:xfrm>
            <a:off x="9734067" y="4754879"/>
            <a:ext cx="2046421" cy="27432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Từ 180,0 triệu</a:t>
            </a:r>
          </a:p>
        </p:txBody>
      </p:sp>
      <p:sp>
        <p:nvSpPr>
          <p:cNvPr id="61" name="Rectangle 60"/>
          <p:cNvSpPr/>
          <p:nvPr/>
        </p:nvSpPr>
        <p:spPr>
          <a:xfrm>
            <a:off x="411480" y="5193791"/>
            <a:ext cx="11369009" cy="36576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00" b="1">
                <a:solidFill>
                  <a:srgbClr val="0B3A8F"/>
                </a:solidFill>
                <a:latin typeface="Roboto"/>
              </a:rPr>
              <a:t>Dòng Mục tiêu cam kết chính là cách diễn đạt đã trao đổi: tiết kiệm được khối lượng tương đương mười nhân sự thì phí LAZINET tương đương lương một phẩy năm nhân sự.</a:t>
            </a:r>
          </a:p>
        </p:txBody>
      </p:sp>
      <p:sp>
        <p:nvSpPr>
          <p:cNvPr id="62" name="TextBox 61"/>
          <p:cNvSpPr txBox="1"/>
          <p:nvPr/>
        </p:nvSpPr>
        <p:spPr>
          <a:xfrm>
            <a:off x="411480" y="5650991"/>
            <a:ext cx="11369009" cy="201168"/>
          </a:xfrm>
          <a:prstGeom prst="rect">
            <a:avLst/>
          </a:prstGeom>
          <a:noFill/>
        </p:spPr>
        <p:txBody>
          <a:bodyPr wrap="square" lIns="0" rIns="0" tIns="0" bIns="0" anchor="t">
            <a:spAutoFit/>
          </a:bodyPr>
          <a:lstStyle/>
          <a:p>
            <a:pPr algn="l">
              <a:lnSpc>
                <a:spcPct val="100000"/>
              </a:lnSpc>
              <a:spcAft>
                <a:spcPts val="400"/>
              </a:spcAft>
            </a:pPr>
            <a:r>
              <a:rPr sz="1050" b="1">
                <a:solidFill>
                  <a:srgbClr val="0B3A8F"/>
                </a:solidFill>
                <a:latin typeface="Roboto"/>
              </a:rPr>
              <a:t>Cách đo và chốt số, phần quan trọng nhất của mô hình này</a:t>
            </a:r>
          </a:p>
        </p:txBody>
      </p:sp>
      <p:sp>
        <p:nvSpPr>
          <p:cNvPr id="63" name="TextBox 62"/>
          <p:cNvSpPr txBox="1"/>
          <p:nvPr/>
        </p:nvSpPr>
        <p:spPr>
          <a:xfrm>
            <a:off x="411480" y="5870447"/>
            <a:ext cx="11369009" cy="566928"/>
          </a:xfrm>
          <a:prstGeom prst="rect">
            <a:avLst/>
          </a:prstGeom>
          <a:noFill/>
        </p:spPr>
        <p:txBody>
          <a:bodyPr wrap="square" lIns="0" rIns="0" tIns="0" bIns="0" anchor="t">
            <a:spAutoFit/>
          </a:bodyPr>
          <a:lstStyle/>
          <a:p>
            <a:pPr algn="l">
              <a:lnSpc>
                <a:spcPct val="115000"/>
              </a:lnSpc>
              <a:spcAft>
                <a:spcPts val="400"/>
              </a:spcAft>
            </a:pPr>
            <a:r>
              <a:rPr sz="950" b="0">
                <a:solidFill>
                  <a:srgbClr val="475569"/>
                </a:solidFill>
                <a:latin typeface="Roboto"/>
              </a:rPr>
              <a:t>Đo đường cơ sở 30 ngày trước khi triển khai, chốt định mức giờ công cho từng đầu việc thành phụ lục hợp đồng. Ba tháng đầu sau bàn giao chạy thật nhưng không thu phí, hai bên đối chiếu và thống nhất cách tính. Từ tháng thứ tư, hệ thống tự tính chênh lệch giờ công rồi nhân đơn giá đã chốt.</a:t>
            </a:r>
          </a:p>
          <a:p>
            <a:pPr algn="l">
              <a:lnSpc>
                <a:spcPct val="115000"/>
              </a:lnSpc>
              <a:spcAft>
                <a:spcPts val="400"/>
              </a:spcAft>
            </a:pPr>
            <a:r>
              <a:rPr sz="950" b="0">
                <a:solidFill>
                  <a:srgbClr val="475569"/>
                </a:solidFill>
                <a:latin typeface="Roboto"/>
              </a:rPr>
              <a:t>LAZINET gửi báo cáo trong 3 ngày làm việc đầu tháng, ATL xác nhận trong 5 ngày. Không thống nhất thì lấy số thấp hơn. ATL chuyển sang Mô hình 1 lúc nào cũng được, toàn bộ 40 triệu phí khởi tạo được khấu trừ vào phí trọn gói.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So sánh hai mô hình và khuyến nghị</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Lũy kế chi phí ATL phải trả, đơn vị triệu đồng, theo kịch bản hiệu suất tăng dần thực tế.</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17</a:t>
            </a:r>
          </a:p>
        </p:txBody>
      </p:sp>
      <p:sp>
        <p:nvSpPr>
          <p:cNvPr id="13" name="Rectangle 12"/>
          <p:cNvSpPr/>
          <p:nvPr/>
        </p:nvSpPr>
        <p:spPr>
          <a:xfrm>
            <a:off x="411480" y="1572768"/>
            <a:ext cx="170535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Mốc thời gian</a:t>
            </a:r>
          </a:p>
        </p:txBody>
      </p:sp>
      <p:sp>
        <p:nvSpPr>
          <p:cNvPr id="14" name="Rectangle 13"/>
          <p:cNvSpPr/>
          <p:nvPr/>
        </p:nvSpPr>
        <p:spPr>
          <a:xfrm>
            <a:off x="2116831" y="1572768"/>
            <a:ext cx="181904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0000"/>
              </a:lnSpc>
              <a:spcAft>
                <a:spcPts val="400"/>
              </a:spcAft>
            </a:pPr>
            <a:r>
              <a:rPr sz="900" b="1">
                <a:solidFill>
                  <a:srgbClr val="FFFFFF"/>
                </a:solidFill>
                <a:latin typeface="Roboto"/>
              </a:rPr>
              <a:t>Mô hình 1 trọn gói</a:t>
            </a:r>
          </a:p>
        </p:txBody>
      </p:sp>
      <p:sp>
        <p:nvSpPr>
          <p:cNvPr id="15" name="Rectangle 14"/>
          <p:cNvSpPr/>
          <p:nvPr/>
        </p:nvSpPr>
        <p:spPr>
          <a:xfrm>
            <a:off x="3935872" y="1572768"/>
            <a:ext cx="204642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0000"/>
              </a:lnSpc>
              <a:spcAft>
                <a:spcPts val="400"/>
              </a:spcAft>
            </a:pPr>
            <a:r>
              <a:rPr sz="900" b="1">
                <a:solidFill>
                  <a:srgbClr val="FFFFFF"/>
                </a:solidFill>
                <a:latin typeface="Roboto"/>
              </a:rPr>
              <a:t>Mô hình 2 theo hiệu suất</a:t>
            </a:r>
          </a:p>
        </p:txBody>
      </p:sp>
      <p:sp>
        <p:nvSpPr>
          <p:cNvPr id="16" name="Rectangle 15"/>
          <p:cNvSpPr/>
          <p:nvPr/>
        </p:nvSpPr>
        <p:spPr>
          <a:xfrm>
            <a:off x="5982294" y="1572768"/>
            <a:ext cx="238749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Chênh lệch</a:t>
            </a:r>
          </a:p>
        </p:txBody>
      </p:sp>
      <p:sp>
        <p:nvSpPr>
          <p:cNvPr id="17" name="Rectangle 16"/>
          <p:cNvSpPr/>
          <p:nvPr/>
        </p:nvSpPr>
        <p:spPr>
          <a:xfrm>
            <a:off x="8369786" y="1572768"/>
            <a:ext cx="341070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Nhận định</a:t>
            </a:r>
          </a:p>
        </p:txBody>
      </p:sp>
      <p:sp>
        <p:nvSpPr>
          <p:cNvPr id="18" name="Rectangle 17"/>
          <p:cNvSpPr/>
          <p:nvPr/>
        </p:nvSpPr>
        <p:spPr>
          <a:xfrm>
            <a:off x="411480" y="1865376"/>
            <a:ext cx="170535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Hết năm 1</a:t>
            </a:r>
          </a:p>
        </p:txBody>
      </p:sp>
      <p:sp>
        <p:nvSpPr>
          <p:cNvPr id="19" name="Rectangle 18"/>
          <p:cNvSpPr/>
          <p:nvPr/>
        </p:nvSpPr>
        <p:spPr>
          <a:xfrm>
            <a:off x="2116831" y="1865376"/>
            <a:ext cx="181904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208</a:t>
            </a:r>
          </a:p>
        </p:txBody>
      </p:sp>
      <p:sp>
        <p:nvSpPr>
          <p:cNvPr id="20" name="Rectangle 19"/>
          <p:cNvSpPr/>
          <p:nvPr/>
        </p:nvSpPr>
        <p:spPr>
          <a:xfrm>
            <a:off x="3935872" y="1865376"/>
            <a:ext cx="204642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103</a:t>
            </a:r>
          </a:p>
        </p:txBody>
      </p:sp>
      <p:sp>
        <p:nvSpPr>
          <p:cNvPr id="21" name="Rectangle 20"/>
          <p:cNvSpPr/>
          <p:nvPr/>
        </p:nvSpPr>
        <p:spPr>
          <a:xfrm>
            <a:off x="5982294" y="1865376"/>
            <a:ext cx="238749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2 thấp hơn 105</a:t>
            </a:r>
          </a:p>
        </p:txBody>
      </p:sp>
      <p:sp>
        <p:nvSpPr>
          <p:cNvPr id="22" name="Rectangle 21"/>
          <p:cNvSpPr/>
          <p:nvPr/>
        </p:nvSpPr>
        <p:spPr>
          <a:xfrm>
            <a:off x="8369786" y="1865376"/>
            <a:ext cx="3410702"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2 có ba tháng đầu miễn phí nên năm đầu nhẹ hơn</a:t>
            </a:r>
          </a:p>
        </p:txBody>
      </p:sp>
      <p:sp>
        <p:nvSpPr>
          <p:cNvPr id="23" name="Rectangle 22"/>
          <p:cNvSpPr/>
          <p:nvPr/>
        </p:nvSpPr>
        <p:spPr>
          <a:xfrm>
            <a:off x="411480" y="2194560"/>
            <a:ext cx="170535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Hết năm 2</a:t>
            </a:r>
          </a:p>
        </p:txBody>
      </p:sp>
      <p:sp>
        <p:nvSpPr>
          <p:cNvPr id="24" name="Rectangle 23"/>
          <p:cNvSpPr/>
          <p:nvPr/>
        </p:nvSpPr>
        <p:spPr>
          <a:xfrm>
            <a:off x="2116831" y="2194560"/>
            <a:ext cx="181904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292</a:t>
            </a:r>
          </a:p>
        </p:txBody>
      </p:sp>
      <p:sp>
        <p:nvSpPr>
          <p:cNvPr id="25" name="Rectangle 24"/>
          <p:cNvSpPr/>
          <p:nvPr/>
        </p:nvSpPr>
        <p:spPr>
          <a:xfrm>
            <a:off x="3935872" y="2194560"/>
            <a:ext cx="204642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355</a:t>
            </a:r>
          </a:p>
        </p:txBody>
      </p:sp>
      <p:sp>
        <p:nvSpPr>
          <p:cNvPr id="26" name="Rectangle 25"/>
          <p:cNvSpPr/>
          <p:nvPr/>
        </p:nvSpPr>
        <p:spPr>
          <a:xfrm>
            <a:off x="5982294" y="2194560"/>
            <a:ext cx="238749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1 thấp hơn 63</a:t>
            </a:r>
          </a:p>
        </p:txBody>
      </p:sp>
      <p:sp>
        <p:nvSpPr>
          <p:cNvPr id="27" name="Rectangle 26"/>
          <p:cNvSpPr/>
          <p:nvPr/>
        </p:nvSpPr>
        <p:spPr>
          <a:xfrm>
            <a:off x="8369786" y="2194560"/>
            <a:ext cx="3410702"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Điểm hòa rơi vào khoảng tháng thứ 20</a:t>
            </a:r>
          </a:p>
        </p:txBody>
      </p:sp>
      <p:sp>
        <p:nvSpPr>
          <p:cNvPr id="28" name="Rectangle 27"/>
          <p:cNvSpPr/>
          <p:nvPr/>
        </p:nvSpPr>
        <p:spPr>
          <a:xfrm>
            <a:off x="411480" y="2523744"/>
            <a:ext cx="170535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Hết năm 3</a:t>
            </a:r>
          </a:p>
        </p:txBody>
      </p:sp>
      <p:sp>
        <p:nvSpPr>
          <p:cNvPr id="29" name="Rectangle 28"/>
          <p:cNvSpPr/>
          <p:nvPr/>
        </p:nvSpPr>
        <p:spPr>
          <a:xfrm>
            <a:off x="2116831" y="2523744"/>
            <a:ext cx="181904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376</a:t>
            </a:r>
          </a:p>
        </p:txBody>
      </p:sp>
      <p:sp>
        <p:nvSpPr>
          <p:cNvPr id="30" name="Rectangle 29"/>
          <p:cNvSpPr/>
          <p:nvPr/>
        </p:nvSpPr>
        <p:spPr>
          <a:xfrm>
            <a:off x="3935872" y="2523744"/>
            <a:ext cx="204642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657</a:t>
            </a:r>
          </a:p>
        </p:txBody>
      </p:sp>
      <p:sp>
        <p:nvSpPr>
          <p:cNvPr id="31" name="Rectangle 30"/>
          <p:cNvSpPr/>
          <p:nvPr/>
        </p:nvSpPr>
        <p:spPr>
          <a:xfrm>
            <a:off x="5982294" y="2523744"/>
            <a:ext cx="238749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1 thấp hơn 281</a:t>
            </a:r>
          </a:p>
        </p:txBody>
      </p:sp>
      <p:sp>
        <p:nvSpPr>
          <p:cNvPr id="32" name="Rectangle 31"/>
          <p:cNvSpPr/>
          <p:nvPr/>
        </p:nvSpPr>
        <p:spPr>
          <a:xfrm>
            <a:off x="8369786" y="2523744"/>
            <a:ext cx="3410702"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Khoảng cách nới rộng nhanh khi hệ thống chạy tốt</a:t>
            </a:r>
          </a:p>
        </p:txBody>
      </p:sp>
      <p:sp>
        <p:nvSpPr>
          <p:cNvPr id="33" name="Rectangle 32"/>
          <p:cNvSpPr/>
          <p:nvPr/>
        </p:nvSpPr>
        <p:spPr>
          <a:xfrm>
            <a:off x="411480" y="2852927"/>
            <a:ext cx="170535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Hết năm 4</a:t>
            </a:r>
          </a:p>
        </p:txBody>
      </p:sp>
      <p:sp>
        <p:nvSpPr>
          <p:cNvPr id="34" name="Rectangle 33"/>
          <p:cNvSpPr/>
          <p:nvPr/>
        </p:nvSpPr>
        <p:spPr>
          <a:xfrm>
            <a:off x="2116831" y="2852927"/>
            <a:ext cx="181904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460</a:t>
            </a:r>
          </a:p>
        </p:txBody>
      </p:sp>
      <p:sp>
        <p:nvSpPr>
          <p:cNvPr id="35" name="Rectangle 34"/>
          <p:cNvSpPr/>
          <p:nvPr/>
        </p:nvSpPr>
        <p:spPr>
          <a:xfrm>
            <a:off x="3935872" y="2852927"/>
            <a:ext cx="204642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1.010</a:t>
            </a:r>
          </a:p>
        </p:txBody>
      </p:sp>
      <p:sp>
        <p:nvSpPr>
          <p:cNvPr id="36" name="Rectangle 35"/>
          <p:cNvSpPr/>
          <p:nvPr/>
        </p:nvSpPr>
        <p:spPr>
          <a:xfrm>
            <a:off x="5982294" y="2852927"/>
            <a:ext cx="2387491"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1 thấp hơn 550</a:t>
            </a:r>
          </a:p>
        </p:txBody>
      </p:sp>
      <p:sp>
        <p:nvSpPr>
          <p:cNvPr id="37" name="Rectangle 36"/>
          <p:cNvSpPr/>
          <p:nvPr/>
        </p:nvSpPr>
        <p:spPr>
          <a:xfrm>
            <a:off x="8369786" y="2852927"/>
            <a:ext cx="3410702" cy="329184"/>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Phí hiệu suất tăng theo chính phần ATL tiết kiệm được</a:t>
            </a:r>
          </a:p>
        </p:txBody>
      </p:sp>
      <p:sp>
        <p:nvSpPr>
          <p:cNvPr id="38" name="Rectangle 37"/>
          <p:cNvSpPr/>
          <p:nvPr/>
        </p:nvSpPr>
        <p:spPr>
          <a:xfrm>
            <a:off x="411480" y="3182111"/>
            <a:ext cx="170535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Hết năm 5</a:t>
            </a:r>
          </a:p>
        </p:txBody>
      </p:sp>
      <p:sp>
        <p:nvSpPr>
          <p:cNvPr id="39" name="Rectangle 38"/>
          <p:cNvSpPr/>
          <p:nvPr/>
        </p:nvSpPr>
        <p:spPr>
          <a:xfrm>
            <a:off x="2116831" y="3182111"/>
            <a:ext cx="181904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544</a:t>
            </a:r>
          </a:p>
        </p:txBody>
      </p:sp>
      <p:sp>
        <p:nvSpPr>
          <p:cNvPr id="40" name="Rectangle 39"/>
          <p:cNvSpPr/>
          <p:nvPr/>
        </p:nvSpPr>
        <p:spPr>
          <a:xfrm>
            <a:off x="3935872" y="3182111"/>
            <a:ext cx="204642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r">
              <a:lnSpc>
                <a:spcPct val="105000"/>
              </a:lnSpc>
              <a:spcAft>
                <a:spcPts val="400"/>
              </a:spcAft>
            </a:pPr>
            <a:r>
              <a:rPr sz="950" b="0">
                <a:solidFill>
                  <a:srgbClr val="111827"/>
                </a:solidFill>
                <a:latin typeface="Roboto"/>
              </a:rPr>
              <a:t>1.370</a:t>
            </a:r>
          </a:p>
        </p:txBody>
      </p:sp>
      <p:sp>
        <p:nvSpPr>
          <p:cNvPr id="41" name="Rectangle 40"/>
          <p:cNvSpPr/>
          <p:nvPr/>
        </p:nvSpPr>
        <p:spPr>
          <a:xfrm>
            <a:off x="5982294" y="3182111"/>
            <a:ext cx="2387491"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1 thấp hơn 826</a:t>
            </a:r>
          </a:p>
        </p:txBody>
      </p:sp>
      <p:sp>
        <p:nvSpPr>
          <p:cNvPr id="42" name="Rectangle 41"/>
          <p:cNvSpPr/>
          <p:nvPr/>
        </p:nvSpPr>
        <p:spPr>
          <a:xfrm>
            <a:off x="8369786" y="3182111"/>
            <a:ext cx="3410702" cy="329184"/>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Mô hình 1 rẻ hơn rõ rệt nếu hệ thống đạt kỳ vọng</a:t>
            </a:r>
          </a:p>
        </p:txBody>
      </p:sp>
      <p:sp>
        <p:nvSpPr>
          <p:cNvPr id="43" name="Rectangle 42"/>
          <p:cNvSpPr/>
          <p:nvPr/>
        </p:nvSpPr>
        <p:spPr>
          <a:xfrm>
            <a:off x="411480" y="3694175"/>
            <a:ext cx="5570204" cy="1371600"/>
          </a:xfrm>
          <a:prstGeom prst="rect">
            <a:avLst/>
          </a:prstGeom>
          <a:solidFill>
            <a:srgbClr val="FFFFF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94360" y="3822191"/>
            <a:ext cx="5204444" cy="219456"/>
          </a:xfrm>
          <a:prstGeom prst="rect">
            <a:avLst/>
          </a:prstGeom>
          <a:noFill/>
        </p:spPr>
        <p:txBody>
          <a:bodyPr wrap="square" lIns="0" rIns="0" tIns="0" bIns="0" anchor="t">
            <a:spAutoFit/>
          </a:bodyPr>
          <a:lstStyle/>
          <a:p>
            <a:pPr algn="l">
              <a:lnSpc>
                <a:spcPct val="100000"/>
              </a:lnSpc>
              <a:spcAft>
                <a:spcPts val="400"/>
              </a:spcAft>
            </a:pPr>
            <a:r>
              <a:rPr sz="900" b="1">
                <a:solidFill>
                  <a:srgbClr val="0B3A8F"/>
                </a:solidFill>
                <a:latin typeface="Roboto"/>
              </a:rPr>
              <a:t>CHỌN MÔ HÌNH 1 NẾU</a:t>
            </a:r>
          </a:p>
        </p:txBody>
      </p:sp>
      <p:sp>
        <p:nvSpPr>
          <p:cNvPr id="45" name="TextBox 44"/>
          <p:cNvSpPr txBox="1"/>
          <p:nvPr/>
        </p:nvSpPr>
        <p:spPr>
          <a:xfrm>
            <a:off x="594360" y="4096511"/>
            <a:ext cx="5204444" cy="868680"/>
          </a:xfrm>
          <a:prstGeom prst="rect">
            <a:avLst/>
          </a:prstGeom>
          <a:noFill/>
        </p:spPr>
        <p:txBody>
          <a:bodyPr wrap="square" lIns="0" rIns="0" tIns="0" bIns="0" anchor="t">
            <a:spAutoFit/>
          </a:bodyPr>
          <a:lstStyle/>
          <a:p>
            <a:pPr algn="l">
              <a:lnSpc>
                <a:spcPct val="110000"/>
              </a:lnSpc>
              <a:spcAft>
                <a:spcPts val="400"/>
              </a:spcAft>
            </a:pPr>
            <a:r>
              <a:rPr sz="950" b="0">
                <a:solidFill>
                  <a:srgbClr val="111827"/>
                </a:solidFill>
                <a:latin typeface="Roboto"/>
              </a:rPr>
              <a:t>-  Muốn tổng chi phí thấp nhất trong dài hạn</a:t>
            </a:r>
          </a:p>
          <a:p>
            <a:pPr algn="l">
              <a:lnSpc>
                <a:spcPct val="110000"/>
              </a:lnSpc>
              <a:spcAft>
                <a:spcPts val="400"/>
              </a:spcAft>
            </a:pPr>
            <a:r>
              <a:rPr sz="950" b="0">
                <a:solidFill>
                  <a:srgbClr val="111827"/>
                </a:solidFill>
                <a:latin typeface="Roboto"/>
              </a:rPr>
              <a:t>-  Bố trí được 48 triệu khi ký, phần còn lại trả theo mốc nghiệm thu</a:t>
            </a:r>
          </a:p>
          <a:p>
            <a:pPr algn="l">
              <a:lnSpc>
                <a:spcPct val="110000"/>
              </a:lnSpc>
              <a:spcAft>
                <a:spcPts val="400"/>
              </a:spcAft>
            </a:pPr>
            <a:r>
              <a:rPr sz="950" b="0">
                <a:solidFill>
                  <a:srgbClr val="111827"/>
                </a:solidFill>
                <a:latin typeface="Roboto"/>
              </a:rPr>
              <a:t>-  Muốn nhìn rõ tiền đi đâu: phần mềm, license AI và hạ tầng tách bạch</a:t>
            </a:r>
          </a:p>
          <a:p>
            <a:pPr algn="l">
              <a:lnSpc>
                <a:spcPct val="110000"/>
              </a:lnSpc>
              <a:spcAft>
                <a:spcPts val="400"/>
              </a:spcAft>
            </a:pPr>
            <a:r>
              <a:rPr sz="950" b="0">
                <a:solidFill>
                  <a:srgbClr val="111827"/>
                </a:solidFill>
                <a:latin typeface="Roboto"/>
              </a:rPr>
              <a:t>-  Tin rằng hệ thống chạy tốt và muốn giữ toàn bộ phần tiết kiệm được</a:t>
            </a:r>
          </a:p>
        </p:txBody>
      </p:sp>
      <p:sp>
        <p:nvSpPr>
          <p:cNvPr id="46" name="Rectangle 45"/>
          <p:cNvSpPr/>
          <p:nvPr/>
        </p:nvSpPr>
        <p:spPr>
          <a:xfrm>
            <a:off x="6210284" y="3694175"/>
            <a:ext cx="5570204" cy="1371600"/>
          </a:xfrm>
          <a:prstGeom prst="rect">
            <a:avLst/>
          </a:prstGeom>
          <a:solidFill>
            <a:srgbClr val="FFFFFF"/>
          </a:solidFill>
          <a:ln w="9525">
            <a:solidFill>
              <a:srgbClr val="1E7F4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393164" y="3822191"/>
            <a:ext cx="5204444" cy="219456"/>
          </a:xfrm>
          <a:prstGeom prst="rect">
            <a:avLst/>
          </a:prstGeom>
          <a:noFill/>
        </p:spPr>
        <p:txBody>
          <a:bodyPr wrap="square" lIns="0" rIns="0" tIns="0" bIns="0" anchor="t">
            <a:spAutoFit/>
          </a:bodyPr>
          <a:lstStyle/>
          <a:p>
            <a:pPr algn="l">
              <a:lnSpc>
                <a:spcPct val="100000"/>
              </a:lnSpc>
              <a:spcAft>
                <a:spcPts val="400"/>
              </a:spcAft>
            </a:pPr>
            <a:r>
              <a:rPr sz="900" b="1">
                <a:solidFill>
                  <a:srgbClr val="1E7F4F"/>
                </a:solidFill>
                <a:latin typeface="Roboto"/>
              </a:rPr>
              <a:t>CHỌN MÔ HÌNH 2 NẾU</a:t>
            </a:r>
          </a:p>
        </p:txBody>
      </p:sp>
      <p:sp>
        <p:nvSpPr>
          <p:cNvPr id="48" name="TextBox 47"/>
          <p:cNvSpPr txBox="1"/>
          <p:nvPr/>
        </p:nvSpPr>
        <p:spPr>
          <a:xfrm>
            <a:off x="6393164" y="4096511"/>
            <a:ext cx="5204444" cy="868680"/>
          </a:xfrm>
          <a:prstGeom prst="rect">
            <a:avLst/>
          </a:prstGeom>
          <a:noFill/>
        </p:spPr>
        <p:txBody>
          <a:bodyPr wrap="square" lIns="0" rIns="0" tIns="0" bIns="0" anchor="t">
            <a:spAutoFit/>
          </a:bodyPr>
          <a:lstStyle/>
          <a:p>
            <a:pPr algn="l">
              <a:lnSpc>
                <a:spcPct val="110000"/>
              </a:lnSpc>
              <a:spcAft>
                <a:spcPts val="400"/>
              </a:spcAft>
            </a:pPr>
            <a:r>
              <a:rPr sz="950" b="0">
                <a:solidFill>
                  <a:srgbClr val="111827"/>
                </a:solidFill>
                <a:latin typeface="Roboto"/>
              </a:rPr>
              <a:t>-  Chỉ muốn bỏ 40 triệu và chỉ trả tiếp khi đã thấy kết quả bằng số</a:t>
            </a:r>
          </a:p>
          <a:p>
            <a:pPr algn="l">
              <a:lnSpc>
                <a:spcPct val="110000"/>
              </a:lnSpc>
              <a:spcAft>
                <a:spcPts val="400"/>
              </a:spcAft>
            </a:pPr>
            <a:r>
              <a:rPr sz="950" b="0">
                <a:solidFill>
                  <a:srgbClr val="111827"/>
                </a:solidFill>
                <a:latin typeface="Roboto"/>
              </a:rPr>
              <a:t>-  Muốn LAZINET cùng chịu rủi ro, không hiệu quả thì không phải trả</a:t>
            </a:r>
          </a:p>
          <a:p>
            <a:pPr algn="l">
              <a:lnSpc>
                <a:spcPct val="110000"/>
              </a:lnSpc>
              <a:spcAft>
                <a:spcPts val="400"/>
              </a:spcAft>
            </a:pPr>
            <a:r>
              <a:rPr sz="950" b="0">
                <a:solidFill>
                  <a:srgbClr val="111827"/>
                </a:solidFill>
                <a:latin typeface="Roboto"/>
              </a:rPr>
              <a:t>-  Muốn một con số duy nhất mỗi tháng, đã gồm license AI và hạ tầng</a:t>
            </a:r>
          </a:p>
          <a:p>
            <a:pPr algn="l">
              <a:lnSpc>
                <a:spcPct val="110000"/>
              </a:lnSpc>
              <a:spcAft>
                <a:spcPts val="400"/>
              </a:spcAft>
            </a:pPr>
            <a:r>
              <a:rPr sz="950" b="0">
                <a:solidFill>
                  <a:srgbClr val="111827"/>
                </a:solidFill>
                <a:latin typeface="Roboto"/>
              </a:rPr>
              <a:t>-  Chuyển sang Mô hình 1 lúc nào cũng được, 40 triệu được khấu trừ hết</a:t>
            </a:r>
          </a:p>
        </p:txBody>
      </p:sp>
      <p:sp>
        <p:nvSpPr>
          <p:cNvPr id="49" name="Rectangle 48"/>
          <p:cNvSpPr/>
          <p:nvPr/>
        </p:nvSpPr>
        <p:spPr>
          <a:xfrm>
            <a:off x="411480" y="5230367"/>
            <a:ext cx="11369009" cy="530352"/>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150" b="1">
                <a:solidFill>
                  <a:srgbClr val="0B3A8F"/>
                </a:solidFill>
                <a:latin typeface="Roboto"/>
              </a:rPr>
              <a:t>Khuyến nghị của LAZINET: chọn Mô hình 1. Rẻ hơn kể từ tháng thứ 20 và thấp hơn 826 triệu sau năm năm, hoàn vốn trong khoảng 3 tới 4 tháng kể từ khi giai đoạn 1 chạy thật. Mô hình 2 giữ lại cho trường hợp ATL muốn nhìn thấy kết quả trước khi cam kết.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LỘ TRÌNH</a:t>
            </a:r>
          </a:p>
        </p:txBody>
      </p:sp>
      <p:sp>
        <p:nvSpPr>
          <p:cNvPr id="5" name="Rectangle 4"/>
          <p:cNvSpPr/>
          <p:nvPr/>
        </p:nvSpPr>
        <p:spPr>
          <a:xfrm>
            <a:off x="507492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Bản chạy thử đã dựng xong</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Không phải bản vẽ trên giấy. Hệ thống đã chạy được trên máy, có dữ liệu mẫu của mười khách hàng, và mở ra xem ngay trong buổi cà phê.</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18</a:t>
            </a:r>
          </a:p>
        </p:txBody>
      </p:sp>
      <p:sp>
        <p:nvSpPr>
          <p:cNvPr id="13" name="Rectangle 12"/>
          <p:cNvSpPr/>
          <p:nvPr/>
        </p:nvSpPr>
        <p:spPr>
          <a:xfrm>
            <a:off x="411480" y="1591056"/>
            <a:ext cx="3637269" cy="175564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11480" y="1591056"/>
            <a:ext cx="50292" cy="1755648"/>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94360" y="1719072"/>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1E7F4F"/>
                </a:solidFill>
                <a:latin typeface="Roboto"/>
              </a:rPr>
              <a:t>ĐÃ CHẠY ĐƯỢC</a:t>
            </a:r>
          </a:p>
        </p:txBody>
      </p:sp>
      <p:sp>
        <p:nvSpPr>
          <p:cNvPr id="16" name="TextBox 15"/>
          <p:cNvSpPr txBox="1"/>
          <p:nvPr/>
        </p:nvSpPr>
        <p:spPr>
          <a:xfrm>
            <a:off x="594360" y="1920240"/>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19 màn hình quản trị</a:t>
            </a:r>
          </a:p>
        </p:txBody>
      </p:sp>
      <p:sp>
        <p:nvSpPr>
          <p:cNvPr id="17" name="TextBox 16"/>
          <p:cNvSpPr txBox="1"/>
          <p:nvPr/>
        </p:nvSpPr>
        <p:spPr>
          <a:xfrm>
            <a:off x="594360" y="2194560"/>
            <a:ext cx="3308085" cy="1042416"/>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Bảng điều khiển, khách hàng, hợp đồng, chứng từ, sổ hóa đơn, đối soát ngân hàng</a:t>
            </a:r>
          </a:p>
          <a:p>
            <a:pPr algn="l">
              <a:lnSpc>
                <a:spcPct val="112000"/>
              </a:lnSpc>
              <a:spcAft>
                <a:spcPts val="300"/>
              </a:spcAft>
            </a:pPr>
            <a:r>
              <a:rPr sz="950" b="0">
                <a:solidFill>
                  <a:srgbClr val="475569"/>
                </a:solidFill>
                <a:latin typeface="Roboto"/>
              </a:rPr>
              <a:t>Soát xét, lịch tuân thủ, công việc, báo cáo tổng hợp, hiệu quả vận hành</a:t>
            </a:r>
          </a:p>
          <a:p>
            <a:pPr algn="l">
              <a:lnSpc>
                <a:spcPct val="112000"/>
              </a:lnSpc>
              <a:spcAft>
                <a:spcPts val="300"/>
              </a:spcAft>
            </a:pPr>
            <a:r>
              <a:rPr sz="950" b="0">
                <a:solidFill>
                  <a:srgbClr val="475569"/>
                </a:solidFill>
                <a:latin typeface="Roboto"/>
              </a:rPr>
              <a:t>Phân quyền theo vai trò đã kiểm chứng: giám đốc thấy 10 khách, kế toán viên chỉ thấy 3</a:t>
            </a:r>
          </a:p>
        </p:txBody>
      </p:sp>
      <p:sp>
        <p:nvSpPr>
          <p:cNvPr id="18" name="Rectangle 17"/>
          <p:cNvSpPr/>
          <p:nvPr/>
        </p:nvSpPr>
        <p:spPr>
          <a:xfrm>
            <a:off x="4277349" y="1591056"/>
            <a:ext cx="3637269" cy="175564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277349" y="1591056"/>
            <a:ext cx="50292" cy="1755648"/>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460229" y="1719072"/>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FF6302"/>
                </a:solidFill>
                <a:latin typeface="Roboto"/>
              </a:rPr>
              <a:t>ĐÃ CHẠY ĐƯỢC</a:t>
            </a:r>
          </a:p>
        </p:txBody>
      </p:sp>
      <p:sp>
        <p:nvSpPr>
          <p:cNvPr id="21" name="TextBox 20"/>
          <p:cNvSpPr txBox="1"/>
          <p:nvPr/>
        </p:nvSpPr>
        <p:spPr>
          <a:xfrm>
            <a:off x="4460229" y="1920240"/>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Ba tính năng AI</a:t>
            </a:r>
          </a:p>
        </p:txBody>
      </p:sp>
      <p:sp>
        <p:nvSpPr>
          <p:cNvPr id="22" name="TextBox 21"/>
          <p:cNvSpPr txBox="1"/>
          <p:nvPr/>
        </p:nvSpPr>
        <p:spPr>
          <a:xfrm>
            <a:off x="4460229" y="2194560"/>
            <a:ext cx="3308085" cy="1042416"/>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Số hóa chứng từ: đọc ảnh, trả dữ liệu có cấu trúc kèm điểm tin cậy từng trường</a:t>
            </a:r>
          </a:p>
          <a:p>
            <a:pPr algn="l">
              <a:lnSpc>
                <a:spcPct val="112000"/>
              </a:lnSpc>
              <a:spcAft>
                <a:spcPts val="300"/>
              </a:spcAft>
            </a:pPr>
            <a:r>
              <a:rPr sz="950" b="0">
                <a:solidFill>
                  <a:srgbClr val="475569"/>
                </a:solidFill>
                <a:latin typeface="Roboto"/>
              </a:rPr>
              <a:t>Rà soát bất hợp lý: bộ quy tắc chạy trước, tác tử AI bổ sung sau</a:t>
            </a:r>
          </a:p>
          <a:p>
            <a:pPr algn="l">
              <a:lnSpc>
                <a:spcPct val="112000"/>
              </a:lnSpc>
              <a:spcAft>
                <a:spcPts val="300"/>
              </a:spcAft>
            </a:pPr>
            <a:r>
              <a:rPr sz="950" b="0">
                <a:solidFill>
                  <a:srgbClr val="475569"/>
                </a:solidFill>
                <a:latin typeface="Roboto"/>
              </a:rPr>
              <a:t>Hỏi đáp pháp luật: trả lời chỉ dựa trên kho tri thức, luôn kèm căn cứ</a:t>
            </a:r>
          </a:p>
        </p:txBody>
      </p:sp>
      <p:sp>
        <p:nvSpPr>
          <p:cNvPr id="23" name="Rectangle 22"/>
          <p:cNvSpPr/>
          <p:nvPr/>
        </p:nvSpPr>
        <p:spPr>
          <a:xfrm>
            <a:off x="8143219" y="1591056"/>
            <a:ext cx="3637269" cy="1755648"/>
          </a:xfrm>
          <a:prstGeom prst="rect">
            <a:avLst/>
          </a:prstGeom>
          <a:solidFill>
            <a:srgbClr val="FFFFFF"/>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143219" y="1591056"/>
            <a:ext cx="50292" cy="1755648"/>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26099" y="1719072"/>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ĐÃ CHẠY ĐƯỢC</a:t>
            </a:r>
          </a:p>
        </p:txBody>
      </p:sp>
      <p:sp>
        <p:nvSpPr>
          <p:cNvPr id="26" name="TextBox 25"/>
          <p:cNvSpPr txBox="1"/>
          <p:nvPr/>
        </p:nvSpPr>
        <p:spPr>
          <a:xfrm>
            <a:off x="8326099" y="1920240"/>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Website và cổng khách hàng</a:t>
            </a:r>
          </a:p>
        </p:txBody>
      </p:sp>
      <p:sp>
        <p:nvSpPr>
          <p:cNvPr id="27" name="TextBox 26"/>
          <p:cNvSpPr txBox="1"/>
          <p:nvPr/>
        </p:nvSpPr>
        <p:spPr>
          <a:xfrm>
            <a:off x="8326099" y="2194560"/>
            <a:ext cx="3308085" cy="1042416"/>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Website mới đã sửa toàn bộ lỗi của website hiện tại: thẻ tiêu đề, thẻ chia sẻ, dữ liệu có cấu trúc</a:t>
            </a:r>
          </a:p>
          <a:p>
            <a:pPr algn="l">
              <a:lnSpc>
                <a:spcPct val="112000"/>
              </a:lnSpc>
              <a:spcAft>
                <a:spcPts val="300"/>
              </a:spcAft>
            </a:pPr>
            <a:r>
              <a:rPr sz="950" b="0">
                <a:solidFill>
                  <a:srgbClr val="475569"/>
                </a:solidFill>
                <a:latin typeface="Roboto"/>
              </a:rPr>
              <a:t>Công cụ ước tính phí trực tuyến, thay cho trang Báo giá đang trống</a:t>
            </a:r>
          </a:p>
          <a:p>
            <a:pPr algn="l">
              <a:lnSpc>
                <a:spcPct val="112000"/>
              </a:lnSpc>
              <a:spcAft>
                <a:spcPts val="300"/>
              </a:spcAft>
            </a:pPr>
            <a:r>
              <a:rPr sz="950" b="0">
                <a:solidFill>
                  <a:srgbClr val="475569"/>
                </a:solidFill>
                <a:latin typeface="Roboto"/>
              </a:rPr>
              <a:t>Cổng khách hàng: khách đăng nhập xem tiến độ hồ sơ của chính mình</a:t>
            </a:r>
          </a:p>
        </p:txBody>
      </p:sp>
      <p:sp>
        <p:nvSpPr>
          <p:cNvPr id="28" name="TextBox 27"/>
          <p:cNvSpPr txBox="1"/>
          <p:nvPr/>
        </p:nvSpPr>
        <p:spPr>
          <a:xfrm>
            <a:off x="411480" y="3493008"/>
            <a:ext cx="11369009" cy="237744"/>
          </a:xfrm>
          <a:prstGeom prst="rect">
            <a:avLst/>
          </a:prstGeom>
          <a:noFill/>
        </p:spPr>
        <p:txBody>
          <a:bodyPr wrap="square" lIns="0" rIns="0" tIns="0" bIns="0" anchor="t">
            <a:spAutoFit/>
          </a:bodyPr>
          <a:lstStyle/>
          <a:p>
            <a:pPr algn="l">
              <a:lnSpc>
                <a:spcPct val="100000"/>
              </a:lnSpc>
              <a:spcAft>
                <a:spcPts val="400"/>
              </a:spcAft>
            </a:pPr>
            <a:r>
              <a:rPr sz="1200" b="1">
                <a:solidFill>
                  <a:srgbClr val="0B3A8F"/>
                </a:solidFill>
                <a:latin typeface="Roboto"/>
              </a:rPr>
              <a:t>Mười ba quy tắc kiểm tra, chạy bằng phép tính chứ không bằng AI</a:t>
            </a:r>
          </a:p>
        </p:txBody>
      </p:sp>
      <p:sp>
        <p:nvSpPr>
          <p:cNvPr id="29" name="Rectangle 28"/>
          <p:cNvSpPr/>
          <p:nvPr/>
        </p:nvSpPr>
        <p:spPr>
          <a:xfrm>
            <a:off x="411480" y="3785615"/>
            <a:ext cx="227380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Nhóm</a:t>
            </a:r>
          </a:p>
        </p:txBody>
      </p:sp>
      <p:sp>
        <p:nvSpPr>
          <p:cNvPr id="30" name="Rectangle 29"/>
          <p:cNvSpPr/>
          <p:nvPr/>
        </p:nvSpPr>
        <p:spPr>
          <a:xfrm>
            <a:off x="2685281" y="3785615"/>
            <a:ext cx="6366645"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Quy tắc</a:t>
            </a:r>
          </a:p>
        </p:txBody>
      </p:sp>
      <p:sp>
        <p:nvSpPr>
          <p:cNvPr id="31" name="Rectangle 30"/>
          <p:cNvSpPr/>
          <p:nvPr/>
        </p:nvSpPr>
        <p:spPr>
          <a:xfrm>
            <a:off x="9051927" y="3785615"/>
            <a:ext cx="272856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Căn cứ</a:t>
            </a:r>
          </a:p>
        </p:txBody>
      </p:sp>
      <p:sp>
        <p:nvSpPr>
          <p:cNvPr id="32" name="Rectangle 31"/>
          <p:cNvSpPr/>
          <p:nvPr/>
        </p:nvSpPr>
        <p:spPr>
          <a:xfrm>
            <a:off x="411480" y="4078224"/>
            <a:ext cx="227380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Trùng và thiếu</a:t>
            </a:r>
          </a:p>
        </p:txBody>
      </p:sp>
      <p:sp>
        <p:nvSpPr>
          <p:cNvPr id="33" name="Rectangle 32"/>
          <p:cNvSpPr/>
          <p:nvPr/>
        </p:nvSpPr>
        <p:spPr>
          <a:xfrm>
            <a:off x="2685281" y="4078224"/>
            <a:ext cx="6366645"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Hóa đơn trùng lặp, thiếu trường bắt buộc, hóa đơn nháp hoặc đã hủy vẫn ghi sổ</a:t>
            </a:r>
          </a:p>
        </p:txBody>
      </p:sp>
      <p:sp>
        <p:nvSpPr>
          <p:cNvPr id="34" name="Rectangle 33"/>
          <p:cNvSpPr/>
          <p:nvPr/>
        </p:nvSpPr>
        <p:spPr>
          <a:xfrm>
            <a:off x="9051927" y="4078224"/>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Nguyên tắc ghi sổ</a:t>
            </a:r>
          </a:p>
        </p:txBody>
      </p:sp>
      <p:sp>
        <p:nvSpPr>
          <p:cNvPr id="35" name="Rectangle 34"/>
          <p:cNvSpPr/>
          <p:nvPr/>
        </p:nvSpPr>
        <p:spPr>
          <a:xfrm>
            <a:off x="411480" y="4389120"/>
            <a:ext cx="2273801"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Số học</a:t>
            </a:r>
          </a:p>
        </p:txBody>
      </p:sp>
      <p:sp>
        <p:nvSpPr>
          <p:cNvPr id="36" name="Rectangle 35"/>
          <p:cNvSpPr/>
          <p:nvPr/>
        </p:nvSpPr>
        <p:spPr>
          <a:xfrm>
            <a:off x="2685281" y="4389120"/>
            <a:ext cx="6366645"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Tiền thuế không khớp tiền hàng nhân thuế suất, tổng tiền không khớp</a:t>
            </a:r>
          </a:p>
        </p:txBody>
      </p:sp>
      <p:sp>
        <p:nvSpPr>
          <p:cNvPr id="37" name="Rectangle 36"/>
          <p:cNvSpPr/>
          <p:nvPr/>
        </p:nvSpPr>
        <p:spPr>
          <a:xfrm>
            <a:off x="9051927" y="4389120"/>
            <a:ext cx="2728562"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Luật Thuế GTGT 2024</a:t>
            </a:r>
          </a:p>
        </p:txBody>
      </p:sp>
      <p:sp>
        <p:nvSpPr>
          <p:cNvPr id="38" name="Rectangle 37"/>
          <p:cNvSpPr/>
          <p:nvPr/>
        </p:nvSpPr>
        <p:spPr>
          <a:xfrm>
            <a:off x="411480" y="4700016"/>
            <a:ext cx="227380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Hình thức</a:t>
            </a:r>
          </a:p>
        </p:txBody>
      </p:sp>
      <p:sp>
        <p:nvSpPr>
          <p:cNvPr id="39" name="Rectangle 38"/>
          <p:cNvSpPr/>
          <p:nvPr/>
        </p:nvSpPr>
        <p:spPr>
          <a:xfrm>
            <a:off x="2685281" y="4700016"/>
            <a:ext cx="6366645"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Mã số thuế sai định dạng, thuế suất ngoài danh mục, ngày nằm ngoài kỳ</a:t>
            </a:r>
          </a:p>
        </p:txBody>
      </p:sp>
      <p:sp>
        <p:nvSpPr>
          <p:cNvPr id="40" name="Rectangle 39"/>
          <p:cNvSpPr/>
          <p:nvPr/>
        </p:nvSpPr>
        <p:spPr>
          <a:xfrm>
            <a:off x="9051927" y="4700016"/>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Nghị định 70/2025</a:t>
            </a:r>
          </a:p>
        </p:txBody>
      </p:sp>
      <p:sp>
        <p:nvSpPr>
          <p:cNvPr id="41" name="Rectangle 40"/>
          <p:cNvSpPr/>
          <p:nvPr/>
        </p:nvSpPr>
        <p:spPr>
          <a:xfrm>
            <a:off x="411480" y="5010912"/>
            <a:ext cx="2273801"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Rủi ro</a:t>
            </a:r>
          </a:p>
        </p:txBody>
      </p:sp>
      <p:sp>
        <p:nvSpPr>
          <p:cNvPr id="42" name="Rectangle 41"/>
          <p:cNvSpPr/>
          <p:nvPr/>
        </p:nvSpPr>
        <p:spPr>
          <a:xfrm>
            <a:off x="2685281" y="5010912"/>
            <a:ext cx="6366645"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Thiếu chứng từ thanh toán không tiền mặt, người bán rủi ro, chưa đối chiếu XML</a:t>
            </a:r>
          </a:p>
        </p:txBody>
      </p:sp>
      <p:sp>
        <p:nvSpPr>
          <p:cNvPr id="43" name="Rectangle 42"/>
          <p:cNvSpPr/>
          <p:nvPr/>
        </p:nvSpPr>
        <p:spPr>
          <a:xfrm>
            <a:off x="9051927" y="5010912"/>
            <a:ext cx="2728562" cy="310896"/>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Luật Thuế GTGT 2024</a:t>
            </a:r>
          </a:p>
        </p:txBody>
      </p:sp>
      <p:sp>
        <p:nvSpPr>
          <p:cNvPr id="44" name="Rectangle 43"/>
          <p:cNvSpPr/>
          <p:nvPr/>
        </p:nvSpPr>
        <p:spPr>
          <a:xfrm>
            <a:off x="411480" y="5321807"/>
            <a:ext cx="2273801"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Chất lượng</a:t>
            </a:r>
          </a:p>
        </p:txBody>
      </p:sp>
      <p:sp>
        <p:nvSpPr>
          <p:cNvPr id="45" name="Rectangle 44"/>
          <p:cNvSpPr/>
          <p:nvPr/>
        </p:nvSpPr>
        <p:spPr>
          <a:xfrm>
            <a:off x="2685281" y="5321807"/>
            <a:ext cx="6366645"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Độ tin cậy trích xuất dưới ngưỡng thì bắt buộc người soát xác nhận</a:t>
            </a:r>
          </a:p>
        </p:txBody>
      </p:sp>
      <p:sp>
        <p:nvSpPr>
          <p:cNvPr id="46" name="Rectangle 45"/>
          <p:cNvSpPr/>
          <p:nvPr/>
        </p:nvSpPr>
        <p:spPr>
          <a:xfrm>
            <a:off x="9051927" y="5321807"/>
            <a:ext cx="2728562" cy="310896"/>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Quy tắc nội bộ</a:t>
            </a:r>
          </a:p>
        </p:txBody>
      </p:sp>
      <p:sp>
        <p:nvSpPr>
          <p:cNvPr id="47" name="Rectangle 46"/>
          <p:cNvSpPr/>
          <p:nvPr/>
        </p:nvSpPr>
        <p:spPr>
          <a:xfrm>
            <a:off x="411480" y="5797295"/>
            <a:ext cx="11369009" cy="530352"/>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0B3A8F"/>
                </a:solidFill>
                <a:latin typeface="Roboto"/>
              </a:rPr>
              <a:t>Vì sao tách bạch: đụng đến tiền thuế thì cái gì tính được bằng công thức phải tính bằng công thức, cho kết quả giống hệt nhau mọi lần chạy và giải thích được từng bước. AI chỉ làm phần mà công thức không làm được. Ngưỡng và mức độ nghiêm trọng của từng quy tắc sửa được ngay trên giao diện, không cần lập trình.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BỐI CẢNH</a:t>
            </a:r>
          </a:p>
        </p:txBody>
      </p:sp>
      <p:sp>
        <p:nvSpPr>
          <p:cNvPr id="3" name="Rectangle 2"/>
          <p:cNvSpPr/>
          <p:nvPr/>
        </p:nvSpPr>
        <p:spPr>
          <a:xfrm>
            <a:off x="1965960"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GIẢI PHÁP</a:t>
            </a:r>
          </a:p>
        </p:txBody>
      </p:sp>
      <p:sp>
        <p:nvSpPr>
          <p:cNvPr id="4" name="Rectangle 3"/>
          <p:cNvSpPr/>
          <p:nvPr/>
        </p:nvSpPr>
        <p:spPr>
          <a:xfrm>
            <a:off x="3520439" y="155448"/>
            <a:ext cx="1481328" cy="237744"/>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475569"/>
                </a:solidFill>
                <a:latin typeface="Roboto"/>
              </a:rPr>
              <a:t>LỘ TRÌNH</a:t>
            </a:r>
          </a:p>
        </p:txBody>
      </p:sp>
      <p:sp>
        <p:nvSpPr>
          <p:cNvPr id="5" name="Rectangle 4"/>
          <p:cNvSpPr/>
          <p:nvPr/>
        </p:nvSpPr>
        <p:spPr>
          <a:xfrm>
            <a:off x="5074920" y="155448"/>
            <a:ext cx="1481328" cy="23774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spcAft>
                <a:spcPts val="400"/>
              </a:spcAft>
            </a:pPr>
            <a:r>
              <a:rPr sz="900" b="1">
                <a:solidFill>
                  <a:srgbClr val="FFFFFF"/>
                </a:solidFill>
                <a:latin typeface="Roboto"/>
              </a:rPr>
              <a:t>HỢP TÁC</a:t>
            </a:r>
          </a:p>
        </p:txBody>
      </p:sp>
      <p:sp>
        <p:nvSpPr>
          <p:cNvPr id="6" name="TextBox 5"/>
          <p:cNvSpPr txBox="1"/>
          <p:nvPr/>
        </p:nvSpPr>
        <p:spPr>
          <a:xfrm>
            <a:off x="8854409" y="155448"/>
            <a:ext cx="2926080" cy="237744"/>
          </a:xfrm>
          <a:prstGeom prst="rect">
            <a:avLst/>
          </a:prstGeom>
          <a:noFill/>
        </p:spPr>
        <p:txBody>
          <a:bodyPr wrap="square" lIns="0" rIns="0" tIns="0" bIns="0" anchor="ctr">
            <a:spAutoFit/>
          </a:bodyPr>
          <a:lstStyle/>
          <a:p>
            <a:pPr algn="r">
              <a:lnSpc>
                <a:spcPct val="100000"/>
              </a:lnSpc>
              <a:spcAft>
                <a:spcPts val="400"/>
              </a:spcAft>
            </a:pPr>
            <a:r>
              <a:rPr sz="900" b="1">
                <a:solidFill>
                  <a:srgbClr val="0B3A8F"/>
                </a:solidFill>
                <a:latin typeface="Roboto"/>
              </a:rPr>
              <a:t>LAZINET  x  ATL</a:t>
            </a:r>
          </a:p>
        </p:txBody>
      </p:sp>
      <p:cxnSp>
        <p:nvCxnSpPr>
          <p:cNvPr id="7" name="Connector 6"/>
          <p:cNvCxnSpPr/>
          <p:nvPr/>
        </p:nvCxnSpPr>
        <p:spPr>
          <a:xfrm>
            <a:off x="0" y="457200"/>
            <a:ext cx="12191969" cy="0"/>
          </a:xfrm>
          <a:prstGeom prst="line">
            <a:avLst/>
          </a:prstGeom>
          <a:ln w="15875">
            <a:solidFill>
              <a:srgbClr val="0B3A8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1480" y="585216"/>
            <a:ext cx="11369009" cy="420624"/>
          </a:xfrm>
          <a:prstGeom prst="rect">
            <a:avLst/>
          </a:prstGeom>
          <a:noFill/>
        </p:spPr>
        <p:txBody>
          <a:bodyPr wrap="square" lIns="0" rIns="0" tIns="0" bIns="0" anchor="t">
            <a:spAutoFit/>
          </a:bodyPr>
          <a:lstStyle/>
          <a:p>
            <a:pPr algn="l">
              <a:lnSpc>
                <a:spcPct val="100000"/>
              </a:lnSpc>
              <a:spcAft>
                <a:spcPts val="400"/>
              </a:spcAft>
            </a:pPr>
            <a:r>
              <a:rPr sz="2400" b="1">
                <a:solidFill>
                  <a:srgbClr val="0B3A8F"/>
                </a:solidFill>
                <a:latin typeface="Roboto"/>
              </a:rPr>
              <a:t>Bước tiếp theo</a:t>
            </a:r>
          </a:p>
        </p:txBody>
      </p:sp>
      <p:sp>
        <p:nvSpPr>
          <p:cNvPr id="9" name="TextBox 8"/>
          <p:cNvSpPr txBox="1"/>
          <p:nvPr/>
        </p:nvSpPr>
        <p:spPr>
          <a:xfrm>
            <a:off x="411480" y="1042415"/>
            <a:ext cx="11369009" cy="365760"/>
          </a:xfrm>
          <a:prstGeom prst="rect">
            <a:avLst/>
          </a:prstGeom>
          <a:noFill/>
        </p:spPr>
        <p:txBody>
          <a:bodyPr wrap="square" lIns="0" rIns="0" tIns="0" bIns="0" anchor="t">
            <a:spAutoFit/>
          </a:bodyPr>
          <a:lstStyle/>
          <a:p>
            <a:pPr algn="l">
              <a:lnSpc>
                <a:spcPct val="115000"/>
              </a:lnSpc>
              <a:spcAft>
                <a:spcPts val="400"/>
              </a:spcAft>
            </a:pPr>
            <a:r>
              <a:rPr sz="1250" b="0">
                <a:solidFill>
                  <a:srgbClr val="475569"/>
                </a:solidFill>
                <a:latin typeface="Roboto"/>
              </a:rPr>
              <a:t>Việc cần làm và ai làm, để chốt được phương án chính thức.</a:t>
            </a:r>
          </a:p>
        </p:txBody>
      </p:sp>
      <p:cxnSp>
        <p:nvCxnSpPr>
          <p:cNvPr id="10" name="Connector 9"/>
          <p:cNvCxnSpPr/>
          <p:nvPr/>
        </p:nvCxnSpPr>
        <p:spPr>
          <a:xfrm>
            <a:off x="411480" y="6455664"/>
            <a:ext cx="11369009" cy="0"/>
          </a:xfrm>
          <a:prstGeom prst="line">
            <a:avLst/>
          </a:prstGeom>
          <a:ln w="9525">
            <a:solidFill>
              <a:srgbClr val="C9D4E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6510528"/>
            <a:ext cx="5486400" cy="219456"/>
          </a:xfrm>
          <a:prstGeom prst="rect">
            <a:avLst/>
          </a:prstGeom>
          <a:noFill/>
        </p:spPr>
        <p:txBody>
          <a:bodyPr wrap="square" lIns="0" rIns="0" tIns="0" bIns="0" anchor="t">
            <a:spAutoFit/>
          </a:bodyPr>
          <a:lstStyle/>
          <a:p>
            <a:pPr algn="l">
              <a:lnSpc>
                <a:spcPct val="100000"/>
              </a:lnSpc>
              <a:spcAft>
                <a:spcPts val="400"/>
              </a:spcAft>
            </a:pPr>
            <a:r>
              <a:rPr sz="800" b="0">
                <a:solidFill>
                  <a:srgbClr val="475569"/>
                </a:solidFill>
                <a:latin typeface="Roboto"/>
              </a:rPr>
              <a:t>1_ATL-LAZINET-Solutions  |  06/10/2026</a:t>
            </a:r>
          </a:p>
        </p:txBody>
      </p:sp>
      <p:sp>
        <p:nvSpPr>
          <p:cNvPr id="12" name="TextBox 11"/>
          <p:cNvSpPr txBox="1"/>
          <p:nvPr/>
        </p:nvSpPr>
        <p:spPr>
          <a:xfrm>
            <a:off x="9951689" y="6510528"/>
            <a:ext cx="1828800" cy="219456"/>
          </a:xfrm>
          <a:prstGeom prst="rect">
            <a:avLst/>
          </a:prstGeom>
          <a:noFill/>
        </p:spPr>
        <p:txBody>
          <a:bodyPr wrap="square" lIns="0" rIns="0" tIns="0" bIns="0" anchor="t">
            <a:spAutoFit/>
          </a:bodyPr>
          <a:lstStyle/>
          <a:p>
            <a:pPr algn="r">
              <a:lnSpc>
                <a:spcPct val="100000"/>
              </a:lnSpc>
              <a:spcAft>
                <a:spcPts val="400"/>
              </a:spcAft>
            </a:pPr>
            <a:r>
              <a:rPr sz="800" b="0">
                <a:solidFill>
                  <a:srgbClr val="475569"/>
                </a:solidFill>
                <a:latin typeface="Roboto"/>
              </a:rPr>
              <a:t>19</a:t>
            </a:r>
          </a:p>
        </p:txBody>
      </p:sp>
      <p:sp>
        <p:nvSpPr>
          <p:cNvPr id="13" name="Rectangle 12"/>
          <p:cNvSpPr/>
          <p:nvPr/>
        </p:nvSpPr>
        <p:spPr>
          <a:xfrm>
            <a:off x="411480" y="1572768"/>
            <a:ext cx="682140"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spcAft>
                <a:spcPts val="400"/>
              </a:spcAft>
            </a:pPr>
            <a:r>
              <a:rPr sz="900" b="1">
                <a:solidFill>
                  <a:srgbClr val="FFFFFF"/>
                </a:solidFill>
                <a:latin typeface="Roboto"/>
              </a:rPr>
              <a:t>TT</a:t>
            </a:r>
          </a:p>
        </p:txBody>
      </p:sp>
      <p:sp>
        <p:nvSpPr>
          <p:cNvPr id="14" name="Rectangle 13"/>
          <p:cNvSpPr/>
          <p:nvPr/>
        </p:nvSpPr>
        <p:spPr>
          <a:xfrm>
            <a:off x="1093620" y="1572768"/>
            <a:ext cx="6366645"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Việc cần làm</a:t>
            </a:r>
          </a:p>
        </p:txBody>
      </p:sp>
      <p:sp>
        <p:nvSpPr>
          <p:cNvPr id="15" name="Rectangle 14"/>
          <p:cNvSpPr/>
          <p:nvPr/>
        </p:nvSpPr>
        <p:spPr>
          <a:xfrm>
            <a:off x="7460265" y="1572768"/>
            <a:ext cx="1819041"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Ai làm</a:t>
            </a:r>
          </a:p>
        </p:txBody>
      </p:sp>
      <p:sp>
        <p:nvSpPr>
          <p:cNvPr id="16" name="Rectangle 15"/>
          <p:cNvSpPr/>
          <p:nvPr/>
        </p:nvSpPr>
        <p:spPr>
          <a:xfrm>
            <a:off x="9279307" y="1572768"/>
            <a:ext cx="2501182" cy="292608"/>
          </a:xfrm>
          <a:prstGeom prst="rect">
            <a:avLst/>
          </a:prstGeom>
          <a:solidFill>
            <a:srgbClr val="0B3A8F"/>
          </a:solidFill>
          <a:ln w="9525">
            <a:solidFill>
              <a:srgbClr val="0B3A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0000"/>
              </a:lnSpc>
              <a:spcAft>
                <a:spcPts val="400"/>
              </a:spcAft>
            </a:pPr>
            <a:r>
              <a:rPr sz="900" b="1">
                <a:solidFill>
                  <a:srgbClr val="FFFFFF"/>
                </a:solidFill>
                <a:latin typeface="Roboto"/>
              </a:rPr>
              <a:t>Thời gian</a:t>
            </a:r>
          </a:p>
        </p:txBody>
      </p:sp>
      <p:sp>
        <p:nvSpPr>
          <p:cNvPr id="17" name="Rectangle 16"/>
          <p:cNvSpPr/>
          <p:nvPr/>
        </p:nvSpPr>
        <p:spPr>
          <a:xfrm>
            <a:off x="411480" y="1865376"/>
            <a:ext cx="682140"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1</a:t>
            </a:r>
          </a:p>
        </p:txBody>
      </p:sp>
      <p:sp>
        <p:nvSpPr>
          <p:cNvPr id="18" name="Rectangle 17"/>
          <p:cNvSpPr/>
          <p:nvPr/>
        </p:nvSpPr>
        <p:spPr>
          <a:xfrm>
            <a:off x="1093620" y="1865376"/>
            <a:ext cx="6366645"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Buổi cà phê thứ tư: xem bản chạy thử, thống nhất phạm vi ưu tiên và chọn mô hình hợp tác</a:t>
            </a:r>
          </a:p>
        </p:txBody>
      </p:sp>
      <p:sp>
        <p:nvSpPr>
          <p:cNvPr id="19" name="Rectangle 18"/>
          <p:cNvSpPr/>
          <p:nvPr/>
        </p:nvSpPr>
        <p:spPr>
          <a:xfrm>
            <a:off x="7460265" y="1865376"/>
            <a:ext cx="181904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Hai bên</a:t>
            </a:r>
          </a:p>
        </p:txBody>
      </p:sp>
      <p:sp>
        <p:nvSpPr>
          <p:cNvPr id="20" name="Rectangle 19"/>
          <p:cNvSpPr/>
          <p:nvPr/>
        </p:nvSpPr>
        <p:spPr>
          <a:xfrm>
            <a:off x="9279307" y="1865376"/>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Tuần này</a:t>
            </a:r>
          </a:p>
        </p:txBody>
      </p:sp>
      <p:sp>
        <p:nvSpPr>
          <p:cNvPr id="21" name="Rectangle 20"/>
          <p:cNvSpPr/>
          <p:nvPr/>
        </p:nvSpPr>
        <p:spPr>
          <a:xfrm>
            <a:off x="411480" y="2231136"/>
            <a:ext cx="682140"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2</a:t>
            </a:r>
          </a:p>
        </p:txBody>
      </p:sp>
      <p:sp>
        <p:nvSpPr>
          <p:cNvPr id="22" name="Rectangle 21"/>
          <p:cNvSpPr/>
          <p:nvPr/>
        </p:nvSpPr>
        <p:spPr>
          <a:xfrm>
            <a:off x="1093620" y="2231136"/>
            <a:ext cx="6366645"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ATL điền ba cột còn trống trong sheet ATL-Info và trả lời mười câu hỏi ở cuối sheet đó</a:t>
            </a:r>
          </a:p>
        </p:txBody>
      </p:sp>
      <p:sp>
        <p:nvSpPr>
          <p:cNvPr id="23" name="Rectangle 22"/>
          <p:cNvSpPr/>
          <p:nvPr/>
        </p:nvSpPr>
        <p:spPr>
          <a:xfrm>
            <a:off x="7460265" y="2231136"/>
            <a:ext cx="1819041"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ATL</a:t>
            </a:r>
          </a:p>
        </p:txBody>
      </p:sp>
      <p:sp>
        <p:nvSpPr>
          <p:cNvPr id="24" name="Rectangle 23"/>
          <p:cNvSpPr/>
          <p:nvPr/>
        </p:nvSpPr>
        <p:spPr>
          <a:xfrm>
            <a:off x="9279307" y="223113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Trong 1 tuần</a:t>
            </a:r>
          </a:p>
        </p:txBody>
      </p:sp>
      <p:sp>
        <p:nvSpPr>
          <p:cNvPr id="25" name="Rectangle 24"/>
          <p:cNvSpPr/>
          <p:nvPr/>
        </p:nvSpPr>
        <p:spPr>
          <a:xfrm>
            <a:off x="411480" y="2596896"/>
            <a:ext cx="682140"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3</a:t>
            </a:r>
          </a:p>
        </p:txBody>
      </p:sp>
      <p:sp>
        <p:nvSpPr>
          <p:cNvPr id="26" name="Rectangle 25"/>
          <p:cNvSpPr/>
          <p:nvPr/>
        </p:nvSpPr>
        <p:spPr>
          <a:xfrm>
            <a:off x="1093620" y="2596896"/>
            <a:ext cx="6366645"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LAZINET khảo sát trực tiếp một ngày làm việc tại văn phòng, quan sát luồng thật</a:t>
            </a:r>
          </a:p>
        </p:txBody>
      </p:sp>
      <p:sp>
        <p:nvSpPr>
          <p:cNvPr id="27" name="Rectangle 26"/>
          <p:cNvSpPr/>
          <p:nvPr/>
        </p:nvSpPr>
        <p:spPr>
          <a:xfrm>
            <a:off x="7460265" y="2596896"/>
            <a:ext cx="181904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LAZINET</a:t>
            </a:r>
          </a:p>
        </p:txBody>
      </p:sp>
      <p:sp>
        <p:nvSpPr>
          <p:cNvPr id="28" name="Rectangle 27"/>
          <p:cNvSpPr/>
          <p:nvPr/>
        </p:nvSpPr>
        <p:spPr>
          <a:xfrm>
            <a:off x="9279307" y="2596896"/>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Trong 2 tuần</a:t>
            </a:r>
          </a:p>
        </p:txBody>
      </p:sp>
      <p:sp>
        <p:nvSpPr>
          <p:cNvPr id="29" name="Rectangle 28"/>
          <p:cNvSpPr/>
          <p:nvPr/>
        </p:nvSpPr>
        <p:spPr>
          <a:xfrm>
            <a:off x="411480" y="2962656"/>
            <a:ext cx="682140"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4</a:t>
            </a:r>
          </a:p>
        </p:txBody>
      </p:sp>
      <p:sp>
        <p:nvSpPr>
          <p:cNvPr id="30" name="Rectangle 29"/>
          <p:cNvSpPr/>
          <p:nvPr/>
        </p:nvSpPr>
        <p:spPr>
          <a:xfrm>
            <a:off x="1093620" y="2962656"/>
            <a:ext cx="6366645"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Chạy bản thử trên dữ liệu thật của một khách hàng ATL để đo độ chính xác</a:t>
            </a:r>
          </a:p>
        </p:txBody>
      </p:sp>
      <p:sp>
        <p:nvSpPr>
          <p:cNvPr id="31" name="Rectangle 30"/>
          <p:cNvSpPr/>
          <p:nvPr/>
        </p:nvSpPr>
        <p:spPr>
          <a:xfrm>
            <a:off x="7460265" y="2962656"/>
            <a:ext cx="1819041"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Hai bên</a:t>
            </a:r>
          </a:p>
        </p:txBody>
      </p:sp>
      <p:sp>
        <p:nvSpPr>
          <p:cNvPr id="32" name="Rectangle 31"/>
          <p:cNvSpPr/>
          <p:nvPr/>
        </p:nvSpPr>
        <p:spPr>
          <a:xfrm>
            <a:off x="9279307" y="296265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2 tuần, miễn phí</a:t>
            </a:r>
          </a:p>
        </p:txBody>
      </p:sp>
      <p:sp>
        <p:nvSpPr>
          <p:cNvPr id="33" name="Rectangle 32"/>
          <p:cNvSpPr/>
          <p:nvPr/>
        </p:nvSpPr>
        <p:spPr>
          <a:xfrm>
            <a:off x="411480" y="3328415"/>
            <a:ext cx="682140"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5</a:t>
            </a:r>
          </a:p>
        </p:txBody>
      </p:sp>
      <p:sp>
        <p:nvSpPr>
          <p:cNvPr id="34" name="Rectangle 33"/>
          <p:cNvSpPr/>
          <p:nvPr/>
        </p:nvSpPr>
        <p:spPr>
          <a:xfrm>
            <a:off x="1093620" y="3328415"/>
            <a:ext cx="6366645"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Đo đường cơ sở 30 ngày</a:t>
            </a:r>
          </a:p>
        </p:txBody>
      </p:sp>
      <p:sp>
        <p:nvSpPr>
          <p:cNvPr id="35" name="Rectangle 34"/>
          <p:cNvSpPr/>
          <p:nvPr/>
        </p:nvSpPr>
        <p:spPr>
          <a:xfrm>
            <a:off x="7460265" y="3328415"/>
            <a:ext cx="1819041"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Hai bên</a:t>
            </a:r>
          </a:p>
        </p:txBody>
      </p:sp>
      <p:sp>
        <p:nvSpPr>
          <p:cNvPr id="36" name="Rectangle 35"/>
          <p:cNvSpPr/>
          <p:nvPr/>
        </p:nvSpPr>
        <p:spPr>
          <a:xfrm>
            <a:off x="9279307" y="3328415"/>
            <a:ext cx="2501182" cy="365760"/>
          </a:xfrm>
          <a:prstGeom prst="rect">
            <a:avLst/>
          </a:prstGeom>
          <a:solidFill>
            <a:srgbClr val="FFFFFF"/>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Trong 1 tháng</a:t>
            </a:r>
          </a:p>
        </p:txBody>
      </p:sp>
      <p:sp>
        <p:nvSpPr>
          <p:cNvPr id="37" name="Rectangle 36"/>
          <p:cNvSpPr/>
          <p:nvPr/>
        </p:nvSpPr>
        <p:spPr>
          <a:xfrm>
            <a:off x="411480" y="3694176"/>
            <a:ext cx="682140"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5000"/>
              </a:lnSpc>
              <a:spcAft>
                <a:spcPts val="400"/>
              </a:spcAft>
            </a:pPr>
            <a:r>
              <a:rPr sz="950" b="0">
                <a:solidFill>
                  <a:srgbClr val="111827"/>
                </a:solidFill>
                <a:latin typeface="Roboto"/>
              </a:rPr>
              <a:t>6</a:t>
            </a:r>
          </a:p>
        </p:txBody>
      </p:sp>
      <p:sp>
        <p:nvSpPr>
          <p:cNvPr id="38" name="Rectangle 37"/>
          <p:cNvSpPr/>
          <p:nvPr/>
        </p:nvSpPr>
        <p:spPr>
          <a:xfrm>
            <a:off x="1093620" y="3694176"/>
            <a:ext cx="6366645"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Ký hợp đồng và khởi động giai đoạn 1</a:t>
            </a:r>
          </a:p>
        </p:txBody>
      </p:sp>
      <p:sp>
        <p:nvSpPr>
          <p:cNvPr id="39" name="Rectangle 38"/>
          <p:cNvSpPr/>
          <p:nvPr/>
        </p:nvSpPr>
        <p:spPr>
          <a:xfrm>
            <a:off x="7460265" y="3694176"/>
            <a:ext cx="1819041"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Hai bên</a:t>
            </a:r>
          </a:p>
        </p:txBody>
      </p:sp>
      <p:sp>
        <p:nvSpPr>
          <p:cNvPr id="40" name="Rectangle 39"/>
          <p:cNvSpPr/>
          <p:nvPr/>
        </p:nvSpPr>
        <p:spPr>
          <a:xfrm>
            <a:off x="9279307" y="3694176"/>
            <a:ext cx="2501182" cy="365760"/>
          </a:xfrm>
          <a:prstGeom prst="rect">
            <a:avLst/>
          </a:prstGeom>
          <a:solidFill>
            <a:srgbClr val="F4F6F9"/>
          </a:solidFill>
          <a:ln w="6350">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l">
              <a:lnSpc>
                <a:spcPct val="105000"/>
              </a:lnSpc>
              <a:spcAft>
                <a:spcPts val="400"/>
              </a:spcAft>
            </a:pPr>
            <a:r>
              <a:rPr sz="950" b="0">
                <a:solidFill>
                  <a:srgbClr val="111827"/>
                </a:solidFill>
                <a:latin typeface="Roboto"/>
              </a:rPr>
              <a:t>Sau khi chốt mô hình</a:t>
            </a:r>
          </a:p>
        </p:txBody>
      </p:sp>
      <p:sp>
        <p:nvSpPr>
          <p:cNvPr id="41" name="TextBox 40"/>
          <p:cNvSpPr txBox="1"/>
          <p:nvPr/>
        </p:nvSpPr>
        <p:spPr>
          <a:xfrm>
            <a:off x="411480" y="4297680"/>
            <a:ext cx="11369009" cy="237744"/>
          </a:xfrm>
          <a:prstGeom prst="rect">
            <a:avLst/>
          </a:prstGeom>
          <a:noFill/>
        </p:spPr>
        <p:txBody>
          <a:bodyPr wrap="square" lIns="0" rIns="0" tIns="0" bIns="0" anchor="t">
            <a:spAutoFit/>
          </a:bodyPr>
          <a:lstStyle/>
          <a:p>
            <a:pPr algn="l">
              <a:lnSpc>
                <a:spcPct val="100000"/>
              </a:lnSpc>
              <a:spcAft>
                <a:spcPts val="400"/>
              </a:spcAft>
            </a:pPr>
            <a:r>
              <a:rPr sz="1200" b="1">
                <a:solidFill>
                  <a:srgbClr val="0B3A8F"/>
                </a:solidFill>
                <a:latin typeface="Roboto"/>
              </a:rPr>
              <a:t>Ba thứ ATL nhận được ngay hôm nay</a:t>
            </a:r>
          </a:p>
        </p:txBody>
      </p:sp>
      <p:sp>
        <p:nvSpPr>
          <p:cNvPr id="42" name="Rectangle 41"/>
          <p:cNvSpPr/>
          <p:nvPr/>
        </p:nvSpPr>
        <p:spPr>
          <a:xfrm>
            <a:off x="411480" y="4590288"/>
            <a:ext cx="3637269" cy="1335024"/>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411480" y="4590288"/>
            <a:ext cx="50292" cy="1335024"/>
          </a:xfrm>
          <a:prstGeom prst="rect">
            <a:avLst/>
          </a:prstGeom>
          <a:solidFill>
            <a:srgbClr val="0B3A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94360" y="4718304"/>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0B3A8F"/>
                </a:solidFill>
                <a:latin typeface="Roboto"/>
              </a:rPr>
              <a:t>FILE 1</a:t>
            </a:r>
          </a:p>
        </p:txBody>
      </p:sp>
      <p:sp>
        <p:nvSpPr>
          <p:cNvPr id="45" name="TextBox 44"/>
          <p:cNvSpPr txBox="1"/>
          <p:nvPr/>
        </p:nvSpPr>
        <p:spPr>
          <a:xfrm>
            <a:off x="594360" y="4919472"/>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Phân tích nghiệp vụ và quy hoạch</a:t>
            </a:r>
          </a:p>
        </p:txBody>
      </p:sp>
      <p:sp>
        <p:nvSpPr>
          <p:cNvPr id="46" name="TextBox 45"/>
          <p:cNvSpPr txBox="1"/>
          <p:nvPr/>
        </p:nvSpPr>
        <p:spPr>
          <a:xfrm>
            <a:off x="594360" y="5193792"/>
            <a:ext cx="3308085" cy="621792"/>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2_ATL-LAZINET-Business-Analytics.xlsx</a:t>
            </a:r>
          </a:p>
          <a:p>
            <a:pPr algn="l">
              <a:lnSpc>
                <a:spcPct val="112000"/>
              </a:lnSpc>
              <a:spcAft>
                <a:spcPts val="300"/>
              </a:spcAft>
            </a:pPr>
            <a:r>
              <a:rPr sz="950" b="0">
                <a:solidFill>
                  <a:srgbClr val="475569"/>
                </a:solidFill>
                <a:latin typeface="Roboto"/>
              </a:rPr>
              <a:t>Năm sheet: nỗi đau ngành và đánh giá website, bối cảnh chính sách, hồ sơ ATL cần xác nhận, kiến trúc và 87 chức năng, hai mô hình hợp tác.</a:t>
            </a:r>
          </a:p>
        </p:txBody>
      </p:sp>
      <p:sp>
        <p:nvSpPr>
          <p:cNvPr id="47" name="Rectangle 46"/>
          <p:cNvSpPr/>
          <p:nvPr/>
        </p:nvSpPr>
        <p:spPr>
          <a:xfrm>
            <a:off x="4277349" y="4590288"/>
            <a:ext cx="3637269" cy="1335024"/>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4277349" y="4590288"/>
            <a:ext cx="50292" cy="1335024"/>
          </a:xfrm>
          <a:prstGeom prst="rect">
            <a:avLst/>
          </a:prstGeom>
          <a:solidFill>
            <a:srgbClr val="FF630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460229" y="4718304"/>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FF6302"/>
                </a:solidFill>
                <a:latin typeface="Roboto"/>
              </a:rPr>
              <a:t>FILE 2</a:t>
            </a:r>
          </a:p>
        </p:txBody>
      </p:sp>
      <p:sp>
        <p:nvSpPr>
          <p:cNvPr id="50" name="TextBox 49"/>
          <p:cNvSpPr txBox="1"/>
          <p:nvPr/>
        </p:nvSpPr>
        <p:spPr>
          <a:xfrm>
            <a:off x="4460229" y="4919472"/>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Đề xuất giải pháp dạng trình bày</a:t>
            </a:r>
          </a:p>
        </p:txBody>
      </p:sp>
      <p:sp>
        <p:nvSpPr>
          <p:cNvPr id="51" name="TextBox 50"/>
          <p:cNvSpPr txBox="1"/>
          <p:nvPr/>
        </p:nvSpPr>
        <p:spPr>
          <a:xfrm>
            <a:off x="4460229" y="5193792"/>
            <a:ext cx="3308085" cy="621792"/>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1_ATL-LAZINET-Solutions.pptx</a:t>
            </a:r>
          </a:p>
          <a:p>
            <a:pPr algn="l">
              <a:lnSpc>
                <a:spcPct val="112000"/>
              </a:lnSpc>
              <a:spcAft>
                <a:spcPts val="300"/>
              </a:spcAft>
            </a:pPr>
            <a:r>
              <a:rPr sz="950" b="0">
                <a:solidFill>
                  <a:srgbClr val="475569"/>
                </a:solidFill>
                <a:latin typeface="Roboto"/>
              </a:rPr>
              <a:t>Chính là tài liệu này, 20 slide. Có thể gửi trước cho ban lãnh đạo ATL xem.</a:t>
            </a:r>
          </a:p>
        </p:txBody>
      </p:sp>
      <p:sp>
        <p:nvSpPr>
          <p:cNvPr id="52" name="Rectangle 51"/>
          <p:cNvSpPr/>
          <p:nvPr/>
        </p:nvSpPr>
        <p:spPr>
          <a:xfrm>
            <a:off x="8143219" y="4590288"/>
            <a:ext cx="3637269" cy="1335024"/>
          </a:xfrm>
          <a:prstGeom prst="rect">
            <a:avLst/>
          </a:prstGeom>
          <a:solidFill>
            <a:srgbClr val="F4F6F9"/>
          </a:solidFill>
          <a:ln w="9525">
            <a:solidFill>
              <a:srgbClr val="C9D4E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8143219" y="4590288"/>
            <a:ext cx="50292" cy="1335024"/>
          </a:xfrm>
          <a:prstGeom prst="rect">
            <a:avLst/>
          </a:prstGeom>
          <a:solidFill>
            <a:srgbClr val="1E7F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326099" y="4718304"/>
            <a:ext cx="3308085" cy="182880"/>
          </a:xfrm>
          <a:prstGeom prst="rect">
            <a:avLst/>
          </a:prstGeom>
          <a:noFill/>
        </p:spPr>
        <p:txBody>
          <a:bodyPr wrap="square" lIns="0" rIns="0" tIns="0" bIns="0" anchor="t">
            <a:spAutoFit/>
          </a:bodyPr>
          <a:lstStyle/>
          <a:p>
            <a:pPr algn="l">
              <a:lnSpc>
                <a:spcPct val="100000"/>
              </a:lnSpc>
              <a:spcAft>
                <a:spcPts val="400"/>
              </a:spcAft>
            </a:pPr>
            <a:r>
              <a:rPr sz="850" b="1">
                <a:solidFill>
                  <a:srgbClr val="1E7F4F"/>
                </a:solidFill>
                <a:latin typeface="Roboto"/>
              </a:rPr>
              <a:t>BẢN CHẠY THỬ</a:t>
            </a:r>
          </a:p>
        </p:txBody>
      </p:sp>
      <p:sp>
        <p:nvSpPr>
          <p:cNvPr id="55" name="TextBox 54"/>
          <p:cNvSpPr txBox="1"/>
          <p:nvPr/>
        </p:nvSpPr>
        <p:spPr>
          <a:xfrm>
            <a:off x="8326099" y="4919472"/>
            <a:ext cx="3308085" cy="237744"/>
          </a:xfrm>
          <a:prstGeom prst="rect">
            <a:avLst/>
          </a:prstGeom>
          <a:noFill/>
        </p:spPr>
        <p:txBody>
          <a:bodyPr wrap="square" lIns="0" rIns="0" tIns="0" bIns="0" anchor="t">
            <a:spAutoFit/>
          </a:bodyPr>
          <a:lstStyle/>
          <a:p>
            <a:pPr algn="l">
              <a:lnSpc>
                <a:spcPct val="105000"/>
              </a:lnSpc>
              <a:spcAft>
                <a:spcPts val="400"/>
              </a:spcAft>
            </a:pPr>
            <a:r>
              <a:rPr sz="1250" b="1">
                <a:solidFill>
                  <a:srgbClr val="111827"/>
                </a:solidFill>
                <a:latin typeface="Roboto"/>
              </a:rPr>
              <a:t>Hệ thống mở ra xem được ngay</a:t>
            </a:r>
          </a:p>
        </p:txBody>
      </p:sp>
      <p:sp>
        <p:nvSpPr>
          <p:cNvPr id="56" name="TextBox 55"/>
          <p:cNvSpPr txBox="1"/>
          <p:nvPr/>
        </p:nvSpPr>
        <p:spPr>
          <a:xfrm>
            <a:off x="8326099" y="5193792"/>
            <a:ext cx="3308085" cy="621792"/>
          </a:xfrm>
          <a:prstGeom prst="rect">
            <a:avLst/>
          </a:prstGeom>
          <a:noFill/>
        </p:spPr>
        <p:txBody>
          <a:bodyPr wrap="square" lIns="0" rIns="0" tIns="0" bIns="0" anchor="t">
            <a:spAutoFit/>
          </a:bodyPr>
          <a:lstStyle/>
          <a:p>
            <a:pPr algn="l">
              <a:lnSpc>
                <a:spcPct val="112000"/>
              </a:lnSpc>
              <a:spcAft>
                <a:spcPts val="300"/>
              </a:spcAft>
            </a:pPr>
            <a:r>
              <a:rPr sz="950" b="0">
                <a:solidFill>
                  <a:srgbClr val="475569"/>
                </a:solidFill>
                <a:latin typeface="Roboto"/>
              </a:rPr>
              <a:t>19 màn hình quản trị, ba tính năng AI, website mới và cổng khách hàng.</a:t>
            </a:r>
          </a:p>
          <a:p>
            <a:pPr algn="l">
              <a:lnSpc>
                <a:spcPct val="112000"/>
              </a:lnSpc>
              <a:spcAft>
                <a:spcPts val="300"/>
              </a:spcAft>
            </a:pPr>
            <a:r>
              <a:rPr sz="950" b="0">
                <a:solidFill>
                  <a:srgbClr val="475569"/>
                </a:solidFill>
                <a:latin typeface="Roboto"/>
              </a:rPr>
              <a:t>Có dữ liệu mẫu của mười khách hàng và mười lỗi cài sẵn để xem bộ quy tắc bắt lỗi.</a:t>
            </a:r>
          </a:p>
        </p:txBody>
      </p:sp>
      <p:sp>
        <p:nvSpPr>
          <p:cNvPr id="57" name="Rectangle 56"/>
          <p:cNvSpPr/>
          <p:nvPr/>
        </p:nvSpPr>
        <p:spPr>
          <a:xfrm>
            <a:off x="411480" y="6071616"/>
            <a:ext cx="11369009" cy="475488"/>
          </a:xfrm>
          <a:prstGeom prst="rect">
            <a:avLst/>
          </a:prstGeom>
          <a:solidFill>
            <a:srgbClr val="FEF6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0" bIns="0"/>
          <a:lstStyle/>
          <a:p>
            <a:pPr algn="l">
              <a:lnSpc>
                <a:spcPct val="110000"/>
              </a:lnSpc>
              <a:spcAft>
                <a:spcPts val="400"/>
              </a:spcAft>
            </a:pPr>
            <a:r>
              <a:rPr sz="1050" b="1">
                <a:solidFill>
                  <a:srgbClr val="B7791F"/>
                </a:solidFill>
                <a:latin typeface="Roboto"/>
              </a:rPr>
              <a:t>Mọi con số về quy mô ATL trong hai tài liệu đều là giả định của LAZINET và được đánh dấu rõ. Sau khi ATL xác nhận số thực tế, phần hiệu quả sẽ tính lại. Riêng mức phí trọn gói 160 triệu và phí duy trì 3 triệu mỗi tháng là cố định, không đổi theo số liệu khảo sát.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45ABA7-221A-40C3-AAFC-547B0FC0C8BA}"/>
              </a:ext>
            </a:extLst>
          </p:cNvPr>
          <p:cNvSpPr>
            <a:spLocks noGrp="1"/>
          </p:cNvSpPr>
          <p:nvPr>
            <p:ph type="title"/>
          </p:nvPr>
        </p:nvSpPr>
        <p:spPr>
          <a:xfrm>
            <a:off x="3238500" y="391886"/>
            <a:ext cx="5715000" cy="1004962"/>
          </a:xfrm>
        </p:spPr>
        <p:txBody>
          <a:bodyPr>
            <a:normAutofit/>
          </a:bodyPr>
          <a:lstStyle/>
          <a:p>
            <a:pPr algn="ctr"/>
            <a:r>
              <a:rPr lang="en-US" sz="4000" dirty="0" err="1">
                <a:solidFill>
                  <a:srgbClr val="FF6300"/>
                </a:solidFill>
              </a:rPr>
              <a:t>Trân</a:t>
            </a:r>
            <a:r>
              <a:rPr lang="en-US" sz="4000" dirty="0">
                <a:solidFill>
                  <a:srgbClr val="FF6300"/>
                </a:solidFill>
              </a:rPr>
              <a:t> </a:t>
            </a:r>
            <a:r>
              <a:rPr lang="en-US" sz="4000" dirty="0" err="1">
                <a:solidFill>
                  <a:srgbClr val="FF6300"/>
                </a:solidFill>
              </a:rPr>
              <a:t>trọng</a:t>
            </a:r>
            <a:r>
              <a:rPr lang="en-US" sz="4000" dirty="0">
                <a:solidFill>
                  <a:srgbClr val="FF6300"/>
                </a:solidFill>
              </a:rPr>
              <a:t> </a:t>
            </a:r>
            <a:r>
              <a:rPr lang="en-US" sz="4000" dirty="0" err="1">
                <a:solidFill>
                  <a:srgbClr val="0000FF"/>
                </a:solidFill>
              </a:rPr>
              <a:t>Cám</a:t>
            </a:r>
            <a:r>
              <a:rPr lang="en-US" sz="4000" dirty="0">
                <a:solidFill>
                  <a:srgbClr val="0000FF"/>
                </a:solidFill>
              </a:rPr>
              <a:t> </a:t>
            </a:r>
            <a:r>
              <a:rPr lang="en-US" sz="4000" dirty="0" err="1">
                <a:solidFill>
                  <a:srgbClr val="0000FF"/>
                </a:solidFill>
              </a:rPr>
              <a:t>ơn</a:t>
            </a:r>
            <a:r>
              <a:rPr lang="en-US" sz="4000" dirty="0">
                <a:solidFill>
                  <a:srgbClr val="0000FF"/>
                </a:solidFill>
              </a:rPr>
              <a:t>!</a:t>
            </a:r>
            <a:endParaRPr lang="en-US" sz="6000" dirty="0">
              <a:solidFill>
                <a:srgbClr val="0000FF"/>
              </a:solidFill>
            </a:endParaRPr>
          </a:p>
        </p:txBody>
      </p:sp>
      <p:sp>
        <p:nvSpPr>
          <p:cNvPr id="13" name="TextBox 12"/>
          <p:cNvSpPr txBox="1"/>
          <p:nvPr/>
        </p:nvSpPr>
        <p:spPr>
          <a:xfrm>
            <a:off x="1371600" y="4160520"/>
            <a:ext cx="9445752" cy="1737360"/>
          </a:xfrm>
          <a:prstGeom prst="rect">
            <a:avLst/>
          </a:prstGeom>
          <a:noFill/>
        </p:spPr>
        <p:txBody>
          <a:bodyPr wrap="square" lIns="0" rIns="0" tIns="0" bIns="0">
            <a:spAutoFit/>
          </a:bodyPr>
          <a:lstStyle/>
          <a:p>
            <a:pPr algn="ctr">
              <a:spcAft>
                <a:spcPts val="700"/>
              </a:spcAft>
            </a:pPr>
            <a:r>
              <a:rPr sz="1500" b="1">
                <a:solidFill>
                  <a:srgbClr val="0B3A8F"/>
                </a:solidFill>
                <a:latin typeface="Roboto"/>
              </a:rPr>
              <a:t>CÔNG TY TNHH CÔNG NGHỆ ỨNG DỤNG LAZINET</a:t>
            </a:r>
          </a:p>
          <a:p>
            <a:pPr algn="ctr">
              <a:spcAft>
                <a:spcPts val="700"/>
              </a:spcAft>
            </a:pPr>
            <a:r>
              <a:rPr sz="1200" b="0">
                <a:solidFill>
                  <a:srgbClr val="475569"/>
                </a:solidFill>
                <a:latin typeface="Roboto"/>
              </a:rPr>
              <a:t>89 Phan Đình Phùng, Phường Phú Nhuận, TP. Hồ Chí Minh</a:t>
            </a:r>
          </a:p>
          <a:p>
            <a:pPr algn="ctr">
              <a:spcAft>
                <a:spcPts val="700"/>
              </a:spcAft>
            </a:pPr>
            <a:r>
              <a:rPr sz="1300" b="1">
                <a:solidFill>
                  <a:srgbClr val="FF6302"/>
                </a:solidFill>
                <a:latin typeface="Roboto"/>
              </a:rPr>
              <a:t>lazinet.com   |   0908 556 220</a:t>
            </a:r>
          </a:p>
          <a:p>
            <a:pPr algn="ctr">
              <a:spcAft>
                <a:spcPts val="700"/>
              </a:spcAft>
            </a:pPr>
            <a:r>
              <a:rPr sz="1050" b="0">
                <a:solidFill>
                  <a:srgbClr val="475569"/>
                </a:solidFill>
                <a:latin typeface="Roboto"/>
              </a:rPr>
              <a:t>Đề xuất giải pháp cho Công ty TNHH Tư vấn và Dịch vụ - Đại Lý Thuế ATL, ngày 06/10/2026</a:t>
            </a:r>
          </a:p>
        </p:txBody>
      </p:sp>
    </p:spTree>
    <p:extLst>
      <p:ext uri="{BB962C8B-B14F-4D97-AF65-F5344CB8AC3E}">
        <p14:creationId xmlns:p14="http://schemas.microsoft.com/office/powerpoint/2010/main" val="1754116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18550</TotalTime>
  <Words>4262</Words>
  <Application>Microsoft Office PowerPoint</Application>
  <PresentationFormat>Widescreen</PresentationFormat>
  <Paragraphs>609</Paragraphs>
  <Slides>26</Slides>
  <Notes>13</Notes>
  <HiddenSlides>0</HiddenSlides>
  <MMClips>12</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26</vt:i4>
      </vt:variant>
    </vt:vector>
  </HeadingPairs>
  <TitlesOfParts>
    <vt:vector size="42" baseType="lpstr">
      <vt:lpstr>Arial</vt:lpstr>
      <vt:lpstr>Barlow Medium</vt:lpstr>
      <vt:lpstr>Calibri</vt:lpstr>
      <vt:lpstr>Calibri (Body)</vt:lpstr>
      <vt:lpstr>Courier New</vt:lpstr>
      <vt:lpstr>Google Sans Text</vt:lpstr>
      <vt:lpstr>Open Sans</vt:lpstr>
      <vt:lpstr>Roboto</vt:lpstr>
      <vt:lpstr>Roboto Condensed Light</vt:lpstr>
      <vt:lpstr>Segoe UI</vt:lpstr>
      <vt:lpstr>Symbol</vt:lpstr>
      <vt:lpstr>Times New Roman</vt:lpstr>
      <vt:lpstr>Wingdings</vt:lpstr>
      <vt:lpstr>Office Theme</vt:lpstr>
      <vt:lpstr>1_Office Theme</vt:lpstr>
      <vt:lpstr>Custom Design</vt:lpstr>
      <vt:lpstr>Giải pháp AI Agent Robot Lễ tân Dịch vụ công Thông minh LAZIBOT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Trân trọng Cám ơn!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Phung Hoang</dc:creator>
  <cp:lastModifiedBy>Phung Hoang</cp:lastModifiedBy>
  <cp:revision>601</cp:revision>
  <dcterms:created xsi:type="dcterms:W3CDTF">2024-10-09T05:32:08Z</dcterms:created>
  <dcterms:modified xsi:type="dcterms:W3CDTF">2026-09-16T15:21:05Z</dcterms:modified>
</cp:coreProperties>
</file>